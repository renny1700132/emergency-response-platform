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ff03611274dfd" /><Relationship Type="http://schemas.openxmlformats.org/officeDocument/2006/relationships/extended-properties" Target="/docProps/app.xml" Id="R8479d7b6349145d4" /><Relationship Type="http://schemas.openxmlformats.org/officeDocument/2006/relationships/officeDocument" Target="/ppt/presentation.xml" Id="R7854eac6ea0d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c78132c104b0b"/>
  </p:sldMasterIdLst>
  <p:notesMasterIdLst>
    <p:notesMasterId xmlns:r="http://schemas.openxmlformats.org/officeDocument/2006/relationships" r:id="Rabe25aa7796644dc"/>
  </p:notesMasterIdLst>
  <p:sldIdLst>
    <p:sldId xmlns:r="http://schemas.openxmlformats.org/officeDocument/2006/relationships" id="256" r:id="R7f2a917702854f01"/>
    <p:sldId xmlns:r="http://schemas.openxmlformats.org/officeDocument/2006/relationships" id="257" r:id="R6c1cc17878df4f3c"/>
    <p:sldId xmlns:r="http://schemas.openxmlformats.org/officeDocument/2006/relationships" id="258" r:id="R3891484738da4cf5"/>
    <p:sldId xmlns:r="http://schemas.openxmlformats.org/officeDocument/2006/relationships" id="259" r:id="Rac2a39203b3246b3"/>
    <p:sldId xmlns:r="http://schemas.openxmlformats.org/officeDocument/2006/relationships" id="260" r:id="Rc87016a6b7264509"/>
    <p:sldId xmlns:r="http://schemas.openxmlformats.org/officeDocument/2006/relationships" id="261" r:id="R3ba8f35c18f745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0a28641a94069" /><Relationship Type="http://schemas.openxmlformats.org/officeDocument/2006/relationships/slideMaster" Target="/ppt/slideMasters/slideMaster1.xml" Id="Rfd6c78132c104b0b" /><Relationship Type="http://schemas.openxmlformats.org/officeDocument/2006/relationships/notesMaster" Target="/ppt/notesMasters/notesMaster1.xml" Id="Rabe25aa7796644dc" /><Relationship Type="http://schemas.openxmlformats.org/officeDocument/2006/relationships/presProps" Target="/ppt/presProps.xml" Id="Rfa8f527490234f38" /><Relationship Type="http://schemas.openxmlformats.org/officeDocument/2006/relationships/tableStyles" Target="/ppt/tableStyles.xml" Id="R8e0f6884342c4457" /><Relationship Type="http://schemas.openxmlformats.org/officeDocument/2006/relationships/slide" Target="/ppt/slides/slide1.xml" Id="R7f2a917702854f01" /><Relationship Type="http://schemas.openxmlformats.org/officeDocument/2006/relationships/slide" Target="/ppt/slides/slide2.xml" Id="R6c1cc17878df4f3c" /><Relationship Type="http://schemas.openxmlformats.org/officeDocument/2006/relationships/slide" Target="/ppt/slides/slide3.xml" Id="R3891484738da4cf5" /><Relationship Type="http://schemas.openxmlformats.org/officeDocument/2006/relationships/slide" Target="/ppt/slides/slide4.xml" Id="Rac2a39203b3246b3" /><Relationship Type="http://schemas.openxmlformats.org/officeDocument/2006/relationships/slide" Target="/ppt/slides/slide5.xml" Id="Rc87016a6b7264509" /><Relationship Type="http://schemas.openxmlformats.org/officeDocument/2006/relationships/slide" Target="/ppt/slides/slide6.xml" Id="R3ba8f35c18f7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a571740323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6d6c239d9b4240" /><Relationship Type="http://schemas.openxmlformats.org/officeDocument/2006/relationships/notesMaster" Target="/ppt/notesMasters/notesMaster1.xml" Id="Rd312c52087404b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1dec3b8444abf" /><Relationship Type="http://schemas.openxmlformats.org/officeDocument/2006/relationships/notesMaster" Target="/ppt/notesMasters/notesMaster1.xml" Id="R1da76c2beea245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19613334c448cf" /><Relationship Type="http://schemas.openxmlformats.org/officeDocument/2006/relationships/notesMaster" Target="/ppt/notesMasters/notesMaster1.xml" Id="Rf5533d1fc6d3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4cf7de189f4a3a" /><Relationship Type="http://schemas.openxmlformats.org/officeDocument/2006/relationships/notesMaster" Target="/ppt/notesMasters/notesMaster1.xml" Id="Rf252ffb2dd9e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9f46a85734134" /><Relationship Type="http://schemas.openxmlformats.org/officeDocument/2006/relationships/notesMaster" Target="/ppt/notesMasters/notesMaster1.xml" Id="Reb9f29887136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74fccafb04f76" /><Relationship Type="http://schemas.openxmlformats.org/officeDocument/2006/relationships/notesMaster" Target="/ppt/notesMasters/notesMaster1.xml" Id="R52a2711c4dbb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378948c3b42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3ddf663e454e9f" /><Relationship Type="http://schemas.openxmlformats.org/officeDocument/2006/relationships/slideLayout" Target="/ppt/slideLayouts/slideLayout1.xml" Id="Rddae993875264f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ae993875264f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8e2a7718d49e9" /><Relationship Type="http://schemas.openxmlformats.org/officeDocument/2006/relationships/notesSlide" Target="/ppt/notesSlides/notesSlide1.xml" Id="R39412ae1a8ff4f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016c0a94e4347" /><Relationship Type="http://schemas.openxmlformats.org/officeDocument/2006/relationships/notesSlide" Target="/ppt/notesSlides/notesSlide2.xml" Id="R9350f820f53f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ba6eb735c41c9" /><Relationship Type="http://schemas.openxmlformats.org/officeDocument/2006/relationships/notesSlide" Target="/ppt/notesSlides/notesSlide3.xml" Id="R8cbaf43cc9e84f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7d897bc974222" /><Relationship Type="http://schemas.openxmlformats.org/officeDocument/2006/relationships/notesSlide" Target="/ppt/notesSlides/notesSlide4.xml" Id="Rb01f33013c9c45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f4bf9064e451c" /><Relationship Type="http://schemas.openxmlformats.org/officeDocument/2006/relationships/notesSlide" Target="/ppt/notesSlides/notesSlide5.xml" Id="Re85fcb87aa6c4c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31abd1c814194" /><Relationship Type="http://schemas.openxmlformats.org/officeDocument/2006/relationships/notesSlide" Target="/ppt/notesSlides/notesSlide6.xml" Id="Rd7d9ac79d9e04c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563DF-4166-4E13-88F9-DE894A54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总体逻辑架构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5388-FC3D-4C3D-A4E9-CE3DD909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图 3-1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5E03A-3E70-44FE-A46C-BFF67D7E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展现与接入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0CD0-D3AE-468F-A061-89C4FD41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143000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Web管理与指挥端　　智慧管理APP内嵌H5　　指挥大屏　　统一API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D9154-0DAA-427D-8CAE-F4A4809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应急应用服务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4AA3D-3EF2-44D9-808C-53B6EA55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预案与配置　　事件与指挥　　任务与消息　　资源和值班　　演练与评估　　态势统计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DFB29-4449-431D-A2E8-E2CCB66B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支撑与数据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A04EE-6594-4D9B-99C6-ED1B5FD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29000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中台适配　　地图与空间　　消息台账　　视频适配　　外部系统适配　　业务数据与审计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456D1-9249-4FC2-A14C-FE099609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甲方既有能力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842AC-A30A-4AC0-8D86-5706B1E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EEF1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中台　　二维/楼层/三维地图　　定位　　视频　　消息　　物联网/安防/消防/门禁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EE6EE-2388-4BCC-B157-0812F4CE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统一业务标识与状态历史贯穿各层，外部差异集中在适配层</a:t>
            </a:r>
          </a:p>
        </p:txBody>
      </p:sp>
    </p:spTree>
    <p:extLst>
      <p:ext uri="{BB962C8B-B14F-4D97-AF65-F5344CB8AC3E}">
        <p14:creationId xmlns:p14="http://schemas.microsoft.com/office/powerpoint/2010/main" val="1057333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3B2DE-D6EC-4815-95A4-B227ED1F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应急管理业务闭环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3BE9B-906C-4A45-ACD2-15283829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图 3-2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D5C8-30D2-470D-8A3D-D9FB92CC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事前准备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41737-6C75-49E9-A4EF-E58239C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预案　人员　物资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值班　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21B7D-7975-481E-A114-85B9F1F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B67E3-70B2-45C8-9C55-07A0450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事发监测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B1DBE-07B3-47F2-B5D8-FB26EC91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14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Web/H5上报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安防消防与物联网告警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F217A-861B-4648-BBBF-83B2BF8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907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FA705-7B93-4497-9296-F6369E1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事中处置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1DF0F-1612-4962-BCB3-70236523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核实　启动　任务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消息　视频　门禁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E3EC3-BD80-4F92-89D2-486609D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32391-A410-4DC0-B328-A1DBDA22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9750"/>
            <a:ext cx="2238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事后改进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F1DC6-4639-42B1-A21E-92CDEB82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1462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关闭评估　事故调查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知识沉淀　预案修订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20C74-AD5A-43E5-9CB0-A120EB0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28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EF1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事件标识连接预案快照、任务、消息、人员、资源、接口与审计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BB31F-3107-461A-899D-59A83670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A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FA45A"/>
                </a:solidFill>
                <a:latin typeface="Microsoft YaHei"/>
                <a:ea typeface="Microsoft YaHei"/>
                <a:cs typeface="Microsoft YaHei"/>
              </a:rPr>
              <a:t>演练与真实事件的评估结果回到预案和日常准备</a:t>
            </a:r>
          </a:p>
        </p:txBody>
      </p:sp>
    </p:spTree>
    <p:extLst>
      <p:ext uri="{BB962C8B-B14F-4D97-AF65-F5344CB8AC3E}">
        <p14:creationId xmlns:p14="http://schemas.microsoft.com/office/powerpoint/2010/main" val="227844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4108F-2B74-45B2-BBAB-FFE065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私有化部署拓扑与责任边界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A6153-A2D6-4CDD-80FD-CB5E032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图 3-3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E980-1BC2-45E2-BC74-2DA2D03E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访问终端</a:t>
            </a:r>
          </a:p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Web　H5　大屏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6DF83-294C-44AB-AC70-1A90D680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811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接入区</a:t>
            </a:r>
          </a:p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反向代理/API入口</a:t>
            </a:r>
          </a:p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认证与访问控制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07CE5-922B-4192-9C55-33BB2E5E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430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应用区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业务服务　任务调度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消息/视频/GIS适配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健康检查与日志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D4FAE-942A-4899-8CB1-9BBCFDA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数据区</a:t>
            </a:r>
          </a:p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业务数据　空间索引</a:t>
            </a:r>
          </a:p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文件　审计　备份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BFFDB-E27F-4FDB-A775-169D7F02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A161F-9605-46A8-B837-30A3FE9A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14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96703-8E0A-40DA-BC6E-1A464645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3449D-D922-4EF8-B556-D2A071D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3524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EEF1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甲方提供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服务器　网络　域名证书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备份介质　后备电源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68F28-9C26-4BAB-ACD7-C7223DC8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3524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乙方交付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最低配置　容器制品　脚本</a:t>
            </a:r>
          </a:p>
          <a:p xmlns:a="http://schemas.openxmlformats.org/drawingml/2006/main">
            <a:pPr>
              <a:def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部署/升级/回滚/恢复方案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390B3-3C30-4884-8A96-0654E84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5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4545B"/>
                </a:solidFill>
                <a:latin typeface="Microsoft YaHei"/>
                <a:ea typeface="Microsoft YaHei"/>
                <a:cs typeface="Microsoft YaHei"/>
              </a:rPr>
              <a:t>责任分界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88B2D-6642-415E-A277-DFE58711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最终资源数值在甲方环境清单与容量测试完成后冻结</a:t>
            </a:r>
          </a:p>
        </p:txBody>
      </p:sp>
    </p:spTree>
    <p:extLst>
      <p:ext uri="{BB962C8B-B14F-4D97-AF65-F5344CB8AC3E}">
        <p14:creationId xmlns:p14="http://schemas.microsoft.com/office/powerpoint/2010/main" val="1429774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5ECF7-EF9E-4E54-A1D6-82760AF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事件、任务与消息状态关系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39C82-F934-46DC-8487-1A09091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图 3-4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25982-9829-45F5-AEC3-E0269682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79CC1-DAF8-46EE-9C9A-DC2451E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8587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待核实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5BD37-3BCB-47B2-8710-EEA8F33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36207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7FED3-964B-4099-9564-CD4C54C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8587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32BB3-F48E-4857-9366-FBF2A71C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36207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66F55-FF33-46EB-BB72-EEDDD83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8587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处置中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FEFAF-4CFC-43DC-BDFC-85228019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36207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737EE-D835-4F0C-B0BE-E8062417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8587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待关闭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AF9A4-02EA-403F-B401-952762A5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6207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9CBCC-4EFF-440E-A1E1-2FDF4CF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8587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已关闭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94159-CAA6-4595-ABA4-932E029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3E4CB-4661-4570-BEB0-7A52224E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待接收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28FA3-4D18-4FAE-8CF1-0AAA4C8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289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2A235-B1C4-49FF-9EC5-11A550FA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52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已接收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AA269-12CB-4F81-A1A7-FEC3069E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89A60-CB0F-4CAF-B27D-F38E59E1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处理中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91F19-C38E-4CD1-9DE0-7C4B2C6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289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6A357-4333-4EBD-9A57-5399DA0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待复核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C2D5B-8C5A-4285-87EE-0760E72F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527A2-7378-442B-BB89-161736F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F1797-7BA1-4D71-B7F2-4CA1E40C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14875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消息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BD343-A69F-4366-BE72-0295404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待发送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F6D8C-846B-4C1D-8D17-88359B3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69582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1047C-A710-40D4-8DCB-36617431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1962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平台受理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4ECC0-D217-4EB1-B0B2-E1598302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9582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C94B5-6FE0-47D1-B8C7-5A89A7BB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962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通道发送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5653A-B1C0-4CCE-83C7-6871EE0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9582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53882-F57A-4DE5-8D6E-E5315683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1962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到达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3E47B-A991-493F-99D0-EF2C3D8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95825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4D2E5-8EEE-48CA-99F9-1A14002D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9625"/>
            <a:ext cx="1476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DCE19-2FBA-471C-B194-7595C4F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928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事件启动生成任务与消息；状态独立推进，均保留版本和历史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041265-C517-41AB-B763-18A898DD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928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失败、取消、人工处理作为受控分支，不覆盖原状态证据</a:t>
            </a:r>
          </a:p>
        </p:txBody>
      </p:sp>
    </p:spTree>
    <p:extLst>
      <p:ext uri="{BB962C8B-B14F-4D97-AF65-F5344CB8AC3E}">
        <p14:creationId xmlns:p14="http://schemas.microsoft.com/office/powerpoint/2010/main" val="1477904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6100C-035A-441B-8F84-953F92C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可靠消息投递与人工降级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2E68A-D106-49A8-A1CD-ECE7DD8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图 5-2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365ED-C7C1-4839-8979-4DD32F9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业务事务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CD852-D2BA-441D-BBB5-E2437EB3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955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CD41E-26E0-4B07-ACD3-F6193D2C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待发送台账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A1E61-CB0D-4776-804B-CACEB50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02B23-3706-4886-B426-3F0942F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并发投递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E8E33-D575-4282-8B14-D8B6572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955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5A339-358B-4171-AA5B-F1723FE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平台/通道回执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E78AA-B818-4D21-BA94-9EF3EBA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E0666-D2A1-4531-92AA-06DF4E9D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终端到达或确认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E69BD-FB56-46BF-9AE2-28975196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266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可重试失败</a:t>
            </a:r>
          </a:p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退避、次数上限、再次投递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228DF-BBAD-4EA4-BF4A-57124827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66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DFE1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永久失败或重试耗尽</a:t>
            </a:r>
          </a:p>
          <a:p xmlns:a="http://schemas.openxmlformats.org/drawingml/2006/main">
            <a:pPr>
              <a:def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告警、人工联系、补发留痕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F17EE-A81C-4527-A6C0-994B5B92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576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5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4545B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1675F-F738-4ECE-9832-63994F6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FA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FA45A"/>
                </a:solidFill>
                <a:latin typeface="Microsoft YaHei"/>
                <a:ea typeface="Microsoft YaHei"/>
                <a:cs typeface="Microsoft YaHei"/>
              </a:rPr>
              <a:t>业务幂等键防重复，关联标识贯穿请求、回执和人工处置</a:t>
            </a:r>
          </a:p>
        </p:txBody>
      </p:sp>
    </p:spTree>
    <p:extLst>
      <p:ext uri="{BB962C8B-B14F-4D97-AF65-F5344CB8AC3E}">
        <p14:creationId xmlns:p14="http://schemas.microsoft.com/office/powerpoint/2010/main" val="757866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7D1B6-DB3A-48D9-AC79-5544DC6A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需求到验收的证据链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2549A-6B71-490E-BC24-AF54979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784"/>
                </a:solidFill>
                <a:latin typeface="Microsoft YaHei"/>
                <a:ea typeface="Microsoft YaHei"/>
                <a:cs typeface="Microsoft YaHei"/>
              </a:rPr>
              <a:t>图 9-1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2D798-9A39-4B5F-8A6C-B1E9802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7D7D3-DB1F-4982-B377-AFE1FA0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FR/PE/NFR</a:t>
            </a:r>
          </a:p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责任与验收条件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EBB05-4148-40D1-840D-6BDBB171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955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BB783-C122-49A0-9602-1010B874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8F3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BACD9-46A2-46DD-A495-7E0C55C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架构　状态　数据</a:t>
            </a:r>
          </a:p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接口　异常　权限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1BC45-BC3A-46B7-9460-69FB2AC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89262-D91E-4D23-9AF4-F76DDDEF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784CA-1E18-4469-BC5D-163D3D1C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1462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代码　配置　脚本</a:t>
            </a:r>
          </a:p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SBOM与构建制品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56A8E-43A1-4BF7-B789-25C1B20B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C36BD-5EA6-45B0-BB0F-FD8875F4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6D2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9F250-27F7-4E04-A3B5-851ED54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单元　集成　系统</a:t>
            </a:r>
          </a:p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性能　安全　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DFDCD-36F1-4519-A17C-D6F88635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E86B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DADE9-D0EE-4877-91D2-0268A02B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E5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7EFC6-EBCE-46BE-B649-3E2F7D2B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1462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用例100%</a:t>
            </a:r>
          </a:p>
          <a:p xmlns:a="http://schemas.openxmlformats.org/drawingml/2006/main">
            <a:pPr>
              <a:def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高危0　独立部署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F96F-2998-481E-9976-E7CA2F2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EF1"/>
          </a:solidFill>
          <a:ln xmlns:a="http://schemas.openxmlformats.org/drawingml/2006/main" w="14288">
            <a:solidFill>
              <a:srgbClr val="142B3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B3A"/>
                </a:solidFill>
                <a:latin typeface="Microsoft YaHei"/>
                <a:ea typeface="Microsoft YaHei"/>
                <a:cs typeface="Microsoft YaHei"/>
              </a:rPr>
              <a:t>RTM连接条款、设计位置、测试用例、原始结果与签认记录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2642E-98A8-45E2-9E33-0CBDB39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5787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5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4545B"/>
                </a:solidFill>
                <a:latin typeface="Microsoft YaHei"/>
                <a:ea typeface="Microsoft YaHei"/>
                <a:cs typeface="Microsoft YaHei"/>
              </a:rPr>
              <a:t>没有原始证据的设计响应保持 PENDING_EVIDENCE</a:t>
            </a:r>
          </a:p>
        </p:txBody>
      </p:sp>
    </p:spTree>
    <p:extLst>
      <p:ext uri="{BB962C8B-B14F-4D97-AF65-F5344CB8AC3E}">
        <p14:creationId xmlns:p14="http://schemas.microsoft.com/office/powerpoint/2010/main" val="1397621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2026-09-11T09:38:04.7260000Z</dcterms:created>
  <dcterms:modified xsi:type="dcterms:W3CDTF">2026-09-11T09:38:04.7260000Z</dcterms:modified>
</coreProperties>
</file>