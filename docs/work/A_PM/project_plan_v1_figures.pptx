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2a407a658640ae" /><Relationship Type="http://schemas.openxmlformats.org/officeDocument/2006/relationships/extended-properties" Target="/docProps/app.xml" Id="R6fa24f278c3d4969" /><Relationship Type="http://schemas.openxmlformats.org/officeDocument/2006/relationships/officeDocument" Target="/ppt/presentation.xml" Id="R939860759bbb40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6d35ac11c7419e"/>
  </p:sldMasterIdLst>
  <p:notesMasterIdLst>
    <p:notesMasterId xmlns:r="http://schemas.openxmlformats.org/officeDocument/2006/relationships" r:id="R63d9d4c779744ad5"/>
  </p:notesMasterIdLst>
  <p:sldIdLst>
    <p:sldId xmlns:r="http://schemas.openxmlformats.org/officeDocument/2006/relationships" id="256" r:id="Rf448ae8d29f848ee"/>
    <p:sldId xmlns:r="http://schemas.openxmlformats.org/officeDocument/2006/relationships" id="257" r:id="R76b825ed58db4c3f"/>
    <p:sldId xmlns:r="http://schemas.openxmlformats.org/officeDocument/2006/relationships" id="258" r:id="R6f1b339350e147df"/>
    <p:sldId xmlns:r="http://schemas.openxmlformats.org/officeDocument/2006/relationships" id="259" r:id="Rf825abdaa94c45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f9759341604c0b" /><Relationship Type="http://schemas.openxmlformats.org/officeDocument/2006/relationships/slideMaster" Target="/ppt/slideMasters/slideMaster1.xml" Id="R4f6d35ac11c7419e" /><Relationship Type="http://schemas.openxmlformats.org/officeDocument/2006/relationships/notesMaster" Target="/ppt/notesMasters/notesMaster1.xml" Id="R63d9d4c779744ad5" /><Relationship Type="http://schemas.openxmlformats.org/officeDocument/2006/relationships/presProps" Target="/ppt/presProps.xml" Id="R951ec903e95e49d9" /><Relationship Type="http://schemas.openxmlformats.org/officeDocument/2006/relationships/tableStyles" Target="/ppt/tableStyles.xml" Id="Rb519eb18b97e48e0" /><Relationship Type="http://schemas.openxmlformats.org/officeDocument/2006/relationships/slide" Target="/ppt/slides/slide1.xml" Id="Rf448ae8d29f848ee" /><Relationship Type="http://schemas.openxmlformats.org/officeDocument/2006/relationships/slide" Target="/ppt/slides/slide2.xml" Id="R76b825ed58db4c3f" /><Relationship Type="http://schemas.openxmlformats.org/officeDocument/2006/relationships/slide" Target="/ppt/slides/slide3.xml" Id="R6f1b339350e147df" /><Relationship Type="http://schemas.openxmlformats.org/officeDocument/2006/relationships/slide" Target="/ppt/slides/slide4.xml" Id="Rf825abdaa94c45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23ff549b4e46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6fd44c642c4771" /><Relationship Type="http://schemas.openxmlformats.org/officeDocument/2006/relationships/notesMaster" Target="/ppt/notesMasters/notesMaster1.xml" Id="Rd5cd5928b05c43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c0d6177e84418f" /><Relationship Type="http://schemas.openxmlformats.org/officeDocument/2006/relationships/notesMaster" Target="/ppt/notesMasters/notesMaster1.xml" Id="R714cc57839bb40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dc490f554c4212" /><Relationship Type="http://schemas.openxmlformats.org/officeDocument/2006/relationships/notesMaster" Target="/ppt/notesMasters/notesMaster1.xml" Id="R9ce25a7b960a48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afe30cbccd4890" /><Relationship Type="http://schemas.openxmlformats.org/officeDocument/2006/relationships/notesMaster" Target="/ppt/notesMasters/notesMaster1.xml" Id="R29badb2a343c40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3d8783903a43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4d78c0b28548f0" /><Relationship Type="http://schemas.openxmlformats.org/officeDocument/2006/relationships/slideLayout" Target="/ppt/slideLayouts/slideLayout1.xml" Id="R489b4042a69c4c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9b4042a69c4c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f3c16fed74996" /><Relationship Type="http://schemas.openxmlformats.org/officeDocument/2006/relationships/notesSlide" Target="/ppt/notesSlides/notesSlide1.xml" Id="Rc559cadedb9749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c3e0549c642de" /><Relationship Type="http://schemas.openxmlformats.org/officeDocument/2006/relationships/notesSlide" Target="/ppt/notesSlides/notesSlide2.xml" Id="R227232e4decd4c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de634cb448479f" /><Relationship Type="http://schemas.openxmlformats.org/officeDocument/2006/relationships/notesSlide" Target="/ppt/notesSlides/notesSlide3.xml" Id="Rbf60390a4d7749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73d71fd714c87" /><Relationship Type="http://schemas.openxmlformats.org/officeDocument/2006/relationships/notesSlide" Target="/ppt/notesSlides/notesSlide4.xml" Id="R2155e9fc4f2f4a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4D99E47-1923-4565-A436-0519EF25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项目工作分解结构 WBS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296554-890F-46FE-8EA1-76D6189F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工作包按可交付成果分解，底层工作包单次执行周期不超过一周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A21CA-D02E-4849-A21E-6C75E2FA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C1EC7-68CC-4F9B-B89F-018300FA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项目管理与控制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35C1B-B765-4CF9-9D28-51EE3264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8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44A45A-AD22-4F84-93A8-599EFAC7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计划基线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64BABF-6863-49BA-94FC-35238027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8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4B6EA-5BFA-4489-AAE9-E146A4B9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周进度与风险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6E91B2-BBFC-45B1-939F-D49C0203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8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79ED64-657F-4B5B-BAD6-23702AC5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评审与配置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CCAFE7-FD42-4293-8862-609884CC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需求确认 M1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47E91B-FEAC-4A1C-989D-DC250BBB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163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E3CF8-2485-4AA3-B4FC-73404754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SRS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ED9EB5-4EC0-42B4-83EC-5BFA7AAD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163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CD6931-BE63-4D93-A14B-C57E28CD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RTM与验收基准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78B937-C6A0-48E1-97E9-2EDB666B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5163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66F43C-DB6B-4659-8EF8-BF7327F1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需求确认包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D6C2DF-E7F3-49DF-84D8-F952A07F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设计评审 M2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6EAA77-0983-420B-86FB-679FBD0C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9688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0890B7-2525-4C38-9E63-2D6C3BEA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五类设计文档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1EF7E-7EE3-49CC-8BEB-CCB31563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9688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22125C-1626-43C0-92B6-B6080228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测试计划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72C384-3E79-4194-8ADE-670B3A7D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9688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499C8D-EE1B-481A-927B-C673272D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视频与消息连通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859716-9CBA-42E7-A563-FE95D77B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开发与集成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2556BD-4AE5-407B-A698-2D869D8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3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EF74B7-8934-49EF-9EDE-242D02C2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Web业务增量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16AE37-ECC4-4CA7-94EE-34870708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3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537AFF-4E43-44EB-93DB-39156797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H5六类业务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4AE7FD-6282-4476-AC49-899BADE2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3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3BC86B-0B3D-40C1-B17E-31F79B94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外部系统联动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3C8D74-8D2D-4570-89DC-7C704173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测试与初验 M3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0D02A0-71C0-4F7E-BC03-28AA54D8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738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BDFEFC-FB00-458D-82C6-9CF1F890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四级测试证据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1EF25B-F1A5-4067-8E03-E0AFE522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738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676526-3588-4B07-8C9B-72D6FE48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性能与安全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3228C1-97F1-4C02-8B9B-74DCB1A6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738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71E6B4-1EF4-4588-AF24-A43197A5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初验部署包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58D59E-5505-49E2-9326-993873AE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1257300"/>
            <a:ext cx="18002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 试运行与验收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C17727-D1A8-491F-8414-1CCAE27D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3263" y="194310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747C33-EC0F-413A-AF37-3E29C989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1526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培训与四周运行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EC21EF-EADE-4C00-B50B-E8509286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3263" y="29337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C52F96-3A79-488D-88BE-18546F0F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2194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真实演练与恢复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D02AEC-B9E1-4515-9D2D-AF460EAB5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3263" y="400050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7E2AFB7-C947-4A5B-9E30-DFB5AADE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286250"/>
            <a:ext cx="16478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M4与M5交付包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A1E528-FB71-4C59-BB47-01DB4582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依赖主线：需求确认  →  设计评审与接口连通  →  可运行增量  →  初验  →  四周试运行  →  竣工验收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91999F-C640-47AD-9A87-53983C47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81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图 2-1</a:t>
            </a:r>
          </a:p>
        </p:txBody>
      </p:sp>
    </p:spTree>
    <p:extLst>
      <p:ext uri="{BB962C8B-B14F-4D97-AF65-F5344CB8AC3E}">
        <p14:creationId xmlns:p14="http://schemas.microsoft.com/office/powerpoint/2010/main" val="13192194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30C5D2-A9EF-48FE-9DAA-618768A8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项目阶段与正式里程碑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E8B23F-31F0-4AF8-BE61-57F8B2C1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周次从合同签订日起算，正式时点与交付物遵循用户需求书第 9.1 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05205-AAE2-49BE-9950-56A27A29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4818F-7E6A-46BA-A053-52A35C21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9525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09CF8F-9BF5-46BE-B672-5A77A1DD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14288">
            <a:solidFill>
              <a:srgbClr val="4B7FAD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ECAD0-FC71-4070-B493-B1C32C3B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9FF4E6-D8EE-4A81-9574-D96761A4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需求确认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B309FD-27D8-43E4-BA69-785ADF4D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合同后2周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8AB3C-FB31-4B89-898D-4B375668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1430">
            <a:solidFill>
              <a:srgbClr val="4B7FAD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SRS评审通过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需求确认书签署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690DA-649A-4FA0-BEAB-52140171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14288">
            <a:solidFill>
              <a:srgbClr val="4B7FA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8616E-AD4F-43FE-BD45-07366600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F3254E-2A0A-4CC2-A31F-109036E1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设计评审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9D7DE-4FE6-4105-BCE4-E19959D4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合同后6周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6F469-9B84-430F-BFE2-7B2D62F6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1430">
            <a:solidFill>
              <a:srgbClr val="4B7FAD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五类设计文档与测试计划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视频、消息连通结论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281E27-0BAB-42DF-AE60-4EF0E737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39A2B"/>
          </a:solidFill>
          <a:ln xmlns:a="http://schemas.openxmlformats.org/drawingml/2006/main" w="14288">
            <a:solidFill>
              <a:srgbClr val="F39A2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F023B7-9EB1-48CF-850B-41E2D386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9A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39A2B"/>
                </a:solidFill>
                <a:latin typeface="Microsoft YaHei"/>
                <a:ea typeface="Microsoft YaHei"/>
                <a:cs typeface="Microsoft YaHei"/>
              </a:rPr>
              <a:t>M3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71E02C-5632-43C8-B22E-EB71D20F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初验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E91D37-8C0F-442D-BDA7-DEA8F726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合同后16周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F9432E-880E-4DE5-B921-C55749CC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CE5C4"/>
          </a:solidFill>
          <a:ln xmlns:a="http://schemas.openxmlformats.org/drawingml/2006/main" w="11430">
            <a:solidFill>
              <a:srgbClr val="F39A2B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甲方环境可运行系统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阶段测试与初验记录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AE606-0072-4607-AFDC-BB66F5D4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14288">
            <a:solidFill>
              <a:srgbClr val="E2545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76790A-F549-4546-A7CB-0643850D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25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E2545A"/>
                </a:solidFill>
                <a:latin typeface="Microsoft YaHei"/>
                <a:ea typeface="Microsoft YaHei"/>
                <a:cs typeface="Microsoft YaHei"/>
              </a:rPr>
              <a:t>M4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E2588-513D-439C-9C85-01B44379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试运行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F76557-FEFB-4EBC-B31A-A8D4CC02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初验后4周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682AC-3F0F-4A85-A644-AE840B23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AD9DB"/>
          </a:solidFill>
          <a:ln xmlns:a="http://schemas.openxmlformats.org/drawingml/2006/main" w="11430">
            <a:solidFill>
              <a:srgbClr val="E2545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四周运行与缺陷记录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真实应急演练支撑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E35151-2141-4C12-BE14-5F074E18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2571750"/>
            <a:ext cx="323850" cy="3238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14288">
            <a:solidFill>
              <a:srgbClr val="E2545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1E9815-76E1-4A06-A7D3-402BBEA1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2382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25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E2545A"/>
                </a:solidFill>
                <a:latin typeface="Microsoft YaHei"/>
                <a:ea typeface="Microsoft YaHei"/>
                <a:cs typeface="Microsoft YaHei"/>
              </a:rPr>
              <a:t>M5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70A953-07B0-4A34-9E3B-C1F5EE71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666875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竣工验收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7A2E29-B2F8-4B61-94A7-2EB8C927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145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试运行满1个月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77237A-0F1E-4D41-8223-79017398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190875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AD9DB"/>
          </a:solidFill>
          <a:ln xmlns:a="http://schemas.openxmlformats.org/drawingml/2006/main" w="11430">
            <a:solidFill>
              <a:srgbClr val="E2545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全套交付物</a:t>
            </a:r>
          </a:p>
          <a:p xmlns:a="http://schemas.openxmlformats.org/drawingml/2006/main">
            <a:pPr>
              <a:def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验收通过并签署报告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1702B4-0550-4C07-9181-C6F05962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62500"/>
            <a:ext cx="962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D9DEE5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M4 与 M5 均受“试运行满一个月”条件约束。W20 先完成试运行准出证据，再组织竣工验收；甲方验收窗口变化只调整日历日期，不降低准出条件。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618DEE-99D4-46F4-A63A-6E82FD53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81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图 3-1</a:t>
            </a:r>
          </a:p>
        </p:txBody>
      </p:sp>
    </p:spTree>
    <p:extLst>
      <p:ext uri="{BB962C8B-B14F-4D97-AF65-F5344CB8AC3E}">
        <p14:creationId xmlns:p14="http://schemas.microsoft.com/office/powerpoint/2010/main" val="6046889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A118C2A-A905-4EBD-AF6C-3316D176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项目总体进度甘特图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A3973-54EE-4A91-B77D-2983B322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W1 至 W20 为合同签订后的相对周次，色条表示计划执行周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FD9C64-3274-4806-BB69-3A2BFDF1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C4C27A-E9A5-4E79-BD66-4EA9123D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0668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计划项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73679-1173-4557-83C4-159E3B4F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186CDB-6DB3-48AD-A35B-59F3C387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F97618-167D-4512-A2F5-8ECEFFE8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C3C94-F9CE-4EC1-9336-53172430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7D172-BA3A-497C-99BF-A0FB7982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E4073-E2C7-4CB2-A009-45435AB4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CA595-2EDB-4B4C-BD0C-2F2C40AD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438A4C-51D4-4373-B0FC-01CAB4B2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D275A9-832B-4632-9FE1-A3D64DA6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86B1E-1DE6-49B0-9EED-28B77678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C49A4-28A6-4576-BCFD-989839A5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C04396-7A53-423A-AEDF-62E0BB6B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3A1E1E-4D48-46F9-881B-904CBD33B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377062-13A6-491A-83C0-705995B2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E0D5C0-75C4-4AF6-9058-60960DC3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A9182B-2135-4C35-82E9-5139DD88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71ABDE-2BF0-4B89-8597-A2CC9D6E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E77992-6D8F-4095-B43E-094F1685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040AA8-74D2-4AFB-8883-3C7C60F3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104D69-B7E6-452E-ACB5-A799C280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50421A-10EA-4C17-A921-0E4FDE52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1DDB65-D091-4D45-B6BC-8FC2700B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46ED96-A401-424A-9EF6-C287F482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CF712C-39A8-4856-A355-8EBCEB95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2534EC-6443-4240-A824-CEF00F3E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59003F-1763-4058-8032-DE676464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72983F-67CE-4142-8EA3-6747DC19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D6F8F4-5265-4170-BB1F-5E4C60F6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C741FD-A86E-4565-B60D-2770301B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866A47-45BB-4D2D-A40A-BE3C7B8B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D896BE-A8B6-4242-9F4C-4D862250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7518A5-7B66-46D0-B685-8D4E55DB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28004-4CA9-45B5-804C-09FF08FF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EEC312-97F4-496B-913B-76F602FA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1C88D6-EB64-423A-B219-E0924EB1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D261F3-4439-4FB3-AC1F-8F2FFB3F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61EE449-9B2D-4651-B2BB-3FB4F049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W19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F5CBFC-26DF-4D82-874B-BF9DDF25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22D315F-5FB3-436A-8789-E57157DF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066800"/>
            <a:ext cx="447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W20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EBEAD1-54CB-4869-BB89-446007A7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5EBB6D-1BBB-4371-8AC0-825743C5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1371600"/>
            <a:ext cx="95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7BE91A-F87A-4755-8E8E-BF8053A5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7160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需求确认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5EB958-40C1-45D0-B4B3-69BC9159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E24A67-87D2-4079-9F59-94929E4A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438275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solidFill>
              <a:srgbClr val="4B7FAD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6D36D8-CD05-4BB0-871D-398A5D21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0497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设计与M2连通验证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2994AA-C571-4FC6-9B66-34DCB891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288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74012B6-EE72-445E-A19C-C6FF276D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71650"/>
            <a:ext cx="17335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7FAD"/>
          </a:solidFill>
          <a:ln xmlns:a="http://schemas.openxmlformats.org/drawingml/2006/main" w="0">
            <a:solidFill>
              <a:srgbClr val="4B7FAD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557099D-F623-43B9-BFB5-B76A8A41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383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公共基础与配置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3AC2C11-A5D4-4A49-B376-6F943DBA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622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41A862B-5C17-4D79-BA19-DDA0E29F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05025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4AA4C08-4A60-446A-80B7-6F7746AC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7172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资源、值班与演练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C728029-45AA-4A22-AC96-D30D55FC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955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D1D2803-21CB-4BFB-AB10-E29CE368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438400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ACEF543-8573-4BD2-B343-AD103164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0510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事件与任务闭环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830AACC-BAAF-4BDC-8F23-187741C7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289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4B395C5-85BB-4FD9-A71F-18DBD338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771775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F082C77-4796-4E86-B2F5-30A392EB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3847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指挥一张图与视频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FE1EF0C-8B46-4AC5-BFD7-DAFA4ED1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623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6D56195-9D1B-499A-9616-39636164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05150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47E24F9-34BD-4F1C-91AD-99622758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718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H5移动业务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6791541-C20D-41CB-BFA7-DE061D2E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957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DC6A7A7-DE64-4818-A250-4A436988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38525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1CB9DFB-C53A-4142-BB61-9F5ED092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0522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视图与外部联动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5013FAB-CED4-45A8-BA2D-3C58F80C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290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909F765-4436-4B53-AC75-701365F4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71900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202266D-ECB5-4D59-9FDC-59466F58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3860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性能、可靠性与数据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29BD3AC-2CE1-432A-9D8E-183B1FBE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624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3E7FCC8-BB49-43B0-AB42-643CD519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05275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A150"/>
          </a:solidFill>
          <a:ln xmlns:a="http://schemas.openxmlformats.org/drawingml/2006/main" w="0">
            <a:solidFill>
              <a:srgbClr val="58A150"/>
            </a:solidFill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9393F8B-099D-469C-B513-60732361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7197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测试、部署与初验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098DEEB-4B06-4950-A46F-D3257EFF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6958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B6D7784-8E05-4F81-9607-EBD521A7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438650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9A2B"/>
          </a:solidFill>
          <a:ln xmlns:a="http://schemas.openxmlformats.org/drawingml/2006/main" w="0">
            <a:solidFill>
              <a:srgbClr val="F39A2B"/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25F8B6B-8227-43E6-A80B-85EE8D4A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053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培训与试运行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BCB1078-B0E3-44CA-9F4F-C0DAC909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292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4675473-B7DE-4791-A69D-5414AA4D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772025"/>
            <a:ext cx="17335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0">
            <a:solidFill>
              <a:srgbClr val="E2545A"/>
            </a:solidFill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7F60435-43B8-4549-A5C1-33284BB0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8725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真实演练与恢复验证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DE0CB34-5F1E-4A18-B03A-A38F1683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25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4CB9F6C-DE3D-422A-BF2E-6FFA953E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5105400"/>
            <a:ext cx="8382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0">
            <a:solidFill>
              <a:srgbClr val="E2545A"/>
            </a:solidFill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7080D66-ADFC-480B-B2FF-089BD33B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7210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竣工验收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1B7BBD1-D587-4A18-98F7-2449DA58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959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687ED95-5F03-4C21-A14C-01521692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775" y="5438775"/>
            <a:ext cx="3905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45A"/>
          </a:solidFill>
          <a:ln xmlns:a="http://schemas.openxmlformats.org/drawingml/2006/main" w="0">
            <a:solidFill>
              <a:srgbClr val="E2545A"/>
            </a:solidFill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1D7E0EF-9436-4FBE-BE83-F137DC73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8" y="58578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C5A91"/>
          </a:solidFill>
          <a:ln xmlns:a="http://schemas.openxmlformats.org/drawingml/2006/main" w="0">
            <a:solidFill>
              <a:srgbClr val="7C5A91"/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B841306-8F5D-404F-A471-D76C2FC3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6038" y="6029325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0796247-50C6-474F-955F-65ED3300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388" y="58578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C5A91"/>
          </a:solidFill>
          <a:ln xmlns:a="http://schemas.openxmlformats.org/drawingml/2006/main" w="0">
            <a:solidFill>
              <a:srgbClr val="7C5A91"/>
            </a:solidFill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0169023-5EFA-4DE9-BE19-33A8BC75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738" y="6029325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69DAA25-E017-41C4-A5B0-507AF03B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58578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C5A91"/>
          </a:solidFill>
          <a:ln xmlns:a="http://schemas.openxmlformats.org/drawingml/2006/main" w="0">
            <a:solidFill>
              <a:srgbClr val="7C5A91"/>
            </a:solidFill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02FF0D5-10E6-4EA8-AEBC-2C7E1A23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6029325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rPr>
              <a:t>M3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552F51E-EB3D-4A61-B543-0450E77A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1838" y="5857875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C5A91"/>
          </a:solidFill>
          <a:ln xmlns:a="http://schemas.openxmlformats.org/drawingml/2006/main" w="0">
            <a:solidFill>
              <a:srgbClr val="7C5A91"/>
            </a:solidFill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AEB4F5E-3C58-46EB-9A6A-0042C3EC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4188" y="6029325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7C5A91"/>
                </a:solidFill>
                <a:latin typeface="Microsoft YaHei"/>
                <a:ea typeface="Microsoft YaHei"/>
                <a:cs typeface="Microsoft YaHei"/>
              </a:rPr>
              <a:t>M4/M5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4E8662F-D4A3-4CB8-BCC4-092346F4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81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图 3-2</a:t>
            </a:r>
          </a:p>
        </p:txBody>
      </p:sp>
    </p:spTree>
    <p:extLst>
      <p:ext uri="{BB962C8B-B14F-4D97-AF65-F5344CB8AC3E}">
        <p14:creationId xmlns:p14="http://schemas.microsoft.com/office/powerpoint/2010/main" val="13258614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08852-5689-4C33-878A-E69F47C3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三人成员职责与交付关系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B0F448-FD64-40DD-BEEB-077F8A63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每份正式产物只有一名主责，问题按“复核意见、主责修改、复核关闭”形成闭环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2D2B34-4EA3-4465-AACC-FA42A233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C8080-6BC5-4646-948A-825AE753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143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项目经理与总编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BF757-A3F7-4AFB-9773-AB4E5C51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DE5D3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计划与进度控制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阶段评审与交付组织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跨文档一致性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7DC6F-B7BF-4FE9-B24B-2096AABF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3143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B7FAD"/>
          </a:solidFill>
          <a:ln xmlns:a="http://schemas.openxmlformats.org/drawingml/2006/main" w="14288">
            <a:solidFill>
              <a:srgbClr val="4B7FAD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技术负责人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A80B44-4F45-4364-8A30-A0E13214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6695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4B7FAD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架构与详细设计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软件增量与接口联调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性能安全恢复验证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AF196-3D7C-4468-A3E2-7564208A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381125"/>
            <a:ext cx="3143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58A150"/>
          </a:solidFill>
          <a:ln xmlns:a="http://schemas.openxmlformats.org/drawingml/2006/main" w="14288">
            <a:solidFill>
              <a:srgbClr val="58A150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需求与合规负责人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09BEE-2834-4944-8D47-5B9DF4FF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6695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8E3EF"/>
          </a:solidFill>
          <a:ln xmlns:a="http://schemas.openxmlformats.org/drawingml/2006/main" w="14288">
            <a:solidFill>
              <a:srgbClr val="58A150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SRS与需求追踪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条款和关键数字核对</a:t>
            </a:r>
          </a:p>
          <a:p xmlns:a="http://schemas.openxmlformats.org/drawingml/2006/main">
            <a:pPr>
              <a:def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测试设计与符合性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D451E-8B2C-4ECB-A539-C0603339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00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A主责产物由C复核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50D36-B0CE-4310-B5B1-FB008FF29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B7FAD"/>
                </a:solidFill>
                <a:latin typeface="Microsoft YaHei"/>
                <a:ea typeface="Microsoft YaHei"/>
                <a:cs typeface="Microsoft YaHei"/>
              </a:rPr>
              <a:t>B主责产物由A复核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65F149-2138-4AFE-BF40-9F2F3969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0005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8A1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8A150"/>
                </a:solidFill>
                <a:latin typeface="Microsoft YaHei"/>
                <a:ea typeface="Microsoft YaHei"/>
                <a:cs typeface="Microsoft YaHei"/>
              </a:rPr>
              <a:t>C主责产物由B复核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B77150-2953-449A-AD4C-CCF2093D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38650"/>
            <a:ext cx="7715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0776BE-62D5-421B-AD77-17D68129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D9DEE5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评审意见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DB42D7-176D-45E5-B2CD-D195F2B8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90537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50575-A8C5-4C9A-A201-CFEC5E06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D9DEE5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主责修改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2A5C3B-553D-44A3-A1F2-E34FBA66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C9F2F5-0901-4585-8D29-480D836E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625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14288">
            <a:solidFill>
              <a:srgbClr val="D9DEE5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关闭证据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C7B94B-92B9-4656-A2E5-5C0B44BA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905375"/>
            <a:ext cx="619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3CA8D8-D6D4-4625-8477-BA205B47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1809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14288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阶段准出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299CA7-F646-49A3-A394-029706D5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5310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未关闭阻断项不得进入下一阶段；自动检查不能替代指定复核人的业务复核。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F04A85-001A-4D5D-8D54-6D7A31E5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81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图 4-1</a:t>
            </a:r>
          </a:p>
        </p:txBody>
      </p:sp>
    </p:spTree>
    <p:extLst>
      <p:ext uri="{BB962C8B-B14F-4D97-AF65-F5344CB8AC3E}">
        <p14:creationId xmlns:p14="http://schemas.microsoft.com/office/powerpoint/2010/main" val="11737047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2026-09-11T04:20:19.7160000Z</dcterms:created>
  <dcterms:modified xsi:type="dcterms:W3CDTF">2026-09-11T04:20:19.7160000Z</dcterms:modified>
</coreProperties>
</file>