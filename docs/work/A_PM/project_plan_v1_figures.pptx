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b9e7b3248d24eb1" Type="http://schemas.openxmlformats.org/officeDocument/2006/relationships/officeDocument" Target="ppt/presentation.xml"/><Relationship Id="Ra0c594540777457b" Type="http://schemas.openxmlformats.org/package/2006/relationships/metadata/core-properties" Target="docProps/core.xml"/><Relationship Id="Rdce59dd303fe4f18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f2a1575a594693"/>
  </p:sldMasterIdLst>
  <p:notesMasterIdLst>
    <p:notesMasterId xmlns:r="http://schemas.openxmlformats.org/officeDocument/2006/relationships" r:id="R8df43a0919b8437a"/>
  </p:notesMasterIdLst>
  <p:sldIdLst>
    <p:sldId xmlns:r="http://schemas.openxmlformats.org/officeDocument/2006/relationships" id="256" r:id="R6c14f6484c5b456d"/>
    <p:sldId xmlns:r="http://schemas.openxmlformats.org/officeDocument/2006/relationships" id="257" r:id="Rf98f5c115fdd469b"/>
    <p:sldId xmlns:r="http://schemas.openxmlformats.org/officeDocument/2006/relationships" id="258" r:id="Red28ee4364834a3c"/>
    <p:sldId xmlns:r="http://schemas.openxmlformats.org/officeDocument/2006/relationships" id="259" r:id="R03e577ee17364a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e577ee17364a68" Type="http://schemas.openxmlformats.org/officeDocument/2006/relationships/slide" Target="slides/slide4.xml"/><Relationship Id="R62f2a1575a594693" Type="http://schemas.openxmlformats.org/officeDocument/2006/relationships/slideMaster" Target="slideMasters/slideMaster1.xml"/><Relationship Id="R6c14f6484c5b456d" Type="http://schemas.openxmlformats.org/officeDocument/2006/relationships/slide" Target="slides/slide1.xml"/><Relationship Id="R79a6fc9b521c4a92" Type="http://schemas.openxmlformats.org/officeDocument/2006/relationships/presProps" Target="presProps.xml"/><Relationship Id="R8df43a0919b8437a" Type="http://schemas.openxmlformats.org/officeDocument/2006/relationships/notesMaster" Target="notesMasters/notesMaster1.xml"/><Relationship Id="Rc72592f0a3b64041" Type="http://schemas.openxmlformats.org/officeDocument/2006/relationships/theme" Target="theme/theme1.xml"/><Relationship Id="Rcdfd7e5de2ab4670" Type="http://schemas.openxmlformats.org/officeDocument/2006/relationships/tableStyles" Target="tableStyles.xml"/><Relationship Id="Red28ee4364834a3c" Type="http://schemas.openxmlformats.org/officeDocument/2006/relationships/slide" Target="slides/slide3.xml"/><Relationship Id="Rf98f5c115fdd469b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de1b5c2f830c44f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2e6aa69685542e5" Type="http://schemas.openxmlformats.org/officeDocument/2006/relationships/notesMaster" Target="../notesMasters/notesMaster1.xml"/><Relationship Id="R67e365ad0b9a477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fc9d2b843774fe8" Type="http://schemas.openxmlformats.org/officeDocument/2006/relationships/notesMaster" Target="../notesMasters/notesMaster1.xml"/><Relationship Id="Rabae692feb574f1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8422c279cd24939" Type="http://schemas.openxmlformats.org/officeDocument/2006/relationships/notesMaster" Target="../notesMasters/notesMaster1.xml"/><Relationship Id="R6066f8d49b7c439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547131c808a4cd1" Type="http://schemas.openxmlformats.org/officeDocument/2006/relationships/notesMaster" Target="../notesMasters/notesMaster1.xml"/><Relationship Id="Rb66500849128430d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25b5b5bf21041a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e90b53f0836407d" Type="http://schemas.openxmlformats.org/officeDocument/2006/relationships/slideLayout" Target="../slideLayouts/slideLayout1.xml"/><Relationship Id="Rbb54d792034d4c8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90b53f083640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c47239a5f534831" Type="http://schemas.openxmlformats.org/officeDocument/2006/relationships/notesSlide" Target="../notesSlides/notesSlide1.xml"/><Relationship Id="Re677aa4cac0b44a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83c5b98de91f432f" Type="http://schemas.openxmlformats.org/officeDocument/2006/relationships/slideLayout" Target="../slideLayouts/slideLayout1.xml"/><Relationship Id="R8f6f696c517f43d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e8dd0093d094f51" Type="http://schemas.openxmlformats.org/officeDocument/2006/relationships/notesSlide" Target="../notesSlides/notesSlide3.xml"/><Relationship Id="Rb28ad8ff08e640db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82db6dfeb9244d4" Type="http://schemas.openxmlformats.org/officeDocument/2006/relationships/slideLayout" Target="../slideLayouts/slideLayout1.xml"/><Relationship Id="Rcca786a6d24341b8" Type="http://schemas.openxmlformats.org/officeDocument/2006/relationships/notesSlide" Target="../notesSlides/notesSlide4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78024F-0D65-4159-A093-0EE83E37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项目工作分解结构 WBS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2D607-A9A1-46B3-8408-E1371436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工作包按可交付成果分解，底层工作包单次执行周期不超过一周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31341-BD7F-4CF7-87B6-7E232251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DAC57-A19B-445E-A255-5980C615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8002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项目管理与控制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EF71F-2E5B-45B8-9AC0-F15A9195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19431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B85BC-94D3-432E-8394-768466D4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计划基线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79B29-F8A4-4225-9ED6-15793BC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4A57B-29BE-4BE2-8F2E-208CD773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194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5D3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周进度与风险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84C0A-CD8C-4FB9-BC7D-4409582F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4000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A8760-F904-48F8-8252-EFF3C604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评审与配置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32A54-4240-44B5-AA25-7048A504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257300"/>
            <a:ext cx="18002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需求确认 M1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2763E-4B54-4455-BC04-604953D8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19431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47FF5-B745-4B47-8CF9-262C6585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1526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SRS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8A9E0-56EA-4314-B835-37EAD872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87556-311F-42C9-A9AC-77A160F8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194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5D3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RTM与验收基准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ECC49-EA81-44ED-A8F0-A1722A9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4000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048A5-1E50-422A-906C-C70F21DF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862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需求确认包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36062-E93B-43D5-85A8-713585C4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57300"/>
            <a:ext cx="18002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设计评审 M2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13018-EAB3-4A58-B844-051E9385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19431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4756B-C7E6-4B20-983B-E5E7404F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五类设计文档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511DA-F19C-4105-8637-3D4E3671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ECAF8-7FBD-4C8C-976F-4B68C795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5D3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测试计划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A5440-5E26-42EB-B773-579CCAFE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4000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3D37F-CE16-49EC-91AE-4B8C03BA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862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视频与消息连通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40A7A-86E1-44B0-891C-2B899302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57300"/>
            <a:ext cx="18002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开发与集成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BFBC1B-8BA2-405F-B2CC-E9B3F729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19431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2C7601-0D9B-4EDB-AF4F-0EBBCE4A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526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Web业务增量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8B57D0-8588-40EA-8B91-0E6D11F2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5B8E43-6D9E-48CC-B896-0082BE9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194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5D3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H5六类业务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23F13-495D-4D03-8C02-3957896D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4000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EE6B3F-7A2D-407E-9E0F-D4D77487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862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外部系统联动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1792D1-5826-43BA-91C1-6AFFC253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57300"/>
            <a:ext cx="18002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测试与初验 M3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B8D94A-88FB-4566-8F8B-B3C66B7C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9431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02383F-FDB4-4FD8-AC94-F95DF32C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526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四级测试证据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E70BD7-C063-4B3F-B976-E1CEF70F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069CAD-362B-47D3-A21B-1EE29B61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5D3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性能与安全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74F7AA-8DC4-41D9-9706-CA01799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4000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2A55E9-AC97-4BD0-A91B-D333B82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初验部署包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F07D55-1EC3-4143-9AA8-62CF21E8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257300"/>
            <a:ext cx="18002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试运行与验收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AFF6B0-B252-4409-8E3D-CCD2B53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263" y="19431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28B97C-3A4D-4C17-B1E1-32CCA6F7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526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培训与四周运行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300D4C-C0CC-49F6-A672-B9180BFF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263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CDE984-64DE-4E18-81F2-B8C8D6D0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194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5D3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真实演练与恢复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58C9A5-EA52-4E15-86D1-D9B61A02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263" y="4000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3F5455-37C6-4287-BCD6-E7C3D8FA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286250"/>
            <a:ext cx="1647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M4后M5与质保启动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70908C-5907-45D7-9DCB-385FFD57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依赖主线：需求确认  →  设计评审与接口连通  →  可运行增量  →  初验  →  四周试运行  →  竣工验收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0645D1-A02A-49D3-8273-CAF41EE0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图 2-1</a:t>
            </a:r>
          </a:p>
        </p:txBody>
      </p:sp>
    </p:spTree>
    <p:extLst>
      <p:ext uri="{BB962C8B-B14F-4D97-AF65-F5344CB8AC3E}">
        <p14:creationId xmlns:p14="http://schemas.microsoft.com/office/powerpoint/2010/main" val="1187894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35FE53-66B2-4C0F-8624-F0A273CC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项目阶段与正式里程碑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4E4C3-B89C-4CC1-BC64-C2D15649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周次从合同签订日起算，正式时点与交付物遵循用户需求书第 9.1 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CAFFD-4E0E-4F85-87FB-2879CEA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C5EF0-7DE0-489D-A1A8-9A56220D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952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A4BD8-78EC-4769-8387-A4D39FFB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71750"/>
            <a:ext cx="323850" cy="3238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14288">
            <a:solidFill>
              <a:srgbClr val="4B7FAD"/>
            </a:solidFill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94B1F-D401-47E2-B130-D9C122CB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38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B7F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B7FA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64490-D599-4BCD-84E1-96E08B79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6687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需求确认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022E6-B91D-42BF-A4C3-D54B03E5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114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合同后2周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EAF62-C11A-484A-A668-CC26029D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190875"/>
            <a:ext cx="1924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1430">
            <a:solidFill>
              <a:srgbClr val="4B7FA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SRS评审通过</a:t>
            </a:r>
          </a:p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需求确认书签署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873DC-52BD-4DCC-8750-DE5422D7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323850" cy="3238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14288">
            <a:solidFill>
              <a:srgbClr val="4B7FAD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CD6BD-7FDE-4F67-B49A-EFAA381F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38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B7F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B7FA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ED848-E851-4E55-803C-9E5A9CF8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66687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设计评审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2571B-0D67-4EEC-AA2B-71867D73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14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合同后6周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41504-6FA7-405F-ACB6-19FA4FB3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90875"/>
            <a:ext cx="1924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1430">
            <a:solidFill>
              <a:srgbClr val="4B7FA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五类设计文档与测试计划</a:t>
            </a:r>
          </a:p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视频、消息连通结论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44FE4-E2EF-4BEF-A546-883F5475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71750"/>
            <a:ext cx="323850" cy="3238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39A2B"/>
          </a:solidFill>
          <a:ln xmlns:a="http://schemas.openxmlformats.org/drawingml/2006/main" w="14288">
            <a:solidFill>
              <a:srgbClr val="F39A2B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7C0C6-EC3E-4BEB-ABDF-C804321F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38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39A2B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F4425-C9C5-46FF-8478-B715DB34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6687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初验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3713D-A8C1-4BD9-87A6-418E1400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14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合同后16周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9772F-BB32-4AB6-A576-FBAD2EC6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90875"/>
            <a:ext cx="1924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5C4"/>
          </a:solidFill>
          <a:ln xmlns:a="http://schemas.openxmlformats.org/drawingml/2006/main" w="11430">
            <a:solidFill>
              <a:srgbClr val="F39A2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甲方环境可运行系统</a:t>
            </a:r>
          </a:p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阶段测试与初验记录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103F3-D61F-46B1-9199-93C7C30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323850" cy="3238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545A"/>
          </a:solidFill>
          <a:ln xmlns:a="http://schemas.openxmlformats.org/drawingml/2006/main" w="14288">
            <a:solidFill>
              <a:srgbClr val="E2545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D648A-A643-4B3E-AB83-98299453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38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25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2545A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1574D-B5A7-4F65-90D7-8E25B0B9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6687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试运行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07FFC-D51A-4A11-AA00-E9B42D02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14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初验后4周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AAEEC-5BF1-448C-A652-2952B3B1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90875"/>
            <a:ext cx="1924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D9DB"/>
          </a:solidFill>
          <a:ln xmlns:a="http://schemas.openxmlformats.org/drawingml/2006/main" w="11430">
            <a:solidFill>
              <a:srgbClr val="E2545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W17—W20逐周运行记录</a:t>
            </a:r>
          </a:p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真实应急演练支撑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443A7-84B8-4EB2-B97A-7EC2734E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571750"/>
            <a:ext cx="323850" cy="3238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545A"/>
          </a:solidFill>
          <a:ln xmlns:a="http://schemas.openxmlformats.org/drawingml/2006/main" w="14288">
            <a:solidFill>
              <a:srgbClr val="E2545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C53F7-B136-4304-BFEB-4D869C9F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238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25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2545A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CF5E8-D885-4607-B95F-5D4D42E4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6687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竣工验收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84CAC-24BF-4D3C-8C71-ADAAA80F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试运行满1个月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15D9E-CC3D-47B0-8743-D04689CD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90875"/>
            <a:ext cx="1924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D9DB"/>
          </a:solidFill>
          <a:ln xmlns:a="http://schemas.openxmlformats.org/drawingml/2006/main" w="11430">
            <a:solidFill>
              <a:srgbClr val="E2545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M4准出后组织</a:t>
            </a:r>
          </a:p>
          <a:p xmlns:a="http://schemas.openxmlformats.org/drawingml/2006/main">
            <a:pPr>
              <a:def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全套交付物并签署报告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B83223-AFC0-4B9C-A219-0A1129B7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62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4288">
            <a:solidFill>
              <a:srgbClr val="D9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M3初验后形成试运行启动记录并立即连续监测；W17培训与监测并行。W17—W20均形成运行、工单、缺陷和可用率证据；W20先M4准出，再组织M5。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D612E1-D826-4660-A238-C43EC4EC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图 3-1</a:t>
            </a:r>
          </a:p>
        </p:txBody>
      </p:sp>
    </p:spTree>
    <p:extLst>
      <p:ext uri="{BB962C8B-B14F-4D97-AF65-F5344CB8AC3E}">
        <p14:creationId xmlns:p14="http://schemas.microsoft.com/office/powerpoint/2010/main" val="1617748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31E213F-D691-459E-95DA-E5E134EC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项目总体进度甘特图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0AAE9-1C77-4512-9C8E-2CFFC618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W1 至 W20 为合同签订后的相对周次，色条表示计划执行周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ADE12-EE4F-4C9E-8778-F8F5CEF7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80725-981F-44F2-ABC6-F2538F61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计划项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4F80D-B375-44A8-8374-16B32D84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CDE9D-8DB8-4D6B-B4C4-A219E0E3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72E4B-3A77-471D-A3A2-709CFE57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94BC2-D06F-44EA-97D4-440D744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F8B6E-9F87-42BA-A184-39E6F47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3C89A-F4A9-4849-8C71-725EC1C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9B0A4-42D3-4062-8533-B2534B17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61A2D-18BB-44F4-AED7-2DC84A85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F0FD6-93A3-4A4D-9AC7-B1260DD1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72BDE-E5CB-4372-BC66-199E14D3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3047F-C7C4-4EBA-9FB4-F54D7FF9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7D983-8843-4C83-A442-D362ADEB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8AB06-4F88-4C64-BBEC-26A32722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755EB-1CAA-43A1-ADB7-BDC4C82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03468-43DA-4BDF-BDE9-F97DB86F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BFBBD-2013-4492-AED2-DBFA6EAA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BBD9B-8E91-426D-889A-A0F158F4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EBAF6-066F-4957-A0E6-F9F41C6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26DFC-6ABC-473A-B176-B22F32D6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49A9E-69D3-4C0E-A71D-2CF6E435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059DD-457A-46A3-A089-39C8A362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36F22A-E420-4984-ADA5-556C05D2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9CDC3-68DE-4941-BD28-55E9A380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62847-7E62-4283-A893-FE42C9B8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84AD2D-6ED2-408B-B1A6-836C9441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BA1A73-2D14-41B0-8F05-FBC2447D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7117E2-3C56-421D-AF17-9FE3C20F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9AF0C8-7B3F-4553-97C8-EF07EE61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D748D7-E18F-4B01-B4BD-A07991AE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96E102-4993-4416-A96C-D34B8B33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B50541-F5A2-4A26-A1E6-F4E52B3B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5A4745-FD58-4C15-B6EE-A39C0609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E9D2CC-D70C-4FFF-BCF8-98642D4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8C251E-AFB5-4D79-85D2-31A08CCF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A5D8AE-B768-4F72-8887-6A640C2B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716AE0-13C6-47CB-BBDF-610C3AFB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324835-305F-4437-95B9-40E9423D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W19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1AFD44-E16A-4209-88B2-1A205DC7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8B0A83-9BCD-4C1F-98FF-3C6E2259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668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W20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E0804C-B1ED-481B-92A6-5C449E22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03E0AC-DC6C-4DFF-886F-132FE31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37160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6AC810-6E8D-4EEF-B3F1-7DB8224A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716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需求确认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243517-0468-4591-B8C7-ADBD4916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00E94F-DC7D-409D-AA7D-690E8813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838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solidFill>
              <a:srgbClr val="4B7FAD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400BBA-F783-44F3-A986-3C6B5F10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049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设计与M2连通验证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9C3005-B07E-4748-AF66-8CD94C3C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288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B13601-4757-4401-9754-0191B200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71650"/>
            <a:ext cx="1733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AD"/>
          </a:solidFill>
          <a:ln xmlns:a="http://schemas.openxmlformats.org/drawingml/2006/main" w="0">
            <a:solidFill>
              <a:srgbClr val="4B7FAD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20D79B-B0E5-4065-A51D-9364BBD8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公共基础与配置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240D11-BA7B-4BF4-A0D9-9204C1F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19A49C-D613-4D2A-9CA9-32513E7E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05025"/>
            <a:ext cx="3905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150"/>
          </a:solidFill>
          <a:ln xmlns:a="http://schemas.openxmlformats.org/drawingml/2006/main" w="0">
            <a:solidFill>
              <a:srgbClr val="58A150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0B5376-003A-4FD4-95E9-6B1A5C80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717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资源、值班与演练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0CB574-0E30-4134-9051-A43261F9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955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1318D0-42DF-4403-B1C4-1887FA0F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438400"/>
            <a:ext cx="838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150"/>
          </a:solidFill>
          <a:ln xmlns:a="http://schemas.openxmlformats.org/drawingml/2006/main" w="0">
            <a:solidFill>
              <a:srgbClr val="58A150"/>
            </a:solidFill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EFB8A4-A169-41AC-B9FE-A1FF88CE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051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事件与任务闭环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E072CD-2A7F-47EA-A029-7CAA3815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6F7CC0-61AA-4F4B-97F4-6B30AB99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71775"/>
            <a:ext cx="3905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150"/>
          </a:solidFill>
          <a:ln xmlns:a="http://schemas.openxmlformats.org/drawingml/2006/main" w="0">
            <a:solidFill>
              <a:srgbClr val="58A150"/>
            </a:solidFill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D002FE-62E2-4725-BED4-67AE3514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384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指挥一张图与视频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069D7D-2B91-4790-A6C3-A699325A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62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AC0BF9-6865-4011-907E-E2C9F76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3905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150"/>
          </a:solidFill>
          <a:ln xmlns:a="http://schemas.openxmlformats.org/drawingml/2006/main" w="0">
            <a:solidFill>
              <a:srgbClr val="58A150"/>
            </a:solidFill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8826E6-5602-47A2-B124-EBDCFA12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H5移动业务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0FB7F7-34F4-4D7C-9897-559C85D3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95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903D5A-A204-4968-9195-5D4214F1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38525"/>
            <a:ext cx="3905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150"/>
          </a:solidFill>
          <a:ln xmlns:a="http://schemas.openxmlformats.org/drawingml/2006/main" w="0">
            <a:solidFill>
              <a:srgbClr val="58A150"/>
            </a:solidFill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AE61DA-99B1-4791-9C12-06A7808B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视图与外部联动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25B173F-0DAB-4E7C-A5D3-E8773BDD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290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2B1CE5A-8CE7-422A-8E56-C50F512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71900"/>
            <a:ext cx="838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150"/>
          </a:solidFill>
          <a:ln xmlns:a="http://schemas.openxmlformats.org/drawingml/2006/main" w="0">
            <a:solidFill>
              <a:srgbClr val="58A150"/>
            </a:solidFill>
          </a:ln>
        </p:spPr>
        <p:txBody xmlns:a="http://schemas.openxmlformats.org/drawingml/2006/main">
          <a:bodyPr/>
          <a:p/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3E7B8F-A18B-4555-9631-8B1B9289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386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性能、可靠性与数据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120965-C78A-4DD8-B5C4-BBB2E95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F7442ED-F38C-4732-936E-50D8CD3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05275"/>
            <a:ext cx="838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150"/>
          </a:solidFill>
          <a:ln xmlns:a="http://schemas.openxmlformats.org/drawingml/2006/main" w="0">
            <a:solidFill>
              <a:srgbClr val="58A150"/>
            </a:solidFill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A9777E-A58C-46A6-A362-59090070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719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测试、部署与初验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407DE1-17C2-4051-AD26-9A6C7D70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154E45-2495-4ACC-8F26-E43DF40E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38650"/>
            <a:ext cx="838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2B"/>
          </a:solidFill>
          <a:ln xmlns:a="http://schemas.openxmlformats.org/drawingml/2006/main" w="0">
            <a:solidFill>
              <a:srgbClr val="F39A2B"/>
            </a:solidFill>
          </a:ln>
        </p:spPr>
        <p:txBody xmlns:a="http://schemas.openxmlformats.org/drawingml/2006/main">
          <a:bodyPr/>
          <a:p/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9F2363-1224-4F71-A3BE-8C1AF92B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053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培训与试运行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58C073-8088-4DED-8F51-64A4A26D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29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472618-CADD-469B-AC85-2C71273C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72025"/>
            <a:ext cx="1733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45A"/>
          </a:solidFill>
          <a:ln xmlns:a="http://schemas.openxmlformats.org/drawingml/2006/main" w="0">
            <a:solidFill>
              <a:srgbClr val="E2545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184678F-4604-4132-B7DF-8AEAF9CD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387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真实演练与恢复验证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C05A84-C6B7-4880-AE15-ADE57FD2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625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6BE07E5-243D-4B23-8C73-8463DA6F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105400"/>
            <a:ext cx="838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45A"/>
          </a:solidFill>
          <a:ln xmlns:a="http://schemas.openxmlformats.org/drawingml/2006/main" w="0">
            <a:solidFill>
              <a:srgbClr val="E2545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F2B74B0-3464-4F01-B9E9-78B9FB37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竣工验收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7AC6C3D-2683-4EF2-96A0-415A9C04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95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46FCD4C-B1DA-407E-B442-C335DDEE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5438775"/>
            <a:ext cx="3905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45A"/>
          </a:solidFill>
          <a:ln xmlns:a="http://schemas.openxmlformats.org/drawingml/2006/main" w="0">
            <a:solidFill>
              <a:srgbClr val="E2545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4C134FC-1D15-47E8-A4E2-063850FA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5857875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C5A91"/>
          </a:solidFill>
          <a:ln xmlns:a="http://schemas.openxmlformats.org/drawingml/2006/main" w="0">
            <a:solidFill>
              <a:srgbClr val="7C5A91"/>
            </a:solidFill>
          </a:ln>
        </p:spPr>
        <p:txBody xmlns:a="http://schemas.openxmlformats.org/drawingml/2006/main">
          <a:bodyPr/>
          <a:p/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A4D4E8-DDCE-46E8-A2AA-EB5CFDA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60293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C5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C5A91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E86DFB-39B9-4863-8096-E0AB0AD7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388" y="5857875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C5A91"/>
          </a:solidFill>
          <a:ln xmlns:a="http://schemas.openxmlformats.org/drawingml/2006/main" w="0">
            <a:solidFill>
              <a:srgbClr val="7C5A91"/>
            </a:solidFill>
          </a:ln>
        </p:spPr>
        <p:txBody xmlns:a="http://schemas.openxmlformats.org/drawingml/2006/main">
          <a:bodyPr/>
          <a:p/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AA84E2B-EBCD-4FB4-BB03-5978B5F3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538" y="60293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C5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C5A91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89052D0-ED7B-4BB1-B9D7-A461B37F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5857875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C5A91"/>
          </a:solidFill>
          <a:ln xmlns:a="http://schemas.openxmlformats.org/drawingml/2006/main" w="0">
            <a:solidFill>
              <a:srgbClr val="7C5A91"/>
            </a:solidFill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5E4CE50-7B36-461C-AF99-80560E02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60293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C5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C5A91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E8C2F5A-A2B6-4BAD-8496-99517193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5857875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C5A91"/>
          </a:solidFill>
          <a:ln xmlns:a="http://schemas.openxmlformats.org/drawingml/2006/main" w="0">
            <a:solidFill>
              <a:srgbClr val="7C5A91"/>
            </a:solidFill>
          </a:ln>
        </p:spPr>
        <p:txBody xmlns:a="http://schemas.openxmlformats.org/drawingml/2006/main">
          <a:bodyPr/>
          <a:p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3048D70-507C-4443-A70F-1475EB8A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988" y="60293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C5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C5A91"/>
                </a:solidFill>
                <a:latin typeface="Microsoft YaHei"/>
                <a:ea typeface="Microsoft YaHei"/>
                <a:cs typeface="Microsoft YaHei"/>
              </a:rPr>
              <a:t>M4→M5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CC0542A-FA58-4788-ABC8-CC41836E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图 3-2</a:t>
            </a:r>
          </a:p>
        </p:txBody>
      </p:sp>
    </p:spTree>
    <p:extLst>
      <p:ext uri="{BB962C8B-B14F-4D97-AF65-F5344CB8AC3E}">
        <p14:creationId xmlns:p14="http://schemas.microsoft.com/office/powerpoint/2010/main" val="5945753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9DB38-D52A-4205-8551-3232C51D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三人成员职责与交付关系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FB27F-88CE-4B48-A71A-9911BBDF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每份正式产物只有一名主责，问题按“复核意见、主责修改、复核关闭”形成闭环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50C5E-A8F3-4D99-924E-DB5D7AC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101FF-AC9D-4E85-95DA-79613C08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项目经理与总编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6D9DD-B4CF-4042-87CF-83B0417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E5D3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计划与进度控制</a:t>
            </a:r>
          </a:p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阶段评审、交付与质保组织</a:t>
            </a:r>
          </a:p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跨文档一致性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DE417-0968-4A79-B6CE-8AB6687D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B7FAD"/>
          </a:solidFill>
          <a:ln xmlns:a="http://schemas.openxmlformats.org/drawingml/2006/main" w="14288">
            <a:solidFill>
              <a:srgbClr val="4B7FA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技术负责人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892D5-3B9A-4021-9282-F6C42DF7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4B7FA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架构与详细设计</a:t>
            </a:r>
          </a:p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软件增量、数据初始化与接口联调</a:t>
            </a:r>
          </a:p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性能安全恢复验证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3CFF0-C4C9-44E2-87AE-51086A0C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8A150"/>
          </a:solidFill>
          <a:ln xmlns:a="http://schemas.openxmlformats.org/drawingml/2006/main" w="14288">
            <a:solidFill>
              <a:srgbClr val="58A15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需求与合规负责人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94B2A-C62C-4C37-9572-25FE2402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8E3EF"/>
          </a:solidFill>
          <a:ln xmlns:a="http://schemas.openxmlformats.org/drawingml/2006/main" w="14288">
            <a:solidFill>
              <a:srgbClr val="58A15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SRS与需求追踪</a:t>
            </a:r>
          </a:p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条款和关键数字核对</a:t>
            </a:r>
          </a:p>
          <a:p xmlns:a="http://schemas.openxmlformats.org/drawingml/2006/main">
            <a:pPr>
              <a:def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测试设计与符合性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6CB14-8E58-4F47-A3E9-175A27D3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A主责产物由C复核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E871A-438A-45E7-966B-7722221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7F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B7FAD"/>
                </a:solidFill>
                <a:latin typeface="Microsoft YaHei"/>
                <a:ea typeface="Microsoft YaHei"/>
                <a:cs typeface="Microsoft YaHei"/>
              </a:rPr>
              <a:t>B主责产物由A复核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2F207-5D2F-40EC-A0BC-EB0DCB41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00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8A1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8A150"/>
                </a:solidFill>
                <a:latin typeface="Microsoft YaHei"/>
                <a:ea typeface="Microsoft YaHei"/>
                <a:cs typeface="Microsoft YaHei"/>
              </a:rPr>
              <a:t>C主责产物由B复核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5BC85-DAA2-44C2-8712-815AEC1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38650"/>
            <a:ext cx="771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87BDD-1628-46C4-97C9-D9143E61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4288">
            <a:solidFill>
              <a:srgbClr val="D9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评审意见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59A18-3BCC-4D0E-A109-186E4AE8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053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9506B-00E1-41A4-994E-0F54F9CC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4288">
            <a:solidFill>
              <a:srgbClr val="D9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主责修改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9A4D6-0F59-481F-8874-BDC0C20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053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C0554-3F43-4821-A8E1-914F7A38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4288">
            <a:solidFill>
              <a:srgbClr val="D9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关闭证据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668F9-C348-4630-8ED5-3C0CED8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053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C6309-5DFC-4453-8EE2-6CE1794C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14288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阶段准出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2D56F-9088-415A-A4E4-48D62F69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未关闭阻断项不得进入下一阶段；自动检查不能替代指定复核人的业务复核。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DA2DF-CA6A-408E-825D-349376FB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图 4-1</a:t>
            </a:r>
          </a:p>
        </p:txBody>
      </p:sp>
    </p:spTree>
    <p:extLst>
      <p:ext uri="{BB962C8B-B14F-4D97-AF65-F5344CB8AC3E}">
        <p14:creationId xmlns:p14="http://schemas.microsoft.com/office/powerpoint/2010/main" val="669397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2026-09-11T07:28:05.2750000Z</dcterms:created>
  <dcterms:modified xsi:type="dcterms:W3CDTF">2026-09-11T07:28:05.2750000Z</dcterms:modified>
</coreProperties>
</file>