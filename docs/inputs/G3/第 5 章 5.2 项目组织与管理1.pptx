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21678900" cy="12192000"/>
  <p:notesSz cx="12192000" cy="216789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442" autoAdjust="0"/>
  </p:normalViewPr>
  <p:slideViewPr>
    <p:cSldViewPr snapToGrid="0" snapToObjects="1">
      <p:cViewPr varScale="1">
        <p:scale>
          <a:sx n="41" d="100"/>
          <a:sy n="41" d="100"/>
        </p:scale>
        <p:origin x="10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447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本次内容围绕项目组织与管理展开，基于PMBOK知识体系，系统梳理项目管理中的八大核心知识领域。课程面向空间信息数字工程专业，将理论与实践相结合，帮助建立起完整的项目管理知识框架。
【术语解释】
· PMBOK：全称Project Management Body of Knowledge，即项目管理知识体系，由美国项目管理协会（PMI）发布，是项目管理领域最权威的标准之一，目前广泛使用的是第6版和第7版。它系统总结了项目管理中公认的良好实践。
· 知识领域：指项目管理中需要关注的专业领域，如范围管理、时间管理等，每个领域都有对应的过程、工具和技术。
· 空间信息数字工程：以地理信息系统（GIS）、遥感（RS）、全球定位系统（GNSS）等技术为基础，对空间数据进行采集、处理、分析和应用的工程领域。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天的内容分为八个部分，从项目整体管理出发，依次覆盖范围、时间、成本、质量、人力资源、沟通和风险管理。这八大知识领域构成了PMBOK的核心框架，也是项目管理实践中必须掌握的基础内容。建议在学习过程中关注各领域之间的内在联系，而非孤立记忆。
【术语解释】
· 项目整体管理（Integration Management）：将项目各个部分整合协调，统一规划、执行和控制，确保各要素相互配合。
· 项目范围管理（Scope Management）：确定和控制项目做什么、不做什么，防止工作内容无限扩大。
· 项目时间管理（Time/Schedule Management）：制定进度计划、控制时间节点，确保按时交付。
· 项目成本管理（Cost Management）：估算、预算和控制项目费用，在批准预算内完成。
· 项目质量管理（Quality Management）：确保项目成果满足预期要求和适用标准。
· 项目人力资源管理（HR Management）：组建、管理和激励项目团队，发挥人员最大效能。
· 项目沟通管理（Communications Management）：确保项目信息在正确时间以正确方式传递给正确的人。
· 项目风险管理（Risk Management）：识别、分析和应对可能影响项目目标的不确定性事件。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入第一部分，项目整体管理。整体管理在PMBOK中被视为粘合剂，它将范围、时间、成本等其他知识领域整合起来，确保项目各部分协调一致。接下来将从项目基本概念和项目管理计划两个方面展开，理解整体管理在项目全周期中的核心地位。
【术语解释】
· 项目整体管理（Project Integration Management）：PMBOK十大知识领域之一，被视为项目的"粘合剂"，负责协调和整合其他所有知识领域，确保项目各部分作为一个统一整体运行。核心过程包括制定项目章程、制定项目管理计划、指导与管理项目执行、监控项目工作、实施整体变更控制和结束项目。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聚焦项目的核心概念。首先需要明确项目与日常运作的本质区别：项目是临时性的、独特的，有明确的起止时间；而运作是持续重复的。项目铁三角——时间、成本、范围——是项目管理中最经典的约束模型，三者相互制衡，任何一方的变动都会影响其他两方。项目经理的核心任务就是在干系人之间寻求平衡。干系人管理同样重要，从项目经理、客户到PMO，每一类干系人都对项目成败有直接影响，需要在项目全周期中持续识别和管理。
【术语解释】
· 项目（Project）：为创造独特的产品、服务或成果而进行的临时性工作，有明确的起点和终点。与日常运作（Operation）不同，日常运作是持续重复的活动。
· 日常运作（Operation）：组织持续进行的重复性活动，如生产、维护等，目的是维持业务运转而非创造独特成果。
· 项目铁三角（Iron Triangle）：项目管理中三个核心约束——范围（Scope）、时间（Time）、成本（Cost），三者相互制约。扩大范围通常需要增加时间或成本，缩短时间可能需要增加成本或减少范围。
· 干系人（Stakeholder）：能影响项目、被项目影响或自认为被项目影响的个人、群体或组织。包括项目经理、客户、团队成员、发起人、PMO等。
· PMO（Project Management Office，项目管理办公室）：一个组织部门，负责标准化项目管理流程、提供项目管理支持、协调资源分配，可提升组织项目管理成熟度。
· 项目生命周期（Project Life Cycle）：项目从启动到收尾所经历的一系列阶段，通常包括启动、规划、执行、监控和收尾五个过程组。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项目管理计划是指导项目执行的纲领性文件。需要注意的是，项目管理计划不是单一文档，而是包含范围、进度、成本、质量等多个子计划的集合，各子计划之间需要协调一致。页面下方展示了从项目章程到范围说明书、管理计划、指导执行直至监控收尾的完整流程，这七个核心过程构成了整体管理的主线。特别要强调的是整体变更控制——任何变更都需要经过正式的评估和审批流程，变更控制委员会（CCB）在其中扮演关键角色，这是防止项目失控的重要机制。
【术语解释】
· 项目管理计划（Project Management Plan）：指导项目执行和控制的综合性文档，包含范围、进度、成本、质量等各子计划以及里程碑清单、资源日历、风险登记册等。它是项目管理的主文档，所有决策的依据。
· 项目章程（Project Charter）：由项目发起人或高层管理者发布的正式文件，授权项目经理使用组织资源开展项目活动。它明确项目的目标、范围、高层级需求和总体里程碑。
· 范围说明书（Scope Statement）：详细描述项目范围、主要可交付成果、验收标准、项目边界和假设条件的文件，是范围基准的重要组成部分。
· 变更控制委员会（CCB, Change Control Board）：由干系人组成的正式团体，负责审查、评估和批准或拒绝项目变更请求。重大变更通常需要CCB审批。
· 整体变更控制（Integrated Change Control）：审查所有变更请求，批准变更并管理对可交付成果、项目文件和项目管理计划的变更的过程。任何变更都需要经过正式的评估和审批流程。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部分，项目范围管理。范围管理解决的是做什么和不做什么的问题，是防止项目失控的第一道防线。范围定义不清是项目失败最常见的原因之一。接下来将介绍范围管理的具体过程、WBS的编制方法以及范围变更的控制机制。
【术语解释】
· 项目范围管理（Project Scope Management）：确保项目做且只做所需全部工作，以成功完成项目各过程。包括收集需求、定义范围、创建WBS、确认范围和控制范围五个过程。
· WBS（Work Breakdown Structure，工作分解结构）：以可交付成果为导向的项目层级分解，将项目工作逐层分解为较小、更易管理的组件，是范围基准的核心。最低层级称为工作包（Work Package）。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范围管理包含三个核心过程：范围规划确定如何定义和控制范围；范围定义产出详细的范围说明书，明确项目边界；制作WBS则是将项目逐层分解为可管理的工作包。这里重点理解WBS的作用——它是组织项目工作、提供详细信息、控制项目范围的基石工具。在GIS或空间信息类项目中，WBS可以帮助将复杂的系统开发任务分解为数据采集、处理、分析、可视化等模块，使分工更加清晰。
【术语解释】
· 范围规划（Scope Planning）：制定范围管理计划的过程，明确如何定义、确认和控制项目及产品的范围。
· 范围定义（Scope Definition）：制定详细项目范围说明书的过程，明确项目边界、可交付成果和验收标准。
· 工作包（Work Package）：WBS最底层的组件，是可以进行估算、安排进度、监控和控制的工作单元。一个工作包应足够小以便分配给一个责任人完成。
· 范围说明书（Scope Statement）：详细描述项目范围、主要可交付成果、验收标准、项目边界（包括除外责任）、约束条件和假设的文件。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BS的编制需要遵循几项关键原则。100%规则是最核心的——WBS必须包含完成项目所需的全部工作，既不能有遗漏，也不应有多余。分解时应以交付成果为导向，而非以动作或任务为导向，这样更有利于明确责任和验收标准。分解层级一般4到6层足够，过度分解会增加管理成本。右侧的范围变更控制同样需要重视，项目中最常见的失控现象就是范围蔓延——未经正式审批的需求不断增加，最终导致进度和成本严重超支。严格的变更控制流程是防范范围蔓延的有效手段。
【术语解释】
· 100%规则：WBS编制的核心原则，要求WBS必须包含项目所需的全部工作，不多也不少。下层元素之和必须100%代表其上层元素的工作内容。
· 交付成果导向（Deliverable-Oriented）：WBS分解应以可交付成果（如"登录功能模块"）为导向，而非以执行动作（如"开发登录功能"）为导向。这有助于明确责任归属和验收标准。
· 范围蔓延（Scope Creep）：未经控制的产品或项目范围逐渐扩大的现象，是项目失败最常见的原因之一。通常由未经正式审批的需求变更引起，最终导致进度延迟和成本超支。
· 变更控制流程：所有范围变更请求都必须经过正式记录、评估影响、审批（通常由CCB或项目经理根据权限决定）、实施和验证的完整流程。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部分讨论项目时间管理。时间管理的核心目标是确保项目在规定的时间内完成。这部分将介绍时间管理的基本过程，以及关键路径法和进度控制这两个重点内容。在实际项目中，时间管理往往是最具挑战性的领域，因为进度延误会直接影响成本和客户满意度。
【术语解释】
· 项目时间管理（Project Time Management）：确保项目按时完成所需的过程，包括活动定义、活动排序、资源估算、持续时间估算、进度制定和进度控制。在PMBOK第6版后也称为项目进度管理（Schedule Management）。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时间管理的前三个过程包括活动定义、活动排序和活动资源估算。活动定义将WBS工作包进一步分解为具体活动；活动排序确定活动之间的逻辑依赖关系，包括FS、SS、FF、SF四种类型；活动资源估算则确定完成每项活动所需的资源种类和数量。下半部分介绍了五种活动持续时间估算方法，其中三点估算最具实用价值，通过考虑最乐观、最悲观和最可能三种情景来计算加权平均值，能够有效降低估算的不确定性。
【术语解释】
· 活动定义（Activity Definition）：识别和记录为完成项目可交付成果而需执行的具体行动的过程。活动是WBS工作包的进一步分解，是进度安排的最小单元。
· 活动排序（Activity Sequencing）：识别和记录项目活动之间逻辑关系的过程。四种依赖关系类型：FS（完成-开始，A完成后B才能开始）、SS（开始-开始，A开始后B才能开始）、FF（完成-完成，A完成时B必须完成）、SF（开始-完成，A开始时B必须完成，极少使用）。
· 类比估算（Analogous Estimating）：基于过去类似项目的实际持续时间，来估算当前项目 durations 的方法。优点是快速、成本低，缺点是精度较低。
· 参数估算（Parametric Estimating）：利用历史数据与项目参数之间的统计关系来估算活动 durations 或成本的方法。如"每平方米建筑成本×总建筑面积"。
· 三点估算（Three-Point Estimating）：考虑最乐观（O）、最悲观（P）和最可能（M）三种情景，使用公式(O+4M+P)/6计算加权平均值。适用于存在高度不确定性的情况。
· 储备分析（Reserve Analysis）：在估算中增加应急储备（应对已知-未知风险）或管理储备（应对未知-未知风险），以提高计划的鲁棒性。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路径法是时间管理中最核心的工具。关键路径上的活动总浮动时间为零，意味着这些活动没有任何缓冲余地，任何延误都会直接推迟项目完成时间。一个项目可能存在多条关键路径，需要同等关注。进度控制的目标是对造成进度偏差的因素施加影响，常用方法包括偏差分析和趋势分析。当进度出现延误时，可以考虑赶工或快速跟进两种压缩技术，但需要注意两者都会增加风险或成本。
【术语解释】
· 关键路径法（CPM, Critical Path Method）：通过分析项目进度网络图中各活动的逻辑关系，确定项目最短完成时间和关键活动序列的方法。关键路径上的活动总浮动时间为零。
· 总浮动时间（Total Float）：在不延误项目完工日期或不违反进度制约因素的前提下，某活动可以从最早开始时间推迟的最大时间量。关键路径上活动的总浮动时间为零。
· 进度控制（Schedule Control）：监督项目状态以更新项目进度、管理进度基准变更的过程。核心工具包括挣值分析、偏差分析和趋势分析。
· 赶工（Crashing）：通过增加资源（如加班、加人）来压缩关键路径上活动 duration 的进度压缩技术。通常会增加成本。
· 快速跟进（Fast Tracking）：将正常情况下按顺序执行的活动改为并行执行（至少部分并行）。不增加成本，但会增加返工风险。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部分，项目成本管理。成本管理的目标是确保项目在批准的预算范围内完成，包含成本估算、成本预算和成本控制三个过程。成本估算回答花多少钱的问题，成本预算确定什么时候花多少钱，成本控制则确保实际支出不偏离计划。
【术语解释】
· 项目成本管理（Project Cost Management）：对成本进行估算、预算和控制，使项目在批准预算内完成的过程。包括成本估算、确定预算和控制成本三个核心过程。
· 成本基准（Cost Baseline）：经批准的、按时间段分配的项目预算，不包括管理储备。它是衡量和监控成本绩效的依据，通常以S曲线形式呈现。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展示了成本管理的三个过程和三种估算方法。成本估算确定完成活动所需资源的费用，成本预算将估算汇总并建立成本基准，成本控制则监控实际支出与基准的偏差。三种估算方法各有适用场景：类比估算速度快但精度低，适合项目早期；参数估算基于统计关系，精度较高但需要可靠的历史数据；三点估算通过加权平均降低不确定性。在实际项目中，可以根据信息丰富程度灵活组合使用这些方法。
【术语解释】
· 类比估算（Analogous Estimating）：参考过去类似项目的实际成本数据，来估算当前项目成本的方法。适用于项目早期信息不足时，速度快但精度较低（误差通常在-25%到+75%之间）。
· 参数估算（Parametric Estimating）：利用历史数据与项目参数之间的统计关系进行成本计算的方法。如"每平方米建筑成本×总建筑面积"。精度取决于模型的成熟度和数据的可靠性。
· 三点估算（Three-Point Estimating）：考虑最乐观成本（O）、最悲观成本（P）和最可能成本（M），通过公式(O+4M+P)/6计算期望成本。能有效处理估算中的不确定性。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本控制是成本管理中最具实践意义的部分。挣值管理是成本控制的核心工具，通过三个关键指标——实际成本AC、计划价值PV和挣值EV——来衡量项目绩效。成本偏差CV和进度偏差SV的计算公式需要熟练掌握：CV等于EV减AC，正值表示节约，负值表示超支；SV等于EV减PV，正值表示提前，负值表示滞后。当发现偏差后，可采取赶工、快速跟进、价值工程或资源平衡等纠正措施，具体选择取决于偏差的性质和严重程度。
【术语解释】
· 挣值管理（EVM, Earned Value Management）：将范围、进度和资源测量综合起来，以评估项目绩效的方法。核心指标包括：
  - PV（Planned Value，计划价值）：按计划应该完成的工作的预算价值
  - EV（Earned Value，挣值）：实际完成的工作的预算价值
  - AC（Actual Cost，实际成本）：完成工作实际发生的成本
· 成本偏差（CV, Cost Variance）：CV = EV - AC。CV&gt;0表示成本节约（实际花费少于预算），CV&lt;0表示成本超支。
· 进度偏差（SV, Schedule Variance）：SV = EV - PV。SV&gt;0表示进度提前，SV&lt;0表示进度滞后。
· 价值工程（Value Engineering）：以更低成本实现同等功能的方法，通过分析产品功能与成本之间的关系，寻找性价比最优方案。
· 资源平衡（Resource Leveling）：在资源需求与资源供给之间进行平衡，可能调整进度计划以解决资源冲突或过度分配。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部分讨论项目质量管理。质量管理并非等到项目交付时才进行检验，而是贯穿项目全周期的系统性活动。这部分将介绍质量管理的三个过程——质量计划、质量保证和质量控制，以及质量管理的基本原则和具体方法。在项目管理中，质量、成本和进度三者之间存在紧密的关联，牺牲质量来追赶进度往往会带来更高的后期成本。
【术语解释】
· 项目质量管理（Project Quality Management）：确保项目满足其既定需求的过程，包括质量规划、质量保证和质量控制。质量不仅指产品质量，还包括项目管理过程的质量。
· 质量（Quality）：一组固有特性满足需求的程度。在项目管理中，质量意味着项目成果符合要求且适合使用。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质量管理的三个过程形成了完整的质量闭环：质量计划确定标准和目标，质量保证通过系统活动确保过程合规，质量控制检查具体成果是否符合要求。下半部分的三项质量管理原则值得深入理解——管理层责任强调质量是自上而下的承诺，而非仅靠基层执行；预防为主体现了质量管理的经济性，预防成本远低于失败成本；持续改进则是质量管理的长期追求，通过PDCA等循环机制不断提升质量水平。
【术语解释】
· 质量计划（Quality Planning）：识别相关质量标准并确定如何满足这些标准的过程，输出质量管理计划和质量测量指标。
· 质量保证（Quality Assurance, QA）：通过系统的质量活动，确保项目使用的过程能够满足项目质量要求。侧重于过程改进，通常由独立的质量团队执行。
· 质量控制（Quality Control, QC）：监测具体项目成果，判断是否符合质量标准，并找出消除不合格绩效原因的方法。侧重于检查可交付成果。
· PDCA循环：Plan（计划）- Do（执行）- Check（检查）- Act（处理）的持续改进循环，由戴明提出，是质量管理的核心方法论。
· 管理层责任（Management Responsibility）：质量管理的首要原则，强调质量是管理层的责任而非仅由基层执行者承担。管理层需制定质量方针、提供资源支持并营造质量文化。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介绍了质量控制的三大类方法和质量成本的构成。质量检查侧重于审查、测量和测试等验证手段；质量统计分析运用鱼骨图、帕累托图、控制图等工具从数据中寻找问题根源；质量改进措施则通过PDCA循环、六西格玛等方法系统性地提升质量。底部的质量成本概念非常重要，一致性成本包括预防和评估成本，非一致性成本包括内部和外部失败成本。经验表明，增加预防投入能够显著降低总质量成本，这就是质量经济学中预防胜于检验的核心理念。
【术语解释】
· 鱼骨图（Ishikawa Diagram / Fishbone Diagram）：又称石川图或因果图，用于识别问题的潜在根本原因。将问题放在鱼头位置，沿主干分支列出人员、机器、材料、方法、环境、测量等可能原因类别。
· 帕累托图（Pareto Chart）：基于帕累托法则（80/20法则）的柱状图，按频率从高到低排列缺陷类型，帮助识别导致大多数问题的少数关键原因。
· 控制图（Control Chart）：用于监控过程是否处于统计控制状态的图表，包含中心线（CL）、上控制限（UCL）和下控制限（LCL）。超出控制限的点表示过程可能失控。
· 六西格玛（Six Sigma）：一种以数据为基础的质量管理方法，追求每百万机会中缺陷数不超过3.4个。核心流程为DMAIC（定义-测量-分析-改进-控制）。
· 质量成本（COQ, Cost of Quality）：与质量相关的所有成本，分为一致性成本（预防成本+评估成本，为达到质量要求而花费的成本）和非一致性成本（内部失败成本+外部失败成本，因质量缺陷造成的损失）。
· 标杆对照（Benchmarking）：将本项目的实践与行业内最佳实践或竞争对手进行比较，以识别改进机会。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部分关注项目人力资源管理。项目成败最终取决于人，人力资源管理就是确保项目拥有合适的人员，并使他们高效协作。这部分将介绍人力资源管理的三个过程——规划、组建和建设，以及不同组织结构对项目管理的影响。在技术型项目中，团队成员的专业能力和协作效率往往比流程和工具更能决定项目结果。
【术语解释】
· 项目人力资源管理（Project Human Resource Management）：对项目团队成员进行组织、管理和领导的过程，包括人力资源规划、组建项目团队、建设项目团队和管理项目团队。
· RACI矩阵：责任分配矩阵的一种，用R（Responsible，执行）、A（Accountable，负责）、C（Consulted，咨询）、I（Informed，知情）四种角色明确团队成员的职责分工。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力资源管理的三个过程各有侧重。人力资源规划回答需要什么样的人、何时需要、需要多少；项目团队组建通过各种渠道获取所需人员；团队建设则通过培训、团建和激励等手段提升团队效能。下半部分的高效团队特点值得关注——明确目标使团队方向一致，资源共享提高协作效率，个体差异则带来多样性的视角和创新思维。一个高效的技术团队不仅需要技术能力突出的个体，更需要能够互补协作的集体。
【术语解释】
· 人力资源规划（HR Planning）：识别和记录项目角色、职责、所需技能、报告关系，并编制人员配备管理计划的过程。
· 项目团队组建（Acquire Project Team）：确认人力资源的可用情况，并为开展项目活动而组建项目团队的过程。可通过招聘、调配、借调等方式。
· 团队建设（Develop Project Team）：提高团队成员能力、改善团队互动氛围、提升整体绩效的过程。常用方式包括培训、团建活动、认可与奖励、集中办公等。
· 塔克曼阶梯理论（Tuckman Ladder）：描述团队发展的五阶段模型——形成期（Forming）、震荡期（Storming）、规范期（Norming）、成熟期（Performing）、解散期（Adjourning）。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介绍了描述组织结构的三种方式和三种典型组织形式的对比。层级结构图适合传统职能型组织，权责清晰但跨部门协作效率较低；矩阵结构图兼顾职能和项目双重管理，是现代项目管理中最常见的组织形式；文字描述则用于补充复杂岗位的详细信息。表格中三种组织形式的对比非常重要——职能型适合稳定环境但项目经理权限有限，项目型适合大型复杂项目但资源利用率可能不高，矩阵型兼顾两者优势但存在多头领导的潜在问题。理解这些差异有助于在实际工作中选择合适的组织架构。
【术语解释】
· 职能型组织（Functional Organization）：按职能（如研发部、市场部、财务部）划分的传统组织结构。项目经理权限很小或没有，资源由职能经理控制。适合稳定环境中的常规运营。
· 项目型组织（Projectized Organization）：以项目为中心的组织结构，项目经理拥有很高甚至全权。团队成员全职投入项目，直接向项目经理报告。适合大型、复杂的项目。
· 矩阵型组织（Matrix Organization）：职能型和项目型的混合结构，团队成员同时向职能经理和项目经理汇报。分为弱矩阵（职能主导）、平衡矩阵和强矩阵（项目主导）。
· 层级结构图（Hierarchical Chart）：以金字塔形式展示组织上下级关系的图表，如组织结构图（OBS, Organizational Breakdown Structure）。
· RAM（Responsibility Assignment Matrix，责任分配矩阵）：将项目工作与负责该工作的团队成员联系起来的矩阵图，最常用的是RACI矩阵。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部分讨论项目沟通管理。沟通管理在项目管理中常常被低估，但实际上很多问题都源于沟通不畅。这部分将介绍沟通管理的三个过程和不同沟通方式的选择要点。项目经理通常花费80%以上的时间在沟通上，因此掌握有效的沟通方法对项目成功至关重要。
【术语解释】
· 项目沟通管理（Project Communications Management）：确保项目信息及时且恰当地规划、收集、生成、发布、存储、检索、管理、控制、监督和最终处置的过程。项目经理约80%的时间用于沟通。
· 沟通模型（Communication Model）：描述信息从发送者到接收者的传递过程，包括编码（发送者将思想转化为信息）、传输（通过渠道传递）、解码（接收者理解信息）和反馈（接收者回应）四个环节。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沟通管理的三个过程构成了完整的沟通闭环。沟通计划明确谁需要什么信息、何时需要、以何种方式传递；信息发布确保信息准确及时地送达目标受众；绩效报告则向干系人传递项目状态信息。下半部分的沟通管理要点具有很强的实践指导意义——选择合适的方式、明确沟通目标、及时反馈、管理冲突、做好文档记录，这些要点看似简单但在实际项目中经常被忽视，导致信息传递失真或遗漏。
【术语解释】
· 沟通计划（Communications Planning）：根据干系人的信息需求和组织的可用资产，制定合适的沟通策略和方法的过程。输出沟通管理计划。
· 信息发布（Information Distribution）：按计划向项目干系人提供所需信息的过程。包括执行沟通管理计划、应对未计划的沟通需求等。
· 绩效报告（Performance Reporting）：收集和发布绩效信息的过程，包括状态报告（当前状况）、进展报告（已完成工作）和预测（未来状况）。
· 反馈机制（Feedback Mechanism）：确保信息被正确理解和接收的闭环机制，如要求确认回执、定期回访、会议纪要的审阅确认等。
· 冲突管理（Conflict Management）：通过适当的沟通技巧处理项目团队或干系人之间的分歧，常用方法包括合作/解决问题、妥协、缓和、强制和撤退。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对比了三种沟通方式及其适用场景。书面沟通具有记录性和可追溯性，适合正式决策和变更；语言沟通可以即时反馈，适合问题讨论和协商；非语言沟通包括肢体语言和视觉辅助，能够增强表达效果。底部的沟通方式选择指南表格提供了实用的决策参考——正式决策应选用书面沟通以确保可追溯，问题讨论适合语言沟通以提高效率，培训演示则需要结合多种方式以增强效果。在实际项目中，应根据具体场景灵活组合使用。
【术语解释】
· 书面沟通（Written Communication）：以文字形式传递信息的方式，包括报告、备忘录、电子邮件、会议纪要等。优点是正式、可追溯、可作为证据；缺点是无法即时反馈、可能被误解。
· 语言沟通（Verbal Communication）：以口头语言传递信息的方式，包括会议、电话、面谈、演讲等。优点是即时反馈、便于讨论和澄清；缺点是缺乏书面记录、容易遗忘。
· 非语言沟通（Nonverbal Communication）：通过身体语言、语调、表情、眼神、手势等方式传递信息。研究表明，沟通中约55%的信息通过非语言方式传递。
· 会议纪要（Meeting Minutes）：记录会议讨论内容、决策事项和行动项的书面文档，是项目管理的重要可追溯依据。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一部分是项目风险管理。风险管理的目标是识别、分析和应对可能影响项目目标的不确定性因素。这部分将介绍风险管理的过程、风险的基本特点以及四种风险应对策略。风险管理不是消极的防御，而是主动的管理，优秀的项目经理能够通过有效的风险管理将潜在威胁转化为可控因素。
【术语解释】
· 项目风险管理（Project Risk Management）：对项目风险进行规划、识别、分析、应对和监控的过程。风险是不确定性对项目目标（范围、进度、成本、质量）的潜在影响，可能是威胁（负面）也可能是机会（正面）。
· 定性风险分析（Qualitative Risk Analysis）：评估已识别风险的发生概率和影响程度，并以优先级排序的方法。通常使用概率-影响矩阵。
· 定量风险分析（Quantitative Risk Analysis）：对已识别风险对项目整体目标的综合影响进行数值分析的方法，常用工具包括蒙特卡洛模拟、决策树分析等。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风险管理包含三个核心过程：风险识别通过头脑风暴、访谈等方式全面发现潜在风险；风险分析对识别出的风险进行定性和定量评估，确定优先级；风险应对则制定具体策略降低风险的影响。下半部分总结了风险的四个基本特点——不确定性、影响目标、全生命周期存在以及可变性。这些特点说明风险无法完全消除，需要通过持续监控和动态管理来应对。特别是在技术创新类项目中，技术风险和市场风险的变化速度往往很快，更需要建立常态化的风险监控机制。
【术语解释】
· 风险识别（Risk Identification）：确定哪些风险可能影响项目并记录其特征的过程。常用技术包括头脑风暴、德尔菲法、访谈、核对单分析、根本原因分析等。
· 头脑风暴（Brainstorming）：一种群体创意技术，鼓励参与者自由提出想法，不加评判，以尽可能多地识别潜在风险。
· 德尔菲法（Delphi Technique）：通过多轮匿名问卷征求专家意见，每轮汇总反馈后再征求下一轮意见，直至达成共识。适用于缺乏历史数据的情况。
· 风险登记册（Risk Register）：记录已识别风险、风险责任人、风险应对措施等信息的文档，在项目生命周期中持续更新。
· 已知-未知风险（Known Unknowns）：已识别但其影响尚不确定的风险，通常用应急储备（Contingency Reserve）应对。
· 未知-未知风险（Unknown Unknowns）：尚未识别的风险，通常用管理储备（Management Reserve）应对，需要管理层批准才能使用。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介绍了四种经典的风险应对策略。风险规避通过改变计划来消除风险，最为彻底但往往成本较高；风险减轻降低风险发生的概率或影响，是项目中最常用的策略；风险转移将风险后果转由第三方承担，如购买保险或外包；风险接受则适用于低概率或低影响的风险，分为主动接受和被动接受两种形式。在实际决策中，需要根据风险的性质、概率和影响程度，综合考虑成本和收益来选择最合适的策略。风险管理的关键在于提前规划，而非等到风险发生后再被动应对。
【术语解释】
· 风险规避（Risk Avoidance）：通过消除风险条件或保护项目免受风险影响来应对威胁的策略。如取消高风险功能、采用成熟技术替代新技术。最彻底但也可能代价最高。
· 风险减轻（Risk Mitigation）：采取措施降低风险发生的概率或减轻其影响程度的策略。是项目中最常用的风险应对方式，如增加冗余设计、进行更多测试。
· 风险转移（Risk Transference）：将风险的影响和责任转移给第三方的策略。常见方式包括购买保险、签订固定总价合同、外包、设立担保等。并未消除风险，只是转移后果承担者。
· 风险接受（Risk Acceptance）：承认风险存在但不采取主动措施的策略。分为主动接受（建立应急储备，风险发生时有应对准备）和被动接受（风险发生后再处理）。适用于低概率或低影响的风险。
· 应急储备（Contingency Reserve）：为应对已识别的风险（已知-未知）而预留的预算或时间储备，包含在成本基准和进度基准中，由项目经理控制。
· 管理储备（Management Reserve）：为应对未识别的风险（未知-未知）而预留的预算储备，不包含在成本基准中，动用需管理层批准。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1016000" y="2709291"/>
            <a:ext cx="10160000" cy="474091"/>
          </a:xfrm>
          <a:prstGeom prst="rect">
            <a:avLst/>
          </a:prstGeom>
          <a:noFill/>
          <a:ln/>
        </p:spPr>
      </p:sp>
      <p:sp>
        <p:nvSpPr>
          <p:cNvPr id="5" name="Text 2"/>
          <p:cNvSpPr/>
          <p:nvPr/>
        </p:nvSpPr>
        <p:spPr>
          <a:xfrm>
            <a:off x="894080" y="2648331"/>
            <a:ext cx="10403840" cy="596011"/>
          </a:xfrm>
          <a:prstGeom prst="rect">
            <a:avLst/>
          </a:prstGeom>
          <a:noFill/>
          <a:ln/>
        </p:spPr>
        <p:txBody>
          <a:bodyPr wrap="none" lIns="0" tIns="0" rIns="0" bIns="0" rtlCol="0" anchor="t"/>
          <a:lstStyle/>
          <a:p>
            <a:pPr algn="l">
              <a:lnSpc>
                <a:spcPct val="120000"/>
              </a:lnSpc>
            </a:pPr>
            <a:r>
              <a:rPr lang="en-US" sz="2130" kern="0" spc="400" dirty="0">
                <a:solidFill>
                  <a:srgbClr val="5B9BD5"/>
                </a:solidFill>
                <a:latin typeface="Quattrocento Sans" pitchFamily="34" charset="0"/>
                <a:ea typeface="Quattrocento Sans" pitchFamily="34" charset="-122"/>
                <a:cs typeface="Quattrocento Sans" pitchFamily="34" charset="-120"/>
              </a:rPr>
              <a:t>PROJECT ORGANIZATION &amp; MANAGEMENT</a:t>
            </a:r>
            <a:endParaRPr lang="en-US" sz="2130" dirty="0"/>
          </a:p>
        </p:txBody>
      </p:sp>
      <p:sp>
        <p:nvSpPr>
          <p:cNvPr id="6" name="Shape 3"/>
          <p:cNvSpPr/>
          <p:nvPr/>
        </p:nvSpPr>
        <p:spPr>
          <a:xfrm>
            <a:off x="1016000" y="3386709"/>
            <a:ext cx="18626709" cy="1016000"/>
          </a:xfrm>
          <a:prstGeom prst="rect">
            <a:avLst/>
          </a:prstGeom>
          <a:noFill/>
          <a:ln/>
        </p:spPr>
      </p:sp>
      <p:sp>
        <p:nvSpPr>
          <p:cNvPr id="7" name="Text 4"/>
          <p:cNvSpPr/>
          <p:nvPr/>
        </p:nvSpPr>
        <p:spPr>
          <a:xfrm>
            <a:off x="894080" y="3325749"/>
            <a:ext cx="18870549" cy="1137920"/>
          </a:xfrm>
          <a:prstGeom prst="rect">
            <a:avLst/>
          </a:prstGeom>
          <a:noFill/>
          <a:ln/>
        </p:spPr>
        <p:txBody>
          <a:bodyPr wrap="none" lIns="0" tIns="0" rIns="0" bIns="0" rtlCol="0" anchor="t"/>
          <a:lstStyle/>
          <a:p>
            <a:pPr algn="l">
              <a:lnSpc>
                <a:spcPct val="120000"/>
              </a:lnSpc>
            </a:pPr>
            <a:r>
              <a:rPr lang="en-US" sz="5870" b="1" dirty="0">
                <a:solidFill>
                  <a:srgbClr val="1A4A7A"/>
                </a:solidFill>
                <a:latin typeface="Quattrocento Sans" pitchFamily="34" charset="0"/>
                <a:ea typeface="Quattrocento Sans" pitchFamily="34" charset="-122"/>
                <a:cs typeface="Quattrocento Sans" pitchFamily="34" charset="-120"/>
              </a:rPr>
              <a:t>项目组织与管理</a:t>
            </a:r>
            <a:endParaRPr lang="en-US" sz="5870" dirty="0"/>
          </a:p>
        </p:txBody>
      </p:sp>
      <p:sp>
        <p:nvSpPr>
          <p:cNvPr id="8" name="Shape 5"/>
          <p:cNvSpPr/>
          <p:nvPr/>
        </p:nvSpPr>
        <p:spPr>
          <a:xfrm>
            <a:off x="1016000" y="4605909"/>
            <a:ext cx="11853291" cy="508000"/>
          </a:xfrm>
          <a:prstGeom prst="rect">
            <a:avLst/>
          </a:prstGeom>
          <a:noFill/>
          <a:ln/>
        </p:spPr>
      </p:sp>
      <p:sp>
        <p:nvSpPr>
          <p:cNvPr id="9" name="Text 6"/>
          <p:cNvSpPr/>
          <p:nvPr/>
        </p:nvSpPr>
        <p:spPr>
          <a:xfrm>
            <a:off x="894080" y="4544949"/>
            <a:ext cx="12097131" cy="629920"/>
          </a:xfrm>
          <a:prstGeom prst="rect">
            <a:avLst/>
          </a:prstGeom>
          <a:noFill/>
          <a:ln/>
        </p:spPr>
        <p:txBody>
          <a:bodyPr wrap="none" lIns="0" tIns="0" rIns="0" bIns="0" rtlCol="0" anchor="t"/>
          <a:lstStyle/>
          <a:p>
            <a:pPr algn="l">
              <a:lnSpc>
                <a:spcPct val="120000"/>
              </a:lnSpc>
            </a:pPr>
            <a:r>
              <a:rPr lang="en-US" sz="2670" dirty="0">
                <a:solidFill>
                  <a:srgbClr val="888888"/>
                </a:solidFill>
                <a:latin typeface="Quattrocento Sans" pitchFamily="34" charset="0"/>
                <a:ea typeface="Quattrocento Sans" pitchFamily="34" charset="-122"/>
                <a:cs typeface="Quattrocento Sans" pitchFamily="34" charset="-120"/>
              </a:rPr>
              <a:t>空间信息工程综合实习 · PMBOK十大知识领域</a:t>
            </a:r>
            <a:endParaRPr lang="en-US" sz="2670" dirty="0"/>
          </a:p>
        </p:txBody>
      </p:sp>
      <p:sp>
        <p:nvSpPr>
          <p:cNvPr id="10" name="Shape 7"/>
          <p:cNvSpPr/>
          <p:nvPr/>
        </p:nvSpPr>
        <p:spPr>
          <a:xfrm>
            <a:off x="1016000" y="5418709"/>
            <a:ext cx="19642709" cy="16891"/>
          </a:xfrm>
          <a:prstGeom prst="rect">
            <a:avLst/>
          </a:prstGeom>
          <a:solidFill>
            <a:srgbClr val="E0E0E0"/>
          </a:solidFill>
          <a:ln/>
        </p:spPr>
      </p:sp>
      <p:sp>
        <p:nvSpPr>
          <p:cNvPr id="11" name="Shape 8"/>
          <p:cNvSpPr/>
          <p:nvPr/>
        </p:nvSpPr>
        <p:spPr>
          <a:xfrm>
            <a:off x="0" y="7281291"/>
            <a:ext cx="21674709" cy="4910709"/>
          </a:xfrm>
          <a:prstGeom prst="rect">
            <a:avLst/>
          </a:prstGeom>
          <a:solidFill>
            <a:srgbClr val="1A4A7A"/>
          </a:solidFill>
          <a:ln/>
        </p:spPr>
      </p:sp>
      <p:sp>
        <p:nvSpPr>
          <p:cNvPr id="12" name="Shape 9"/>
          <p:cNvSpPr/>
          <p:nvPr/>
        </p:nvSpPr>
        <p:spPr>
          <a:xfrm>
            <a:off x="1016000" y="8128000"/>
            <a:ext cx="10160000" cy="474091"/>
          </a:xfrm>
          <a:prstGeom prst="rect">
            <a:avLst/>
          </a:prstGeom>
          <a:noFill/>
          <a:ln/>
        </p:spPr>
      </p:sp>
      <p:sp>
        <p:nvSpPr>
          <p:cNvPr id="13" name="Text 10"/>
          <p:cNvSpPr/>
          <p:nvPr/>
        </p:nvSpPr>
        <p:spPr>
          <a:xfrm>
            <a:off x="894080" y="8067040"/>
            <a:ext cx="10403840" cy="596011"/>
          </a:xfrm>
          <a:prstGeom prst="rect">
            <a:avLst/>
          </a:prstGeom>
          <a:noFill/>
          <a:ln/>
        </p:spPr>
        <p:txBody>
          <a:bodyPr wrap="none" lIns="0" tIns="0" rIns="0" bIns="0" rtlCol="0" anchor="t"/>
          <a:lstStyle/>
          <a:p>
            <a:pPr algn="l">
              <a:lnSpc>
                <a:spcPct val="120000"/>
              </a:lnSpc>
            </a:pPr>
            <a:r>
              <a:rPr lang="en-US" sz="2400" dirty="0">
                <a:solidFill>
                  <a:srgbClr val="FFFFFF"/>
                </a:solidFill>
                <a:latin typeface="Quattrocento Sans" pitchFamily="34" charset="0"/>
                <a:ea typeface="Quattrocento Sans" pitchFamily="34" charset="-122"/>
                <a:cs typeface="Quattrocento Sans" pitchFamily="34" charset="-120"/>
              </a:rPr>
              <a:t>空间信息数字工程专业</a:t>
            </a:r>
            <a:endParaRPr lang="en-US" sz="2400" dirty="0"/>
          </a:p>
        </p:txBody>
      </p:sp>
      <p:sp>
        <p:nvSpPr>
          <p:cNvPr id="14" name="Shape 11"/>
          <p:cNvSpPr/>
          <p:nvPr/>
        </p:nvSpPr>
        <p:spPr>
          <a:xfrm>
            <a:off x="1016000" y="8805291"/>
            <a:ext cx="10160000" cy="474091"/>
          </a:xfrm>
          <a:prstGeom prst="rect">
            <a:avLst/>
          </a:prstGeom>
          <a:noFill/>
          <a:ln/>
        </p:spPr>
      </p:sp>
      <p:sp>
        <p:nvSpPr>
          <p:cNvPr id="15" name="Text 12"/>
          <p:cNvSpPr/>
          <p:nvPr/>
        </p:nvSpPr>
        <p:spPr>
          <a:xfrm>
            <a:off x="894080" y="8744331"/>
            <a:ext cx="10403840" cy="596011"/>
          </a:xfrm>
          <a:prstGeom prst="rect">
            <a:avLst/>
          </a:prstGeom>
          <a:noFill/>
          <a:ln/>
        </p:spPr>
        <p:txBody>
          <a:bodyPr wrap="none" lIns="0" tIns="0" rIns="0" bIns="0" rtlCol="0" anchor="t"/>
          <a:lstStyle/>
          <a:p>
            <a:pPr algn="l">
              <a:lnSpc>
                <a:spcPct val="120000"/>
              </a:lnSpc>
            </a:pPr>
            <a:r>
              <a:rPr lang="en-US" sz="2130" dirty="0" err="1">
                <a:solidFill>
                  <a:srgbClr val="FFFFFF"/>
                </a:solidFill>
                <a:latin typeface="Quattrocento Sans" pitchFamily="34" charset="0"/>
                <a:ea typeface="Quattrocento Sans" pitchFamily="34" charset="-122"/>
                <a:cs typeface="Quattrocento Sans" pitchFamily="34" charset="-120"/>
              </a:rPr>
              <a:t>综合实习课程</a:t>
            </a:r>
            <a:r>
              <a:rPr lang="en-US" sz="2130" dirty="0">
                <a:solidFill>
                  <a:srgbClr val="FFFFFF"/>
                </a:solidFill>
                <a:latin typeface="Quattrocento Sans" pitchFamily="34" charset="0"/>
                <a:ea typeface="Quattrocento Sans" pitchFamily="34" charset="-122"/>
                <a:cs typeface="Quattrocento Sans" pitchFamily="34" charset="-120"/>
              </a:rPr>
              <a:t> · 基于PMBOK知识体系</a:t>
            </a:r>
            <a:endParaRPr lang="en-US" sz="2130" dirty="0"/>
          </a:p>
        </p:txBody>
      </p:sp>
      <p:sp>
        <p:nvSpPr>
          <p:cNvPr id="16" name="Shape 13"/>
          <p:cNvSpPr/>
          <p:nvPr/>
        </p:nvSpPr>
        <p:spPr>
          <a:xfrm>
            <a:off x="1016000" y="9482709"/>
            <a:ext cx="5080000" cy="406400"/>
          </a:xfrm>
          <a:prstGeom prst="rect">
            <a:avLst/>
          </a:prstGeom>
          <a:noFill/>
          <a:ln/>
        </p:spPr>
      </p:sp>
      <p:sp>
        <p:nvSpPr>
          <p:cNvPr id="17" name="Text 14"/>
          <p:cNvSpPr/>
          <p:nvPr/>
        </p:nvSpPr>
        <p:spPr>
          <a:xfrm>
            <a:off x="894080" y="9421749"/>
            <a:ext cx="5323840" cy="528320"/>
          </a:xfrm>
          <a:prstGeom prst="rect">
            <a:avLst/>
          </a:prstGeom>
          <a:noFill/>
          <a:ln/>
        </p:spPr>
        <p:txBody>
          <a:bodyPr wrap="none" lIns="0" tIns="0" rIns="0" bIns="0" rtlCol="0" anchor="t"/>
          <a:lstStyle/>
          <a:p>
            <a:pPr algn="l">
              <a:lnSpc>
                <a:spcPct val="120000"/>
              </a:lnSpc>
            </a:pPr>
            <a:r>
              <a:rPr lang="en-US" sz="1870" dirty="0">
                <a:solidFill>
                  <a:srgbClr val="FFFFFF"/>
                </a:solidFill>
                <a:latin typeface="Quattrocento Sans" pitchFamily="34" charset="0"/>
                <a:ea typeface="Quattrocento Sans" pitchFamily="34" charset="-122"/>
                <a:cs typeface="Quattrocento Sans" pitchFamily="34" charset="-120"/>
              </a:rPr>
              <a:t>2026-2027学年</a:t>
            </a:r>
            <a:endParaRPr lang="en-US" sz="1870" dirty="0"/>
          </a:p>
        </p:txBody>
      </p:sp>
      <p:sp>
        <p:nvSpPr>
          <p:cNvPr id="18" name="Shape 15"/>
          <p:cNvSpPr/>
          <p:nvPr/>
        </p:nvSpPr>
        <p:spPr>
          <a:xfrm>
            <a:off x="13546709" y="10600309"/>
            <a:ext cx="7112000" cy="1016000"/>
          </a:xfrm>
          <a:prstGeom prst="rect">
            <a:avLst/>
          </a:prstGeom>
          <a:noFill/>
          <a:ln/>
        </p:spPr>
      </p:sp>
      <p:sp>
        <p:nvSpPr>
          <p:cNvPr id="19" name="Text 16"/>
          <p:cNvSpPr/>
          <p:nvPr/>
        </p:nvSpPr>
        <p:spPr>
          <a:xfrm>
            <a:off x="13424789" y="10539349"/>
            <a:ext cx="7355840" cy="1137920"/>
          </a:xfrm>
          <a:prstGeom prst="rect">
            <a:avLst/>
          </a:prstGeom>
          <a:noFill/>
          <a:ln/>
        </p:spPr>
        <p:txBody>
          <a:bodyPr wrap="none" lIns="0" tIns="0" rIns="0" bIns="0" rtlCol="0" anchor="ctr"/>
          <a:lstStyle/>
          <a:p>
            <a:pPr algn="r">
              <a:lnSpc>
                <a:spcPct val="120000"/>
              </a:lnSpc>
            </a:pPr>
            <a:r>
              <a:rPr lang="en-US" sz="6400" dirty="0">
                <a:solidFill>
                  <a:srgbClr val="FFFFFF"/>
                </a:solidFill>
                <a:latin typeface="Quattrocento Sans" pitchFamily="34" charset="0"/>
                <a:ea typeface="Quattrocento Sans" pitchFamily="34" charset="-122"/>
                <a:cs typeface="Quattrocento Sans" pitchFamily="34" charset="-120"/>
              </a:rPr>
              <a:t>PM</a:t>
            </a:r>
            <a:endParaRPr lang="en-US" sz="64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1016000" y="677291"/>
            <a:ext cx="5080000" cy="846709"/>
          </a:xfrm>
          <a:prstGeom prst="rect">
            <a:avLst/>
          </a:prstGeom>
          <a:noFill/>
          <a:ln/>
        </p:spPr>
      </p:sp>
      <p:sp>
        <p:nvSpPr>
          <p:cNvPr id="5" name="Text 2"/>
          <p:cNvSpPr/>
          <p:nvPr/>
        </p:nvSpPr>
        <p:spPr>
          <a:xfrm>
            <a:off x="894080" y="616331"/>
            <a:ext cx="5323840" cy="9686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目录</a:t>
            </a:r>
            <a:endParaRPr lang="en-US" sz="4800" dirty="0"/>
          </a:p>
        </p:txBody>
      </p:sp>
      <p:sp>
        <p:nvSpPr>
          <p:cNvPr id="6" name="Shape 3"/>
          <p:cNvSpPr/>
          <p:nvPr/>
        </p:nvSpPr>
        <p:spPr>
          <a:xfrm>
            <a:off x="1016000" y="1557909"/>
            <a:ext cx="5080000" cy="406400"/>
          </a:xfrm>
          <a:prstGeom prst="rect">
            <a:avLst/>
          </a:prstGeom>
          <a:noFill/>
          <a:ln/>
        </p:spPr>
      </p:sp>
      <p:sp>
        <p:nvSpPr>
          <p:cNvPr id="7" name="Text 4"/>
          <p:cNvSpPr/>
          <p:nvPr/>
        </p:nvSpPr>
        <p:spPr>
          <a:xfrm>
            <a:off x="894080" y="1496949"/>
            <a:ext cx="5323840" cy="528320"/>
          </a:xfrm>
          <a:prstGeom prst="rect">
            <a:avLst/>
          </a:prstGeom>
          <a:noFill/>
          <a:ln/>
        </p:spPr>
        <p:txBody>
          <a:bodyPr wrap="none" lIns="0" tIns="0" rIns="0" bIns="0" rtlCol="0" anchor="t"/>
          <a:lstStyle/>
          <a:p>
            <a:pPr algn="l">
              <a:lnSpc>
                <a:spcPct val="120000"/>
              </a:lnSpc>
            </a:pPr>
            <a:r>
              <a:rPr lang="en-US" sz="1870" kern="0" spc="533" dirty="0">
                <a:solidFill>
                  <a:srgbClr val="5B9BD5"/>
                </a:solidFill>
                <a:latin typeface="Quattrocento Sans" pitchFamily="34" charset="0"/>
                <a:ea typeface="Quattrocento Sans" pitchFamily="34" charset="-122"/>
                <a:cs typeface="Quattrocento Sans" pitchFamily="34" charset="-120"/>
              </a:rPr>
              <a:t>TABLE OF CONTENTS</a:t>
            </a:r>
            <a:endParaRPr lang="en-US" sz="1870" dirty="0"/>
          </a:p>
        </p:txBody>
      </p:sp>
      <p:sp>
        <p:nvSpPr>
          <p:cNvPr id="8" name="Shape 5"/>
          <p:cNvSpPr/>
          <p:nvPr/>
        </p:nvSpPr>
        <p:spPr>
          <a:xfrm>
            <a:off x="1016000" y="2065909"/>
            <a:ext cx="19642709" cy="16891"/>
          </a:xfrm>
          <a:prstGeom prst="rect">
            <a:avLst/>
          </a:prstGeom>
          <a:solidFill>
            <a:srgbClr val="E0E0E0"/>
          </a:solidFill>
          <a:ln/>
        </p:spPr>
      </p:sp>
      <p:sp>
        <p:nvSpPr>
          <p:cNvPr id="9" name="Shape 6"/>
          <p:cNvSpPr/>
          <p:nvPr/>
        </p:nvSpPr>
        <p:spPr>
          <a:xfrm>
            <a:off x="1016000" y="2269109"/>
            <a:ext cx="931291" cy="677291"/>
          </a:xfrm>
          <a:prstGeom prst="rect">
            <a:avLst/>
          </a:prstGeom>
          <a:noFill/>
          <a:ln/>
        </p:spPr>
      </p:sp>
      <p:sp>
        <p:nvSpPr>
          <p:cNvPr id="10" name="Text 7"/>
          <p:cNvSpPr/>
          <p:nvPr/>
        </p:nvSpPr>
        <p:spPr>
          <a:xfrm>
            <a:off x="894080" y="2208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01</a:t>
            </a:r>
            <a:endParaRPr lang="en-US" sz="3200" dirty="0"/>
          </a:p>
        </p:txBody>
      </p:sp>
      <p:sp>
        <p:nvSpPr>
          <p:cNvPr id="11" name="Shape 8"/>
          <p:cNvSpPr/>
          <p:nvPr/>
        </p:nvSpPr>
        <p:spPr>
          <a:xfrm>
            <a:off x="2032000" y="2269109"/>
            <a:ext cx="8466709" cy="440309"/>
          </a:xfrm>
          <a:prstGeom prst="rect">
            <a:avLst/>
          </a:prstGeom>
          <a:noFill/>
          <a:ln/>
        </p:spPr>
      </p:sp>
      <p:sp>
        <p:nvSpPr>
          <p:cNvPr id="12" name="Text 9"/>
          <p:cNvSpPr/>
          <p:nvPr/>
        </p:nvSpPr>
        <p:spPr>
          <a:xfrm>
            <a:off x="1910080" y="2208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项目整体管理</a:t>
            </a:r>
            <a:endParaRPr lang="en-US" sz="2400" dirty="0"/>
          </a:p>
        </p:txBody>
      </p:sp>
      <p:sp>
        <p:nvSpPr>
          <p:cNvPr id="13" name="Shape 10"/>
          <p:cNvSpPr/>
          <p:nvPr/>
        </p:nvSpPr>
        <p:spPr>
          <a:xfrm>
            <a:off x="2032000" y="2743200"/>
            <a:ext cx="8466709" cy="338709"/>
          </a:xfrm>
          <a:prstGeom prst="rect">
            <a:avLst/>
          </a:prstGeom>
          <a:noFill/>
          <a:ln/>
        </p:spPr>
      </p:sp>
      <p:sp>
        <p:nvSpPr>
          <p:cNvPr id="14" name="Text 11"/>
          <p:cNvSpPr/>
          <p:nvPr/>
        </p:nvSpPr>
        <p:spPr>
          <a:xfrm>
            <a:off x="1910080" y="2682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Integration Management</a:t>
            </a:r>
            <a:endParaRPr lang="en-US" sz="1600" dirty="0"/>
          </a:p>
        </p:txBody>
      </p:sp>
      <p:sp>
        <p:nvSpPr>
          <p:cNvPr id="15" name="Shape 12"/>
          <p:cNvSpPr/>
          <p:nvPr/>
        </p:nvSpPr>
        <p:spPr>
          <a:xfrm>
            <a:off x="1016000" y="3149600"/>
            <a:ext cx="19642709" cy="16891"/>
          </a:xfrm>
          <a:prstGeom prst="rect">
            <a:avLst/>
          </a:prstGeom>
          <a:solidFill>
            <a:srgbClr val="E0E0E0"/>
          </a:solidFill>
          <a:ln/>
        </p:spPr>
      </p:sp>
      <p:sp>
        <p:nvSpPr>
          <p:cNvPr id="16" name="Shape 13"/>
          <p:cNvSpPr/>
          <p:nvPr/>
        </p:nvSpPr>
        <p:spPr>
          <a:xfrm>
            <a:off x="1016000" y="3285109"/>
            <a:ext cx="931291" cy="677291"/>
          </a:xfrm>
          <a:prstGeom prst="rect">
            <a:avLst/>
          </a:prstGeom>
          <a:noFill/>
          <a:ln/>
        </p:spPr>
      </p:sp>
      <p:sp>
        <p:nvSpPr>
          <p:cNvPr id="17" name="Text 14"/>
          <p:cNvSpPr/>
          <p:nvPr/>
        </p:nvSpPr>
        <p:spPr>
          <a:xfrm>
            <a:off x="894080" y="3224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02</a:t>
            </a:r>
            <a:endParaRPr lang="en-US" sz="3200" dirty="0"/>
          </a:p>
        </p:txBody>
      </p:sp>
      <p:sp>
        <p:nvSpPr>
          <p:cNvPr id="18" name="Shape 15"/>
          <p:cNvSpPr/>
          <p:nvPr/>
        </p:nvSpPr>
        <p:spPr>
          <a:xfrm>
            <a:off x="2032000" y="3285109"/>
            <a:ext cx="8466709" cy="440309"/>
          </a:xfrm>
          <a:prstGeom prst="rect">
            <a:avLst/>
          </a:prstGeom>
          <a:noFill/>
          <a:ln/>
        </p:spPr>
      </p:sp>
      <p:sp>
        <p:nvSpPr>
          <p:cNvPr id="19" name="Text 16"/>
          <p:cNvSpPr/>
          <p:nvPr/>
        </p:nvSpPr>
        <p:spPr>
          <a:xfrm>
            <a:off x="1910080" y="3224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项目范围管理</a:t>
            </a:r>
            <a:endParaRPr lang="en-US" sz="2400" dirty="0"/>
          </a:p>
        </p:txBody>
      </p:sp>
      <p:sp>
        <p:nvSpPr>
          <p:cNvPr id="20" name="Shape 17"/>
          <p:cNvSpPr/>
          <p:nvPr/>
        </p:nvSpPr>
        <p:spPr>
          <a:xfrm>
            <a:off x="2032000" y="3759200"/>
            <a:ext cx="8466709" cy="338709"/>
          </a:xfrm>
          <a:prstGeom prst="rect">
            <a:avLst/>
          </a:prstGeom>
          <a:noFill/>
          <a:ln/>
        </p:spPr>
      </p:sp>
      <p:sp>
        <p:nvSpPr>
          <p:cNvPr id="21" name="Text 18"/>
          <p:cNvSpPr/>
          <p:nvPr/>
        </p:nvSpPr>
        <p:spPr>
          <a:xfrm>
            <a:off x="1910080" y="3698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Scope Management</a:t>
            </a:r>
            <a:endParaRPr lang="en-US" sz="1600" dirty="0"/>
          </a:p>
        </p:txBody>
      </p:sp>
      <p:sp>
        <p:nvSpPr>
          <p:cNvPr id="22" name="Shape 19"/>
          <p:cNvSpPr/>
          <p:nvPr/>
        </p:nvSpPr>
        <p:spPr>
          <a:xfrm>
            <a:off x="1016000" y="4165600"/>
            <a:ext cx="19642709" cy="16891"/>
          </a:xfrm>
          <a:prstGeom prst="rect">
            <a:avLst/>
          </a:prstGeom>
          <a:solidFill>
            <a:srgbClr val="E0E0E0"/>
          </a:solidFill>
          <a:ln/>
        </p:spPr>
      </p:sp>
      <p:sp>
        <p:nvSpPr>
          <p:cNvPr id="23" name="Shape 20"/>
          <p:cNvSpPr/>
          <p:nvPr/>
        </p:nvSpPr>
        <p:spPr>
          <a:xfrm>
            <a:off x="1016000" y="4301109"/>
            <a:ext cx="931291" cy="677291"/>
          </a:xfrm>
          <a:prstGeom prst="rect">
            <a:avLst/>
          </a:prstGeom>
          <a:noFill/>
          <a:ln/>
        </p:spPr>
      </p:sp>
      <p:sp>
        <p:nvSpPr>
          <p:cNvPr id="24" name="Text 21"/>
          <p:cNvSpPr/>
          <p:nvPr/>
        </p:nvSpPr>
        <p:spPr>
          <a:xfrm>
            <a:off x="894080" y="4240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03</a:t>
            </a:r>
            <a:endParaRPr lang="en-US" sz="3200" dirty="0"/>
          </a:p>
        </p:txBody>
      </p:sp>
      <p:sp>
        <p:nvSpPr>
          <p:cNvPr id="25" name="Shape 22"/>
          <p:cNvSpPr/>
          <p:nvPr/>
        </p:nvSpPr>
        <p:spPr>
          <a:xfrm>
            <a:off x="2032000" y="4301109"/>
            <a:ext cx="8466709" cy="440309"/>
          </a:xfrm>
          <a:prstGeom prst="rect">
            <a:avLst/>
          </a:prstGeom>
          <a:noFill/>
          <a:ln/>
        </p:spPr>
      </p:sp>
      <p:sp>
        <p:nvSpPr>
          <p:cNvPr id="26" name="Text 23"/>
          <p:cNvSpPr/>
          <p:nvPr/>
        </p:nvSpPr>
        <p:spPr>
          <a:xfrm>
            <a:off x="1910080" y="4240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项目时间管理</a:t>
            </a:r>
            <a:endParaRPr lang="en-US" sz="2400" dirty="0"/>
          </a:p>
        </p:txBody>
      </p:sp>
      <p:sp>
        <p:nvSpPr>
          <p:cNvPr id="27" name="Shape 24"/>
          <p:cNvSpPr/>
          <p:nvPr/>
        </p:nvSpPr>
        <p:spPr>
          <a:xfrm>
            <a:off x="2032000" y="4775200"/>
            <a:ext cx="8466709" cy="338709"/>
          </a:xfrm>
          <a:prstGeom prst="rect">
            <a:avLst/>
          </a:prstGeom>
          <a:noFill/>
          <a:ln/>
        </p:spPr>
      </p:sp>
      <p:sp>
        <p:nvSpPr>
          <p:cNvPr id="28" name="Text 25"/>
          <p:cNvSpPr/>
          <p:nvPr/>
        </p:nvSpPr>
        <p:spPr>
          <a:xfrm>
            <a:off x="1910080" y="4714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Time Management</a:t>
            </a:r>
            <a:endParaRPr lang="en-US" sz="1600" dirty="0"/>
          </a:p>
        </p:txBody>
      </p:sp>
      <p:sp>
        <p:nvSpPr>
          <p:cNvPr id="29" name="Shape 26"/>
          <p:cNvSpPr/>
          <p:nvPr/>
        </p:nvSpPr>
        <p:spPr>
          <a:xfrm>
            <a:off x="1016000" y="5181600"/>
            <a:ext cx="19642709" cy="16891"/>
          </a:xfrm>
          <a:prstGeom prst="rect">
            <a:avLst/>
          </a:prstGeom>
          <a:solidFill>
            <a:srgbClr val="E0E0E0"/>
          </a:solidFill>
          <a:ln/>
        </p:spPr>
      </p:sp>
      <p:sp>
        <p:nvSpPr>
          <p:cNvPr id="30" name="Shape 27"/>
          <p:cNvSpPr/>
          <p:nvPr/>
        </p:nvSpPr>
        <p:spPr>
          <a:xfrm>
            <a:off x="1016000" y="5317109"/>
            <a:ext cx="931291" cy="677291"/>
          </a:xfrm>
          <a:prstGeom prst="rect">
            <a:avLst/>
          </a:prstGeom>
          <a:noFill/>
          <a:ln/>
        </p:spPr>
      </p:sp>
      <p:sp>
        <p:nvSpPr>
          <p:cNvPr id="31" name="Text 28"/>
          <p:cNvSpPr/>
          <p:nvPr/>
        </p:nvSpPr>
        <p:spPr>
          <a:xfrm>
            <a:off x="894080" y="5256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04</a:t>
            </a:r>
            <a:endParaRPr lang="en-US" sz="3200" dirty="0"/>
          </a:p>
        </p:txBody>
      </p:sp>
      <p:sp>
        <p:nvSpPr>
          <p:cNvPr id="32" name="Shape 29"/>
          <p:cNvSpPr/>
          <p:nvPr/>
        </p:nvSpPr>
        <p:spPr>
          <a:xfrm>
            <a:off x="2032000" y="5317109"/>
            <a:ext cx="8466709" cy="440309"/>
          </a:xfrm>
          <a:prstGeom prst="rect">
            <a:avLst/>
          </a:prstGeom>
          <a:noFill/>
          <a:ln/>
        </p:spPr>
      </p:sp>
      <p:sp>
        <p:nvSpPr>
          <p:cNvPr id="33" name="Text 30"/>
          <p:cNvSpPr/>
          <p:nvPr/>
        </p:nvSpPr>
        <p:spPr>
          <a:xfrm>
            <a:off x="1910080" y="5256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项目成本管理</a:t>
            </a:r>
            <a:endParaRPr lang="en-US" sz="2400" dirty="0"/>
          </a:p>
        </p:txBody>
      </p:sp>
      <p:sp>
        <p:nvSpPr>
          <p:cNvPr id="34" name="Shape 31"/>
          <p:cNvSpPr/>
          <p:nvPr/>
        </p:nvSpPr>
        <p:spPr>
          <a:xfrm>
            <a:off x="2032000" y="5791200"/>
            <a:ext cx="8466709" cy="338709"/>
          </a:xfrm>
          <a:prstGeom prst="rect">
            <a:avLst/>
          </a:prstGeom>
          <a:noFill/>
          <a:ln/>
        </p:spPr>
      </p:sp>
      <p:sp>
        <p:nvSpPr>
          <p:cNvPr id="35" name="Text 32"/>
          <p:cNvSpPr/>
          <p:nvPr/>
        </p:nvSpPr>
        <p:spPr>
          <a:xfrm>
            <a:off x="1910080" y="5730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Cost Management</a:t>
            </a:r>
            <a:endParaRPr lang="en-US" sz="1600" dirty="0"/>
          </a:p>
        </p:txBody>
      </p:sp>
      <p:sp>
        <p:nvSpPr>
          <p:cNvPr id="36" name="Shape 33"/>
          <p:cNvSpPr/>
          <p:nvPr/>
        </p:nvSpPr>
        <p:spPr>
          <a:xfrm>
            <a:off x="1016000" y="6197600"/>
            <a:ext cx="19642709" cy="16891"/>
          </a:xfrm>
          <a:prstGeom prst="rect">
            <a:avLst/>
          </a:prstGeom>
          <a:solidFill>
            <a:srgbClr val="E0E0E0"/>
          </a:solidFill>
          <a:ln/>
        </p:spPr>
      </p:sp>
      <p:sp>
        <p:nvSpPr>
          <p:cNvPr id="37" name="Shape 34"/>
          <p:cNvSpPr/>
          <p:nvPr/>
        </p:nvSpPr>
        <p:spPr>
          <a:xfrm>
            <a:off x="1016000" y="6333109"/>
            <a:ext cx="931291" cy="677291"/>
          </a:xfrm>
          <a:prstGeom prst="rect">
            <a:avLst/>
          </a:prstGeom>
          <a:noFill/>
          <a:ln/>
        </p:spPr>
      </p:sp>
      <p:sp>
        <p:nvSpPr>
          <p:cNvPr id="38" name="Text 35"/>
          <p:cNvSpPr/>
          <p:nvPr/>
        </p:nvSpPr>
        <p:spPr>
          <a:xfrm>
            <a:off x="894080" y="6272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05</a:t>
            </a:r>
            <a:endParaRPr lang="en-US" sz="3200" dirty="0"/>
          </a:p>
        </p:txBody>
      </p:sp>
      <p:sp>
        <p:nvSpPr>
          <p:cNvPr id="39" name="Shape 36"/>
          <p:cNvSpPr/>
          <p:nvPr/>
        </p:nvSpPr>
        <p:spPr>
          <a:xfrm>
            <a:off x="2032000" y="6333109"/>
            <a:ext cx="8466709" cy="440309"/>
          </a:xfrm>
          <a:prstGeom prst="rect">
            <a:avLst/>
          </a:prstGeom>
          <a:noFill/>
          <a:ln/>
        </p:spPr>
      </p:sp>
      <p:sp>
        <p:nvSpPr>
          <p:cNvPr id="40" name="Text 37"/>
          <p:cNvSpPr/>
          <p:nvPr/>
        </p:nvSpPr>
        <p:spPr>
          <a:xfrm>
            <a:off x="1910080" y="6272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项目质量管理</a:t>
            </a:r>
            <a:endParaRPr lang="en-US" sz="2400" dirty="0"/>
          </a:p>
        </p:txBody>
      </p:sp>
      <p:sp>
        <p:nvSpPr>
          <p:cNvPr id="41" name="Shape 38"/>
          <p:cNvSpPr/>
          <p:nvPr/>
        </p:nvSpPr>
        <p:spPr>
          <a:xfrm>
            <a:off x="2032000" y="6807200"/>
            <a:ext cx="8466709" cy="338709"/>
          </a:xfrm>
          <a:prstGeom prst="rect">
            <a:avLst/>
          </a:prstGeom>
          <a:noFill/>
          <a:ln/>
        </p:spPr>
      </p:sp>
      <p:sp>
        <p:nvSpPr>
          <p:cNvPr id="42" name="Text 39"/>
          <p:cNvSpPr/>
          <p:nvPr/>
        </p:nvSpPr>
        <p:spPr>
          <a:xfrm>
            <a:off x="1910080" y="6746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Quality Management</a:t>
            </a:r>
            <a:endParaRPr lang="en-US" sz="1600" dirty="0"/>
          </a:p>
        </p:txBody>
      </p:sp>
      <p:sp>
        <p:nvSpPr>
          <p:cNvPr id="43" name="Shape 40"/>
          <p:cNvSpPr/>
          <p:nvPr/>
        </p:nvSpPr>
        <p:spPr>
          <a:xfrm>
            <a:off x="1016000" y="7213600"/>
            <a:ext cx="19642709" cy="16891"/>
          </a:xfrm>
          <a:prstGeom prst="rect">
            <a:avLst/>
          </a:prstGeom>
          <a:solidFill>
            <a:srgbClr val="E0E0E0"/>
          </a:solidFill>
          <a:ln/>
        </p:spPr>
      </p:sp>
      <p:sp>
        <p:nvSpPr>
          <p:cNvPr id="44" name="Shape 41"/>
          <p:cNvSpPr/>
          <p:nvPr/>
        </p:nvSpPr>
        <p:spPr>
          <a:xfrm>
            <a:off x="1016000" y="7349109"/>
            <a:ext cx="931291" cy="677291"/>
          </a:xfrm>
          <a:prstGeom prst="rect">
            <a:avLst/>
          </a:prstGeom>
          <a:noFill/>
          <a:ln/>
        </p:spPr>
      </p:sp>
      <p:sp>
        <p:nvSpPr>
          <p:cNvPr id="45" name="Text 42"/>
          <p:cNvSpPr/>
          <p:nvPr/>
        </p:nvSpPr>
        <p:spPr>
          <a:xfrm>
            <a:off x="894080" y="7288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06</a:t>
            </a:r>
            <a:endParaRPr lang="en-US" sz="3200" dirty="0"/>
          </a:p>
        </p:txBody>
      </p:sp>
      <p:sp>
        <p:nvSpPr>
          <p:cNvPr id="46" name="Shape 43"/>
          <p:cNvSpPr/>
          <p:nvPr/>
        </p:nvSpPr>
        <p:spPr>
          <a:xfrm>
            <a:off x="2032000" y="7349109"/>
            <a:ext cx="8466709" cy="440309"/>
          </a:xfrm>
          <a:prstGeom prst="rect">
            <a:avLst/>
          </a:prstGeom>
          <a:noFill/>
          <a:ln/>
        </p:spPr>
      </p:sp>
      <p:sp>
        <p:nvSpPr>
          <p:cNvPr id="47" name="Text 44"/>
          <p:cNvSpPr/>
          <p:nvPr/>
        </p:nvSpPr>
        <p:spPr>
          <a:xfrm>
            <a:off x="1910080" y="7288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项目人力资源管理</a:t>
            </a:r>
            <a:endParaRPr lang="en-US" sz="2400" dirty="0"/>
          </a:p>
        </p:txBody>
      </p:sp>
      <p:sp>
        <p:nvSpPr>
          <p:cNvPr id="48" name="Shape 45"/>
          <p:cNvSpPr/>
          <p:nvPr/>
        </p:nvSpPr>
        <p:spPr>
          <a:xfrm>
            <a:off x="2032000" y="7823200"/>
            <a:ext cx="8466709" cy="338709"/>
          </a:xfrm>
          <a:prstGeom prst="rect">
            <a:avLst/>
          </a:prstGeom>
          <a:noFill/>
          <a:ln/>
        </p:spPr>
      </p:sp>
      <p:sp>
        <p:nvSpPr>
          <p:cNvPr id="49" name="Text 46"/>
          <p:cNvSpPr/>
          <p:nvPr/>
        </p:nvSpPr>
        <p:spPr>
          <a:xfrm>
            <a:off x="1910080" y="7762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Human Resource Management</a:t>
            </a:r>
            <a:endParaRPr lang="en-US" sz="1600" dirty="0"/>
          </a:p>
        </p:txBody>
      </p:sp>
      <p:sp>
        <p:nvSpPr>
          <p:cNvPr id="50" name="Shape 47"/>
          <p:cNvSpPr/>
          <p:nvPr/>
        </p:nvSpPr>
        <p:spPr>
          <a:xfrm>
            <a:off x="1016000" y="8229600"/>
            <a:ext cx="19642709" cy="16891"/>
          </a:xfrm>
          <a:prstGeom prst="rect">
            <a:avLst/>
          </a:prstGeom>
          <a:solidFill>
            <a:srgbClr val="E0E0E0"/>
          </a:solidFill>
          <a:ln/>
        </p:spPr>
      </p:sp>
      <p:sp>
        <p:nvSpPr>
          <p:cNvPr id="51" name="Shape 48"/>
          <p:cNvSpPr/>
          <p:nvPr/>
        </p:nvSpPr>
        <p:spPr>
          <a:xfrm>
            <a:off x="1016000" y="8365109"/>
            <a:ext cx="931291" cy="677291"/>
          </a:xfrm>
          <a:prstGeom prst="rect">
            <a:avLst/>
          </a:prstGeom>
          <a:noFill/>
          <a:ln/>
        </p:spPr>
      </p:sp>
      <p:sp>
        <p:nvSpPr>
          <p:cNvPr id="52" name="Text 49"/>
          <p:cNvSpPr/>
          <p:nvPr/>
        </p:nvSpPr>
        <p:spPr>
          <a:xfrm>
            <a:off x="894080" y="8304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07</a:t>
            </a:r>
            <a:endParaRPr lang="en-US" sz="3200" dirty="0"/>
          </a:p>
        </p:txBody>
      </p:sp>
      <p:sp>
        <p:nvSpPr>
          <p:cNvPr id="53" name="Shape 50"/>
          <p:cNvSpPr/>
          <p:nvPr/>
        </p:nvSpPr>
        <p:spPr>
          <a:xfrm>
            <a:off x="2032000" y="8365109"/>
            <a:ext cx="8466709" cy="440309"/>
          </a:xfrm>
          <a:prstGeom prst="rect">
            <a:avLst/>
          </a:prstGeom>
          <a:noFill/>
          <a:ln/>
        </p:spPr>
      </p:sp>
      <p:sp>
        <p:nvSpPr>
          <p:cNvPr id="54" name="Text 51"/>
          <p:cNvSpPr/>
          <p:nvPr/>
        </p:nvSpPr>
        <p:spPr>
          <a:xfrm>
            <a:off x="1910080" y="8304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项目沟通管理</a:t>
            </a:r>
            <a:endParaRPr lang="en-US" sz="2400" dirty="0"/>
          </a:p>
        </p:txBody>
      </p:sp>
      <p:sp>
        <p:nvSpPr>
          <p:cNvPr id="55" name="Shape 52"/>
          <p:cNvSpPr/>
          <p:nvPr/>
        </p:nvSpPr>
        <p:spPr>
          <a:xfrm>
            <a:off x="2032000" y="8839200"/>
            <a:ext cx="8466709" cy="338709"/>
          </a:xfrm>
          <a:prstGeom prst="rect">
            <a:avLst/>
          </a:prstGeom>
          <a:noFill/>
          <a:ln/>
        </p:spPr>
      </p:sp>
      <p:sp>
        <p:nvSpPr>
          <p:cNvPr id="56" name="Text 53"/>
          <p:cNvSpPr/>
          <p:nvPr/>
        </p:nvSpPr>
        <p:spPr>
          <a:xfrm>
            <a:off x="1910080" y="8778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Communications Management</a:t>
            </a:r>
            <a:endParaRPr lang="en-US" sz="1600" dirty="0"/>
          </a:p>
        </p:txBody>
      </p:sp>
      <p:sp>
        <p:nvSpPr>
          <p:cNvPr id="57" name="Shape 54"/>
          <p:cNvSpPr/>
          <p:nvPr/>
        </p:nvSpPr>
        <p:spPr>
          <a:xfrm>
            <a:off x="1016000" y="9245600"/>
            <a:ext cx="19642709" cy="16891"/>
          </a:xfrm>
          <a:prstGeom prst="rect">
            <a:avLst/>
          </a:prstGeom>
          <a:solidFill>
            <a:srgbClr val="E0E0E0"/>
          </a:solidFill>
          <a:ln/>
        </p:spPr>
      </p:sp>
      <p:sp>
        <p:nvSpPr>
          <p:cNvPr id="58" name="Shape 55"/>
          <p:cNvSpPr/>
          <p:nvPr/>
        </p:nvSpPr>
        <p:spPr>
          <a:xfrm>
            <a:off x="1016000" y="9381109"/>
            <a:ext cx="931291" cy="677291"/>
          </a:xfrm>
          <a:prstGeom prst="rect">
            <a:avLst/>
          </a:prstGeom>
          <a:noFill/>
          <a:ln/>
        </p:spPr>
      </p:sp>
      <p:sp>
        <p:nvSpPr>
          <p:cNvPr id="59" name="Text 56"/>
          <p:cNvSpPr/>
          <p:nvPr/>
        </p:nvSpPr>
        <p:spPr>
          <a:xfrm>
            <a:off x="894080" y="9320149"/>
            <a:ext cx="1175131" cy="799211"/>
          </a:xfrm>
          <a:prstGeom prst="rect">
            <a:avLst/>
          </a:prstGeom>
          <a:noFill/>
          <a:ln/>
        </p:spPr>
        <p:txBody>
          <a:bodyPr wrap="none" lIns="0" tIns="0" rIns="0" bIns="0" rtlCol="0" anchor="ctr"/>
          <a:lstStyle/>
          <a:p>
            <a:pPr algn="l">
              <a:lnSpc>
                <a:spcPct val="120000"/>
              </a:lnSpc>
            </a:pPr>
            <a:r>
              <a:rPr lang="en-US" sz="3200" dirty="0">
                <a:solidFill>
                  <a:srgbClr val="5B9BD5"/>
                </a:solidFill>
                <a:latin typeface="Quattrocento Sans" pitchFamily="34" charset="0"/>
                <a:ea typeface="Quattrocento Sans" pitchFamily="34" charset="-122"/>
                <a:cs typeface="Quattrocento Sans" pitchFamily="34" charset="-120"/>
              </a:rPr>
              <a:t>08</a:t>
            </a:r>
            <a:endParaRPr lang="en-US" sz="3200" dirty="0"/>
          </a:p>
        </p:txBody>
      </p:sp>
      <p:sp>
        <p:nvSpPr>
          <p:cNvPr id="60" name="Shape 57"/>
          <p:cNvSpPr/>
          <p:nvPr/>
        </p:nvSpPr>
        <p:spPr>
          <a:xfrm>
            <a:off x="2032000" y="9381109"/>
            <a:ext cx="8466709" cy="440309"/>
          </a:xfrm>
          <a:prstGeom prst="rect">
            <a:avLst/>
          </a:prstGeom>
          <a:noFill/>
          <a:ln/>
        </p:spPr>
      </p:sp>
      <p:sp>
        <p:nvSpPr>
          <p:cNvPr id="61" name="Text 58"/>
          <p:cNvSpPr/>
          <p:nvPr/>
        </p:nvSpPr>
        <p:spPr>
          <a:xfrm>
            <a:off x="1910080" y="9320149"/>
            <a:ext cx="8710549" cy="562229"/>
          </a:xfrm>
          <a:prstGeom prst="rect">
            <a:avLst/>
          </a:prstGeom>
          <a:noFill/>
          <a:ln/>
        </p:spPr>
        <p:txBody>
          <a:bodyPr wrap="none" lIns="0" tIns="0" rIns="0" bIns="0" rtlCol="0" anchor="ctr"/>
          <a:lstStyle/>
          <a:p>
            <a:pPr algn="l">
              <a:lnSpc>
                <a:spcPct val="120000"/>
              </a:lnSpc>
            </a:pPr>
            <a:r>
              <a:rPr lang="en-US" sz="2400" b="1" dirty="0">
                <a:solidFill>
                  <a:srgbClr val="2C2C2C"/>
                </a:solidFill>
                <a:latin typeface="Quattrocento Sans" pitchFamily="34" charset="0"/>
                <a:ea typeface="Quattrocento Sans" pitchFamily="34" charset="-122"/>
                <a:cs typeface="Quattrocento Sans" pitchFamily="34" charset="-120"/>
              </a:rPr>
              <a:t>项目风险管理</a:t>
            </a:r>
            <a:endParaRPr lang="en-US" sz="2400" dirty="0"/>
          </a:p>
        </p:txBody>
      </p:sp>
      <p:sp>
        <p:nvSpPr>
          <p:cNvPr id="62" name="Shape 59"/>
          <p:cNvSpPr/>
          <p:nvPr/>
        </p:nvSpPr>
        <p:spPr>
          <a:xfrm>
            <a:off x="2032000" y="9855200"/>
            <a:ext cx="8466709" cy="338709"/>
          </a:xfrm>
          <a:prstGeom prst="rect">
            <a:avLst/>
          </a:prstGeom>
          <a:noFill/>
          <a:ln/>
        </p:spPr>
      </p:sp>
      <p:sp>
        <p:nvSpPr>
          <p:cNvPr id="63" name="Text 60"/>
          <p:cNvSpPr/>
          <p:nvPr/>
        </p:nvSpPr>
        <p:spPr>
          <a:xfrm>
            <a:off x="1910080" y="9794240"/>
            <a:ext cx="8710549" cy="460629"/>
          </a:xfrm>
          <a:prstGeom prst="rect">
            <a:avLst/>
          </a:prstGeom>
          <a:noFill/>
          <a:ln/>
        </p:spPr>
        <p:txBody>
          <a:bodyPr wrap="none" lIns="0" tIns="0" rIns="0" bIns="0" rtlCol="0" anchor="t"/>
          <a:lstStyle/>
          <a:p>
            <a:pPr algn="l">
              <a:lnSpc>
                <a:spcPct val="120000"/>
              </a:lnSpc>
            </a:pPr>
            <a:r>
              <a:rPr lang="en-US" sz="1600" dirty="0">
                <a:solidFill>
                  <a:srgbClr val="AAAAAA"/>
                </a:solidFill>
                <a:latin typeface="Quattrocento Sans" pitchFamily="34" charset="0"/>
                <a:ea typeface="Quattrocento Sans" pitchFamily="34" charset="-122"/>
                <a:cs typeface="Quattrocento Sans" pitchFamily="34" charset="-120"/>
              </a:rPr>
              <a:t>Project Risk Management</a:t>
            </a:r>
            <a:endParaRPr lang="en-US" sz="1600" dirty="0"/>
          </a:p>
        </p:txBody>
      </p:sp>
      <p:sp>
        <p:nvSpPr>
          <p:cNvPr id="64" name="Shape 61"/>
          <p:cNvSpPr/>
          <p:nvPr/>
        </p:nvSpPr>
        <p:spPr>
          <a:xfrm>
            <a:off x="1016000" y="10261600"/>
            <a:ext cx="19642709" cy="16891"/>
          </a:xfrm>
          <a:prstGeom prst="rect">
            <a:avLst/>
          </a:prstGeom>
          <a:solidFill>
            <a:srgbClr val="E0E0E0"/>
          </a:solidFill>
          <a:ln/>
        </p:spPr>
      </p:sp>
      <p:sp>
        <p:nvSpPr>
          <p:cNvPr id="65" name="Shape 62"/>
          <p:cNvSpPr/>
          <p:nvPr/>
        </p:nvSpPr>
        <p:spPr>
          <a:xfrm>
            <a:off x="20320000" y="11514709"/>
            <a:ext cx="846709" cy="406400"/>
          </a:xfrm>
          <a:prstGeom prst="rect">
            <a:avLst/>
          </a:prstGeom>
          <a:noFill/>
          <a:ln/>
        </p:spPr>
      </p:sp>
      <p:sp>
        <p:nvSpPr>
          <p:cNvPr id="66" name="Text 63"/>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a:t>
            </a:r>
            <a:endParaRPr lang="en-US" sz="187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01</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ONE</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项目整体管理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Integration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1.1　项目基本概念</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1.2　项目管理计划</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3</a:t>
            </a:r>
            <a:endParaRPr lang="en-US" sz="187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01 项目整体管理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项目基本概念</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388491"/>
            <a:ext cx="9821291" cy="3149600"/>
          </a:xfrm>
          <a:prstGeom prst="roundRect">
            <a:avLst>
              <a:gd name="adj" fmla="val 4000"/>
            </a:avLst>
          </a:prstGeom>
          <a:solidFill>
            <a:srgbClr val="F5F5F5"/>
          </a:solidFill>
          <a:ln/>
        </p:spPr>
      </p:sp>
      <p:sp>
        <p:nvSpPr>
          <p:cNvPr id="11" name="Shape 8"/>
          <p:cNvSpPr/>
          <p:nvPr/>
        </p:nvSpPr>
        <p:spPr>
          <a:xfrm>
            <a:off x="677291" y="1388491"/>
            <a:ext cx="1693291" cy="474091"/>
          </a:xfrm>
          <a:prstGeom prst="rect">
            <a:avLst/>
          </a:prstGeom>
          <a:solidFill>
            <a:srgbClr val="1A4A7A"/>
          </a:solidFill>
          <a:ln/>
        </p:spPr>
      </p:sp>
      <p:sp>
        <p:nvSpPr>
          <p:cNvPr id="12" name="Shape 9"/>
          <p:cNvSpPr/>
          <p:nvPr/>
        </p:nvSpPr>
        <p:spPr>
          <a:xfrm>
            <a:off x="677291" y="1388491"/>
            <a:ext cx="1693291" cy="474091"/>
          </a:xfrm>
          <a:prstGeom prst="rect">
            <a:avLst/>
          </a:prstGeom>
          <a:noFill/>
          <a:ln/>
        </p:spPr>
      </p:sp>
      <p:sp>
        <p:nvSpPr>
          <p:cNvPr id="13" name="Text 10"/>
          <p:cNvSpPr/>
          <p:nvPr/>
        </p:nvSpPr>
        <p:spPr>
          <a:xfrm>
            <a:off x="555371" y="1327531"/>
            <a:ext cx="1937131" cy="596011"/>
          </a:xfrm>
          <a:prstGeom prst="rect">
            <a:avLst/>
          </a:prstGeom>
          <a:noFill/>
          <a:ln/>
        </p:spPr>
        <p:txBody>
          <a:bodyPr wrap="none" lIns="0" tIns="0" rIns="0" bIns="0" rtlCol="0" anchor="ctr"/>
          <a:lstStyle/>
          <a:p>
            <a:pPr algn="ctr">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核心概念</a:t>
            </a:r>
            <a:endParaRPr lang="en-US" sz="1600" dirty="0"/>
          </a:p>
        </p:txBody>
      </p:sp>
      <p:sp>
        <p:nvSpPr>
          <p:cNvPr id="14" name="Shape 11"/>
          <p:cNvSpPr/>
          <p:nvPr/>
        </p:nvSpPr>
        <p:spPr>
          <a:xfrm>
            <a:off x="948309" y="2032000"/>
            <a:ext cx="9279509" cy="440309"/>
          </a:xfrm>
          <a:prstGeom prst="rect">
            <a:avLst/>
          </a:prstGeom>
          <a:noFill/>
          <a:ln/>
        </p:spPr>
      </p:sp>
      <p:sp>
        <p:nvSpPr>
          <p:cNvPr id="15" name="Text 12"/>
          <p:cNvSpPr/>
          <p:nvPr/>
        </p:nvSpPr>
        <p:spPr>
          <a:xfrm>
            <a:off x="826389" y="1971040"/>
            <a:ext cx="9523349"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项目与运作的区别</a:t>
            </a:r>
            <a:endParaRPr lang="en-US" sz="2400" dirty="0"/>
          </a:p>
        </p:txBody>
      </p:sp>
      <p:sp>
        <p:nvSpPr>
          <p:cNvPr id="16" name="Shape 13"/>
          <p:cNvSpPr/>
          <p:nvPr/>
        </p:nvSpPr>
        <p:spPr>
          <a:xfrm>
            <a:off x="948309" y="2573909"/>
            <a:ext cx="9279509" cy="1693291"/>
          </a:xfrm>
          <a:prstGeom prst="rect">
            <a:avLst/>
          </a:prstGeom>
          <a:noFill/>
          <a:ln/>
        </p:spPr>
      </p:sp>
      <p:sp>
        <p:nvSpPr>
          <p:cNvPr id="17" name="Text 14"/>
          <p:cNvSpPr/>
          <p:nvPr/>
        </p:nvSpPr>
        <p:spPr>
          <a:xfrm>
            <a:off x="826389" y="2512949"/>
            <a:ext cx="9523349" cy="1815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项目是</a:t>
            </a:r>
            <a:r>
              <a:rPr lang="en-US" sz="2000" b="1" dirty="0">
                <a:solidFill>
                  <a:srgbClr val="2C2C2C"/>
                </a:solidFill>
                <a:latin typeface="Quattrocento Sans" pitchFamily="34" charset="0"/>
                <a:ea typeface="Quattrocento Sans" pitchFamily="34" charset="-122"/>
                <a:cs typeface="Quattrocento Sans" pitchFamily="34" charset="-120"/>
              </a:rPr>
              <a:t>暂时性、独特性</a:t>
            </a:r>
            <a:r>
              <a:rPr lang="en-US" sz="2000" dirty="0">
                <a:solidFill>
                  <a:srgbClr val="2C2C2C"/>
                </a:solidFill>
                <a:latin typeface="Quattrocento Sans" pitchFamily="34" charset="0"/>
                <a:ea typeface="Quattrocento Sans" pitchFamily="34" charset="-122"/>
                <a:cs typeface="Quattrocento Sans" pitchFamily="34" charset="-120"/>
              </a:rPr>
              <a:t>的，旨在实现特定目标后结束；日常运作是</a:t>
            </a:r>
            <a:r>
              <a:rPr lang="en-US" sz="2000" b="1" dirty="0">
                <a:solidFill>
                  <a:srgbClr val="2C2C2C"/>
                </a:solidFill>
                <a:latin typeface="Quattrocento Sans" pitchFamily="34" charset="0"/>
                <a:ea typeface="Quattrocento Sans" pitchFamily="34" charset="-122"/>
                <a:cs typeface="Quattrocento Sans" pitchFamily="34" charset="-120"/>
              </a:rPr>
              <a:t>重复性、持续性</a:t>
            </a:r>
            <a:r>
              <a:rPr lang="en-US" sz="2000" dirty="0">
                <a:solidFill>
                  <a:srgbClr val="2C2C2C"/>
                </a:solidFill>
                <a:latin typeface="Quattrocento Sans" pitchFamily="34" charset="0"/>
                <a:ea typeface="Quattrocento Sans" pitchFamily="34" charset="-122"/>
                <a:cs typeface="Quattrocento Sans" pitchFamily="34" charset="-120"/>
              </a:rPr>
              <a:t>的，以维持组织正常运营。两者都由人实施，受有限资源制约。</a:t>
            </a:r>
            <a:endParaRPr lang="en-US" sz="2000" dirty="0"/>
          </a:p>
        </p:txBody>
      </p:sp>
      <p:sp>
        <p:nvSpPr>
          <p:cNvPr id="18" name="Shape 15"/>
          <p:cNvSpPr/>
          <p:nvPr/>
        </p:nvSpPr>
        <p:spPr>
          <a:xfrm>
            <a:off x="11176000" y="1388491"/>
            <a:ext cx="9821291" cy="3149600"/>
          </a:xfrm>
          <a:prstGeom prst="roundRect">
            <a:avLst>
              <a:gd name="adj" fmla="val 4000"/>
            </a:avLst>
          </a:prstGeom>
          <a:solidFill>
            <a:srgbClr val="F5F5F5"/>
          </a:solidFill>
          <a:ln/>
        </p:spPr>
      </p:sp>
      <p:sp>
        <p:nvSpPr>
          <p:cNvPr id="19" name="Shape 16"/>
          <p:cNvSpPr/>
          <p:nvPr/>
        </p:nvSpPr>
        <p:spPr>
          <a:xfrm>
            <a:off x="11176000" y="1388491"/>
            <a:ext cx="1693291" cy="474091"/>
          </a:xfrm>
          <a:prstGeom prst="rect">
            <a:avLst/>
          </a:prstGeom>
          <a:solidFill>
            <a:srgbClr val="5B9BD5"/>
          </a:solidFill>
          <a:ln/>
        </p:spPr>
      </p:sp>
      <p:sp>
        <p:nvSpPr>
          <p:cNvPr id="20" name="Shape 17"/>
          <p:cNvSpPr/>
          <p:nvPr/>
        </p:nvSpPr>
        <p:spPr>
          <a:xfrm>
            <a:off x="11176000" y="1388491"/>
            <a:ext cx="1693291" cy="474091"/>
          </a:xfrm>
          <a:prstGeom prst="rect">
            <a:avLst/>
          </a:prstGeom>
          <a:noFill/>
          <a:ln/>
        </p:spPr>
      </p:sp>
      <p:sp>
        <p:nvSpPr>
          <p:cNvPr id="21" name="Text 18"/>
          <p:cNvSpPr/>
          <p:nvPr/>
        </p:nvSpPr>
        <p:spPr>
          <a:xfrm>
            <a:off x="11054080" y="1327531"/>
            <a:ext cx="1937131" cy="596011"/>
          </a:xfrm>
          <a:prstGeom prst="rect">
            <a:avLst/>
          </a:prstGeom>
          <a:noFill/>
          <a:ln/>
        </p:spPr>
        <p:txBody>
          <a:bodyPr wrap="none" lIns="0" tIns="0" rIns="0" bIns="0" rtlCol="0" anchor="ctr"/>
          <a:lstStyle/>
          <a:p>
            <a:pPr algn="ctr">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铁三角</a:t>
            </a:r>
            <a:endParaRPr lang="en-US" sz="1600" dirty="0"/>
          </a:p>
        </p:txBody>
      </p:sp>
      <p:sp>
        <p:nvSpPr>
          <p:cNvPr id="22" name="Shape 19"/>
          <p:cNvSpPr/>
          <p:nvPr/>
        </p:nvSpPr>
        <p:spPr>
          <a:xfrm>
            <a:off x="11446891" y="2032000"/>
            <a:ext cx="9279509" cy="440309"/>
          </a:xfrm>
          <a:prstGeom prst="rect">
            <a:avLst/>
          </a:prstGeom>
          <a:noFill/>
          <a:ln/>
        </p:spPr>
      </p:sp>
      <p:sp>
        <p:nvSpPr>
          <p:cNvPr id="23" name="Text 20"/>
          <p:cNvSpPr/>
          <p:nvPr/>
        </p:nvSpPr>
        <p:spPr>
          <a:xfrm>
            <a:off x="11324971" y="1971040"/>
            <a:ext cx="9523349"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项目制约因素</a:t>
            </a:r>
            <a:endParaRPr lang="en-US" sz="2400" dirty="0"/>
          </a:p>
        </p:txBody>
      </p:sp>
      <p:sp>
        <p:nvSpPr>
          <p:cNvPr id="24" name="Shape 21"/>
          <p:cNvSpPr/>
          <p:nvPr/>
        </p:nvSpPr>
        <p:spPr>
          <a:xfrm>
            <a:off x="11446891" y="2573909"/>
            <a:ext cx="9279509" cy="1693291"/>
          </a:xfrm>
          <a:prstGeom prst="rect">
            <a:avLst/>
          </a:prstGeom>
          <a:noFill/>
          <a:ln/>
        </p:spPr>
      </p:sp>
      <p:sp>
        <p:nvSpPr>
          <p:cNvPr id="25" name="Text 22"/>
          <p:cNvSpPr/>
          <p:nvPr/>
        </p:nvSpPr>
        <p:spPr>
          <a:xfrm>
            <a:off x="11324971" y="2512949"/>
            <a:ext cx="9523349" cy="1815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项目质量受</a:t>
            </a:r>
            <a:r>
              <a:rPr lang="en-US" sz="2000" b="1" dirty="0">
                <a:solidFill>
                  <a:srgbClr val="2C2C2C"/>
                </a:solidFill>
                <a:latin typeface="Quattrocento Sans" pitchFamily="34" charset="0"/>
                <a:ea typeface="Quattrocento Sans" pitchFamily="34" charset="-122"/>
                <a:cs typeface="Quattrocento Sans" pitchFamily="34" charset="-120"/>
              </a:rPr>
              <a:t>时间、成本和范围</a:t>
            </a:r>
            <a:r>
              <a:rPr lang="en-US" sz="2000" dirty="0">
                <a:solidFill>
                  <a:srgbClr val="2C2C2C"/>
                </a:solidFill>
                <a:latin typeface="Quattrocento Sans" pitchFamily="34" charset="0"/>
                <a:ea typeface="Quattrocento Sans" pitchFamily="34" charset="-122"/>
                <a:cs typeface="Quattrocento Sans" pitchFamily="34" charset="-120"/>
              </a:rPr>
              <a:t>三个约束的影响。时间是项目进度安排，成本是预算限制，范围是项目工作边界。三者相互制约，需平衡协调以确保项目成功。</a:t>
            </a:r>
            <a:endParaRPr lang="en-US" sz="2000" dirty="0"/>
          </a:p>
        </p:txBody>
      </p:sp>
      <p:sp>
        <p:nvSpPr>
          <p:cNvPr id="26" name="Shape 23"/>
          <p:cNvSpPr/>
          <p:nvPr/>
        </p:nvSpPr>
        <p:spPr>
          <a:xfrm>
            <a:off x="677291" y="4842891"/>
            <a:ext cx="9821291" cy="3149600"/>
          </a:xfrm>
          <a:prstGeom prst="roundRect">
            <a:avLst>
              <a:gd name="adj" fmla="val 4000"/>
            </a:avLst>
          </a:prstGeom>
          <a:solidFill>
            <a:srgbClr val="F5F5F5"/>
          </a:solidFill>
          <a:ln/>
        </p:spPr>
      </p:sp>
      <p:sp>
        <p:nvSpPr>
          <p:cNvPr id="27" name="Shape 24"/>
          <p:cNvSpPr/>
          <p:nvPr/>
        </p:nvSpPr>
        <p:spPr>
          <a:xfrm>
            <a:off x="677291" y="4842891"/>
            <a:ext cx="1693291" cy="474091"/>
          </a:xfrm>
          <a:prstGeom prst="rect">
            <a:avLst/>
          </a:prstGeom>
          <a:solidFill>
            <a:srgbClr val="2E86C1"/>
          </a:solidFill>
          <a:ln/>
        </p:spPr>
      </p:sp>
      <p:sp>
        <p:nvSpPr>
          <p:cNvPr id="28" name="Shape 25"/>
          <p:cNvSpPr/>
          <p:nvPr/>
        </p:nvSpPr>
        <p:spPr>
          <a:xfrm>
            <a:off x="677291" y="4842891"/>
            <a:ext cx="1693291" cy="474091"/>
          </a:xfrm>
          <a:prstGeom prst="rect">
            <a:avLst/>
          </a:prstGeom>
          <a:noFill/>
          <a:ln/>
        </p:spPr>
      </p:sp>
      <p:sp>
        <p:nvSpPr>
          <p:cNvPr id="29" name="Text 26"/>
          <p:cNvSpPr/>
          <p:nvPr/>
        </p:nvSpPr>
        <p:spPr>
          <a:xfrm>
            <a:off x="555371" y="4781931"/>
            <a:ext cx="1937131" cy="596011"/>
          </a:xfrm>
          <a:prstGeom prst="rect">
            <a:avLst/>
          </a:prstGeom>
          <a:noFill/>
          <a:ln/>
        </p:spPr>
        <p:txBody>
          <a:bodyPr wrap="none" lIns="0" tIns="0" rIns="0" bIns="0" rtlCol="0" anchor="ctr"/>
          <a:lstStyle/>
          <a:p>
            <a:pPr algn="ctr">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成功标准</a:t>
            </a:r>
            <a:endParaRPr lang="en-US" sz="1600" dirty="0"/>
          </a:p>
        </p:txBody>
      </p:sp>
      <p:sp>
        <p:nvSpPr>
          <p:cNvPr id="30" name="Shape 27"/>
          <p:cNvSpPr/>
          <p:nvPr/>
        </p:nvSpPr>
        <p:spPr>
          <a:xfrm>
            <a:off x="948309" y="5486400"/>
            <a:ext cx="9279509" cy="440309"/>
          </a:xfrm>
          <a:prstGeom prst="rect">
            <a:avLst/>
          </a:prstGeom>
          <a:noFill/>
          <a:ln/>
        </p:spPr>
      </p:sp>
      <p:sp>
        <p:nvSpPr>
          <p:cNvPr id="31" name="Text 28"/>
          <p:cNvSpPr/>
          <p:nvPr/>
        </p:nvSpPr>
        <p:spPr>
          <a:xfrm>
            <a:off x="826389" y="5425440"/>
            <a:ext cx="9523349"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项目成功要素</a:t>
            </a:r>
            <a:endParaRPr lang="en-US" sz="2400" dirty="0"/>
          </a:p>
        </p:txBody>
      </p:sp>
      <p:sp>
        <p:nvSpPr>
          <p:cNvPr id="32" name="Shape 29"/>
          <p:cNvSpPr/>
          <p:nvPr/>
        </p:nvSpPr>
        <p:spPr>
          <a:xfrm>
            <a:off x="948309" y="6028309"/>
            <a:ext cx="9279509" cy="1693291"/>
          </a:xfrm>
          <a:prstGeom prst="rect">
            <a:avLst/>
          </a:prstGeom>
          <a:noFill/>
          <a:ln/>
        </p:spPr>
      </p:sp>
      <p:sp>
        <p:nvSpPr>
          <p:cNvPr id="33" name="Text 30"/>
          <p:cNvSpPr/>
          <p:nvPr/>
        </p:nvSpPr>
        <p:spPr>
          <a:xfrm>
            <a:off x="826389" y="5967349"/>
            <a:ext cx="9523349" cy="1815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项目成功需</a:t>
            </a:r>
            <a:r>
              <a:rPr lang="en-US" sz="2000" b="1" dirty="0">
                <a:solidFill>
                  <a:srgbClr val="2C2C2C"/>
                </a:solidFill>
                <a:latin typeface="Quattrocento Sans" pitchFamily="34" charset="0"/>
                <a:ea typeface="Quattrocento Sans" pitchFamily="34" charset="-122"/>
                <a:cs typeface="Quattrocento Sans" pitchFamily="34" charset="-120"/>
              </a:rPr>
              <a:t>按时完成、预算内交付且质量符合预期</a:t>
            </a:r>
            <a:r>
              <a:rPr lang="en-US" sz="2000" dirty="0">
                <a:solidFill>
                  <a:srgbClr val="2C2C2C"/>
                </a:solidFill>
                <a:latin typeface="Quattrocento Sans" pitchFamily="34" charset="0"/>
                <a:ea typeface="Quattrocento Sans" pitchFamily="34" charset="-122"/>
                <a:cs typeface="Quattrocento Sans" pitchFamily="34" charset="-120"/>
              </a:rPr>
              <a:t>。项目经理需管理期望，实现"成本-时限-质量"平衡，在项目全周期内满足各方要求。</a:t>
            </a:r>
            <a:endParaRPr lang="en-US" sz="2000" dirty="0"/>
          </a:p>
        </p:txBody>
      </p:sp>
      <p:sp>
        <p:nvSpPr>
          <p:cNvPr id="34" name="Shape 31"/>
          <p:cNvSpPr/>
          <p:nvPr/>
        </p:nvSpPr>
        <p:spPr>
          <a:xfrm>
            <a:off x="11176000" y="4842891"/>
            <a:ext cx="9821291" cy="3149600"/>
          </a:xfrm>
          <a:prstGeom prst="roundRect">
            <a:avLst>
              <a:gd name="adj" fmla="val 4000"/>
            </a:avLst>
          </a:prstGeom>
          <a:solidFill>
            <a:srgbClr val="F5F5F5"/>
          </a:solidFill>
          <a:ln/>
        </p:spPr>
      </p:sp>
      <p:sp>
        <p:nvSpPr>
          <p:cNvPr id="35" name="Shape 32"/>
          <p:cNvSpPr/>
          <p:nvPr/>
        </p:nvSpPr>
        <p:spPr>
          <a:xfrm>
            <a:off x="11176000" y="4842891"/>
            <a:ext cx="1693291" cy="474091"/>
          </a:xfrm>
          <a:prstGeom prst="rect">
            <a:avLst/>
          </a:prstGeom>
          <a:solidFill>
            <a:srgbClr val="455A64"/>
          </a:solidFill>
          <a:ln/>
        </p:spPr>
      </p:sp>
      <p:sp>
        <p:nvSpPr>
          <p:cNvPr id="36" name="Shape 33"/>
          <p:cNvSpPr/>
          <p:nvPr/>
        </p:nvSpPr>
        <p:spPr>
          <a:xfrm>
            <a:off x="11176000" y="4842891"/>
            <a:ext cx="1693291" cy="474091"/>
          </a:xfrm>
          <a:prstGeom prst="rect">
            <a:avLst/>
          </a:prstGeom>
          <a:noFill/>
          <a:ln/>
        </p:spPr>
      </p:sp>
      <p:sp>
        <p:nvSpPr>
          <p:cNvPr id="37" name="Text 34"/>
          <p:cNvSpPr/>
          <p:nvPr/>
        </p:nvSpPr>
        <p:spPr>
          <a:xfrm>
            <a:off x="11054080" y="4781931"/>
            <a:ext cx="1937131" cy="596011"/>
          </a:xfrm>
          <a:prstGeom prst="rect">
            <a:avLst/>
          </a:prstGeom>
          <a:noFill/>
          <a:ln/>
        </p:spPr>
        <p:txBody>
          <a:bodyPr wrap="none" lIns="0" tIns="0" rIns="0" bIns="0" rtlCol="0" anchor="ctr"/>
          <a:lstStyle/>
          <a:p>
            <a:pPr algn="ctr">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生命周期</a:t>
            </a:r>
            <a:endParaRPr lang="en-US" sz="1600" dirty="0"/>
          </a:p>
        </p:txBody>
      </p:sp>
      <p:sp>
        <p:nvSpPr>
          <p:cNvPr id="38" name="Shape 35"/>
          <p:cNvSpPr/>
          <p:nvPr/>
        </p:nvSpPr>
        <p:spPr>
          <a:xfrm>
            <a:off x="11446891" y="5486400"/>
            <a:ext cx="9279509" cy="440309"/>
          </a:xfrm>
          <a:prstGeom prst="rect">
            <a:avLst/>
          </a:prstGeom>
          <a:noFill/>
          <a:ln/>
        </p:spPr>
      </p:sp>
      <p:sp>
        <p:nvSpPr>
          <p:cNvPr id="39" name="Text 36"/>
          <p:cNvSpPr/>
          <p:nvPr/>
        </p:nvSpPr>
        <p:spPr>
          <a:xfrm>
            <a:off x="11324971" y="5425440"/>
            <a:ext cx="9523349"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项目生命周期</a:t>
            </a:r>
            <a:endParaRPr lang="en-US" sz="2400" dirty="0"/>
          </a:p>
        </p:txBody>
      </p:sp>
      <p:sp>
        <p:nvSpPr>
          <p:cNvPr id="40" name="Shape 37"/>
          <p:cNvSpPr/>
          <p:nvPr/>
        </p:nvSpPr>
        <p:spPr>
          <a:xfrm>
            <a:off x="11446891" y="6028309"/>
            <a:ext cx="9279509" cy="1693291"/>
          </a:xfrm>
          <a:prstGeom prst="rect">
            <a:avLst/>
          </a:prstGeom>
          <a:noFill/>
          <a:ln/>
        </p:spPr>
      </p:sp>
      <p:sp>
        <p:nvSpPr>
          <p:cNvPr id="41" name="Text 38"/>
          <p:cNvSpPr/>
          <p:nvPr/>
        </p:nvSpPr>
        <p:spPr>
          <a:xfrm>
            <a:off x="11324971" y="5967349"/>
            <a:ext cx="9523349" cy="1815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包括</a:t>
            </a:r>
            <a:r>
              <a:rPr lang="en-US" sz="2000" b="1" dirty="0">
                <a:solidFill>
                  <a:srgbClr val="2C2C2C"/>
                </a:solidFill>
                <a:latin typeface="Quattrocento Sans" pitchFamily="34" charset="0"/>
                <a:ea typeface="Quattrocento Sans" pitchFamily="34" charset="-122"/>
                <a:cs typeface="Quattrocento Sans" pitchFamily="34" charset="-120"/>
              </a:rPr>
              <a:t>启动、计划、执行、控制和收尾</a:t>
            </a:r>
            <a:r>
              <a:rPr lang="en-US" sz="2000" dirty="0">
                <a:solidFill>
                  <a:srgbClr val="2C2C2C"/>
                </a:solidFill>
                <a:latin typeface="Quattrocento Sans" pitchFamily="34" charset="0"/>
                <a:ea typeface="Quattrocento Sans" pitchFamily="34" charset="-122"/>
                <a:cs typeface="Quattrocento Sans" pitchFamily="34" charset="-120"/>
              </a:rPr>
              <a:t>五个阶段。各阶段紧密衔接，从项目授权到最终验收，确保项目有序推进。</a:t>
            </a:r>
            <a:endParaRPr lang="en-US" sz="2000" dirty="0"/>
          </a:p>
        </p:txBody>
      </p:sp>
      <p:sp>
        <p:nvSpPr>
          <p:cNvPr id="42" name="Shape 39"/>
          <p:cNvSpPr/>
          <p:nvPr/>
        </p:nvSpPr>
        <p:spPr>
          <a:xfrm>
            <a:off x="677291" y="8297291"/>
            <a:ext cx="20320000" cy="2709291"/>
          </a:xfrm>
          <a:prstGeom prst="roundRect">
            <a:avLst>
              <a:gd name="adj" fmla="val 4000"/>
            </a:avLst>
          </a:prstGeom>
          <a:solidFill>
            <a:srgbClr val="E3F0FA"/>
          </a:solidFill>
          <a:ln/>
        </p:spPr>
      </p:sp>
      <p:sp>
        <p:nvSpPr>
          <p:cNvPr id="43" name="Shape 40"/>
          <p:cNvSpPr/>
          <p:nvPr/>
        </p:nvSpPr>
        <p:spPr>
          <a:xfrm>
            <a:off x="1016000" y="8500491"/>
            <a:ext cx="5080000" cy="440309"/>
          </a:xfrm>
          <a:prstGeom prst="rect">
            <a:avLst/>
          </a:prstGeom>
          <a:noFill/>
          <a:ln/>
        </p:spPr>
      </p:sp>
      <p:sp>
        <p:nvSpPr>
          <p:cNvPr id="44" name="Text 41"/>
          <p:cNvSpPr/>
          <p:nvPr/>
        </p:nvSpPr>
        <p:spPr>
          <a:xfrm>
            <a:off x="894080" y="8439531"/>
            <a:ext cx="5323840"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项目干系人</a:t>
            </a:r>
            <a:endParaRPr lang="en-US" sz="2400" dirty="0"/>
          </a:p>
        </p:txBody>
      </p:sp>
      <p:sp>
        <p:nvSpPr>
          <p:cNvPr id="45" name="Shape 42"/>
          <p:cNvSpPr/>
          <p:nvPr/>
        </p:nvSpPr>
        <p:spPr>
          <a:xfrm>
            <a:off x="1016000" y="9042400"/>
            <a:ext cx="19642709" cy="1693291"/>
          </a:xfrm>
          <a:prstGeom prst="rect">
            <a:avLst/>
          </a:prstGeom>
          <a:noFill/>
          <a:ln/>
        </p:spPr>
      </p:sp>
      <p:sp>
        <p:nvSpPr>
          <p:cNvPr id="46" name="Text 43"/>
          <p:cNvSpPr/>
          <p:nvPr/>
        </p:nvSpPr>
        <p:spPr>
          <a:xfrm>
            <a:off x="894080" y="8981440"/>
            <a:ext cx="19886549" cy="1815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主要干系人包括：</a:t>
            </a:r>
            <a:r>
              <a:rPr lang="en-US" sz="2000" b="1" dirty="0">
                <a:solidFill>
                  <a:srgbClr val="2C2C2C"/>
                </a:solidFill>
                <a:latin typeface="Quattrocento Sans" pitchFamily="34" charset="0"/>
                <a:ea typeface="Quattrocento Sans" pitchFamily="34" charset="-122"/>
                <a:cs typeface="Quattrocento Sans" pitchFamily="34" charset="-120"/>
              </a:rPr>
              <a:t>项目经理</a:t>
            </a:r>
            <a:r>
              <a:rPr lang="en-US" sz="2000" dirty="0">
                <a:solidFill>
                  <a:srgbClr val="2C2C2C"/>
                </a:solidFill>
                <a:latin typeface="Quattrocento Sans" pitchFamily="34" charset="0"/>
                <a:ea typeface="Quattrocento Sans" pitchFamily="34" charset="-122"/>
                <a:cs typeface="Quattrocento Sans" pitchFamily="34" charset="-120"/>
              </a:rPr>
              <a:t>（负责项目整体管理）、</a:t>
            </a:r>
            <a:r>
              <a:rPr lang="en-US" sz="2000" b="1" dirty="0">
                <a:solidFill>
                  <a:srgbClr val="2C2C2C"/>
                </a:solidFill>
                <a:latin typeface="Quattrocento Sans" pitchFamily="34" charset="0"/>
                <a:ea typeface="Quattrocento Sans" pitchFamily="34" charset="-122"/>
                <a:cs typeface="Quattrocento Sans" pitchFamily="34" charset="-120"/>
              </a:rPr>
              <a:t>客户</a:t>
            </a:r>
            <a:r>
              <a:rPr lang="en-US" sz="2000" dirty="0">
                <a:solidFill>
                  <a:srgbClr val="2C2C2C"/>
                </a:solidFill>
                <a:latin typeface="Quattrocento Sans" pitchFamily="34" charset="0"/>
                <a:ea typeface="Quattrocento Sans" pitchFamily="34" charset="-122"/>
                <a:cs typeface="Quattrocento Sans" pitchFamily="34" charset="-120"/>
              </a:rPr>
              <a:t>（项目成果接收方）、</a:t>
            </a:r>
            <a:r>
              <a:rPr lang="en-US" sz="2000" b="1" dirty="0">
                <a:solidFill>
                  <a:srgbClr val="2C2C2C"/>
                </a:solidFill>
                <a:latin typeface="Quattrocento Sans" pitchFamily="34" charset="0"/>
                <a:ea typeface="Quattrocento Sans" pitchFamily="34" charset="-122"/>
                <a:cs typeface="Quattrocento Sans" pitchFamily="34" charset="-120"/>
              </a:rPr>
              <a:t>项目实施组织</a:t>
            </a:r>
            <a:r>
              <a:rPr lang="en-US" sz="2000" dirty="0">
                <a:solidFill>
                  <a:srgbClr val="2C2C2C"/>
                </a:solidFill>
                <a:latin typeface="Quattrocento Sans" pitchFamily="34" charset="0"/>
                <a:ea typeface="Quattrocento Sans" pitchFamily="34" charset="-122"/>
                <a:cs typeface="Quattrocento Sans" pitchFamily="34" charset="-120"/>
              </a:rPr>
              <a:t>（执行团队）、</a:t>
            </a:r>
            <a:r>
              <a:rPr lang="en-US" sz="2000" b="1" dirty="0">
                <a:solidFill>
                  <a:srgbClr val="2C2C2C"/>
                </a:solidFill>
                <a:latin typeface="Quattrocento Sans" pitchFamily="34" charset="0"/>
                <a:ea typeface="Quattrocento Sans" pitchFamily="34" charset="-122"/>
                <a:cs typeface="Quattrocento Sans" pitchFamily="34" charset="-120"/>
              </a:rPr>
              <a:t>管理团队</a:t>
            </a:r>
            <a:r>
              <a:rPr lang="en-US" sz="2000" dirty="0">
                <a:solidFill>
                  <a:srgbClr val="2C2C2C"/>
                </a:solidFill>
                <a:latin typeface="Quattrocento Sans" pitchFamily="34" charset="0"/>
                <a:ea typeface="Quattrocento Sans" pitchFamily="34" charset="-122"/>
                <a:cs typeface="Quattrocento Sans" pitchFamily="34" charset="-120"/>
              </a:rPr>
              <a:t>（高层支持）、</a:t>
            </a:r>
            <a:r>
              <a:rPr lang="en-US" sz="2000" b="1" dirty="0">
                <a:solidFill>
                  <a:srgbClr val="2C2C2C"/>
                </a:solidFill>
                <a:latin typeface="Quattrocento Sans" pitchFamily="34" charset="0"/>
                <a:ea typeface="Quattrocento Sans" pitchFamily="34" charset="-122"/>
                <a:cs typeface="Quattrocento Sans" pitchFamily="34" charset="-120"/>
              </a:rPr>
              <a:t>团队成员</a:t>
            </a:r>
            <a:r>
              <a:rPr lang="en-US" sz="2000" dirty="0">
                <a:solidFill>
                  <a:srgbClr val="2C2C2C"/>
                </a:solidFill>
                <a:latin typeface="Quattrocento Sans" pitchFamily="34" charset="0"/>
                <a:ea typeface="Quattrocento Sans" pitchFamily="34" charset="-122"/>
                <a:cs typeface="Quattrocento Sans" pitchFamily="34" charset="-120"/>
              </a:rPr>
              <a:t>（具体执行）、</a:t>
            </a:r>
            <a:r>
              <a:rPr lang="en-US" sz="2000" b="1" dirty="0">
                <a:solidFill>
                  <a:srgbClr val="2C2C2C"/>
                </a:solidFill>
                <a:latin typeface="Quattrocento Sans" pitchFamily="34" charset="0"/>
                <a:ea typeface="Quattrocento Sans" pitchFamily="34" charset="-122"/>
                <a:cs typeface="Quattrocento Sans" pitchFamily="34" charset="-120"/>
              </a:rPr>
              <a:t>发起人</a:t>
            </a:r>
            <a:r>
              <a:rPr lang="en-US" sz="2000" dirty="0">
                <a:solidFill>
                  <a:srgbClr val="2C2C2C"/>
                </a:solidFill>
                <a:latin typeface="Quattrocento Sans" pitchFamily="34" charset="0"/>
                <a:ea typeface="Quattrocento Sans" pitchFamily="34" charset="-122"/>
                <a:cs typeface="Quattrocento Sans" pitchFamily="34" charset="-120"/>
              </a:rPr>
              <a:t>（提供资源）、</a:t>
            </a:r>
            <a:r>
              <a:rPr lang="en-US" sz="2000" b="1" dirty="0">
                <a:solidFill>
                  <a:srgbClr val="2C2C2C"/>
                </a:solidFill>
                <a:latin typeface="Quattrocento Sans" pitchFamily="34" charset="0"/>
                <a:ea typeface="Quattrocento Sans" pitchFamily="34" charset="-122"/>
                <a:cs typeface="Quattrocento Sans" pitchFamily="34" charset="-120"/>
              </a:rPr>
              <a:t>出资方</a:t>
            </a:r>
            <a:r>
              <a:rPr lang="en-US" sz="2000" dirty="0">
                <a:solidFill>
                  <a:srgbClr val="2C2C2C"/>
                </a:solidFill>
                <a:latin typeface="Quattrocento Sans" pitchFamily="34" charset="0"/>
                <a:ea typeface="Quattrocento Sans" pitchFamily="34" charset="-122"/>
                <a:cs typeface="Quattrocento Sans" pitchFamily="34" charset="-120"/>
              </a:rPr>
              <a:t>（资金提供）、</a:t>
            </a:r>
            <a:r>
              <a:rPr lang="en-US" sz="2000" b="1" dirty="0">
                <a:solidFill>
                  <a:srgbClr val="2C2C2C"/>
                </a:solidFill>
                <a:latin typeface="Quattrocento Sans" pitchFamily="34" charset="0"/>
                <a:ea typeface="Quattrocento Sans" pitchFamily="34" charset="-122"/>
                <a:cs typeface="Quattrocento Sans" pitchFamily="34" charset="-120"/>
              </a:rPr>
              <a:t>施加影响者</a:t>
            </a:r>
            <a:r>
              <a:rPr lang="en-US" sz="2000" dirty="0">
                <a:solidFill>
                  <a:srgbClr val="2C2C2C"/>
                </a:solidFill>
                <a:latin typeface="Quattrocento Sans" pitchFamily="34" charset="0"/>
                <a:ea typeface="Quattrocento Sans" pitchFamily="34" charset="-122"/>
                <a:cs typeface="Quattrocento Sans" pitchFamily="34" charset="-120"/>
              </a:rPr>
              <a:t>（外部影响）和</a:t>
            </a:r>
            <a:r>
              <a:rPr lang="en-US" sz="2000" b="1" dirty="0">
                <a:solidFill>
                  <a:srgbClr val="2C2C2C"/>
                </a:solidFill>
                <a:latin typeface="Quattrocento Sans" pitchFamily="34" charset="0"/>
                <a:ea typeface="Quattrocento Sans" pitchFamily="34" charset="-122"/>
                <a:cs typeface="Quattrocento Sans" pitchFamily="34" charset="-120"/>
              </a:rPr>
              <a:t>PMO</a:t>
            </a:r>
            <a:r>
              <a:rPr lang="en-US" sz="2000" dirty="0">
                <a:solidFill>
                  <a:srgbClr val="2C2C2C"/>
                </a:solidFill>
                <a:latin typeface="Quattrocento Sans" pitchFamily="34" charset="0"/>
                <a:ea typeface="Quattrocento Sans" pitchFamily="34" charset="-122"/>
                <a:cs typeface="Quattrocento Sans" pitchFamily="34" charset="-120"/>
              </a:rPr>
              <a:t>（项目管理办公室）。他们对项目成败起关键作用。</a:t>
            </a:r>
            <a:endParaRPr lang="en-US" sz="2000" dirty="0"/>
          </a:p>
        </p:txBody>
      </p:sp>
      <p:sp>
        <p:nvSpPr>
          <p:cNvPr id="47" name="Shape 44"/>
          <p:cNvSpPr/>
          <p:nvPr/>
        </p:nvSpPr>
        <p:spPr>
          <a:xfrm>
            <a:off x="20320000" y="11514709"/>
            <a:ext cx="846709" cy="406400"/>
          </a:xfrm>
          <a:prstGeom prst="rect">
            <a:avLst/>
          </a:prstGeom>
          <a:noFill/>
          <a:ln/>
        </p:spPr>
      </p:sp>
      <p:sp>
        <p:nvSpPr>
          <p:cNvPr id="48" name="Text 45"/>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4</a:t>
            </a:r>
            <a:endParaRPr lang="en-US" sz="187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01 项目整体管理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项目管理计划</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9736709" cy="711200"/>
          </a:xfrm>
          <a:prstGeom prst="roundRect">
            <a:avLst>
              <a:gd name="adj" fmla="val 4000"/>
            </a:avLst>
          </a:prstGeom>
          <a:solidFill>
            <a:srgbClr val="1A4A7A"/>
          </a:solidFill>
          <a:ln/>
        </p:spPr>
      </p:sp>
      <p:sp>
        <p:nvSpPr>
          <p:cNvPr id="11" name="Shape 8"/>
          <p:cNvSpPr/>
          <p:nvPr/>
        </p:nvSpPr>
        <p:spPr>
          <a:xfrm>
            <a:off x="677291" y="1456309"/>
            <a:ext cx="9736709" cy="711200"/>
          </a:xfrm>
          <a:prstGeom prst="rect">
            <a:avLst/>
          </a:prstGeom>
          <a:noFill/>
          <a:ln/>
        </p:spPr>
      </p:sp>
      <p:sp>
        <p:nvSpPr>
          <p:cNvPr id="12" name="Text 9"/>
          <p:cNvSpPr/>
          <p:nvPr/>
        </p:nvSpPr>
        <p:spPr>
          <a:xfrm>
            <a:off x="555371" y="1395349"/>
            <a:ext cx="9980549" cy="833120"/>
          </a:xfrm>
          <a:prstGeom prst="rect">
            <a:avLst/>
          </a:prstGeom>
          <a:noFill/>
          <a:ln/>
        </p:spPr>
        <p:txBody>
          <a:bodyPr wrap="none" lIns="0" tIns="0" rIns="0" bIns="0" rtlCol="0" anchor="ctr"/>
          <a:lstStyle/>
          <a:p>
            <a:pPr algn="ctr">
              <a:lnSpc>
                <a:spcPct val="120000"/>
              </a:lnSpc>
            </a:pPr>
            <a:r>
              <a:rPr lang="en-US" sz="2130" b="1" dirty="0">
                <a:solidFill>
                  <a:srgbClr val="FFFFFF"/>
                </a:solidFill>
                <a:latin typeface="Quattrocento Sans" pitchFamily="34" charset="0"/>
                <a:ea typeface="Quattrocento Sans" pitchFamily="34" charset="-122"/>
                <a:cs typeface="Quattrocento Sans" pitchFamily="34" charset="-120"/>
              </a:rPr>
              <a:t>计划作用</a:t>
            </a:r>
            <a:endParaRPr lang="en-US" sz="2130" dirty="0"/>
          </a:p>
        </p:txBody>
      </p:sp>
      <p:sp>
        <p:nvSpPr>
          <p:cNvPr id="13" name="Shape 10"/>
          <p:cNvSpPr/>
          <p:nvPr/>
        </p:nvSpPr>
        <p:spPr>
          <a:xfrm>
            <a:off x="677291" y="2167509"/>
            <a:ext cx="9736709" cy="4233291"/>
          </a:xfrm>
          <a:prstGeom prst="roundRect">
            <a:avLst>
              <a:gd name="adj" fmla="val 4000"/>
            </a:avLst>
          </a:prstGeom>
          <a:solidFill>
            <a:srgbClr val="F5F5F5"/>
          </a:solidFill>
          <a:ln/>
        </p:spPr>
      </p:sp>
      <p:sp>
        <p:nvSpPr>
          <p:cNvPr id="14" name="Shape 11"/>
          <p:cNvSpPr/>
          <p:nvPr/>
        </p:nvSpPr>
        <p:spPr>
          <a:xfrm>
            <a:off x="1016000" y="2438400"/>
            <a:ext cx="9059291" cy="3691509"/>
          </a:xfrm>
          <a:prstGeom prst="rect">
            <a:avLst/>
          </a:prstGeom>
          <a:noFill/>
          <a:ln/>
        </p:spPr>
      </p:sp>
      <p:sp>
        <p:nvSpPr>
          <p:cNvPr id="15" name="Text 12"/>
          <p:cNvSpPr/>
          <p:nvPr/>
        </p:nvSpPr>
        <p:spPr>
          <a:xfrm>
            <a:off x="894080" y="2377440"/>
            <a:ext cx="9303131" cy="3813429"/>
          </a:xfrm>
          <a:prstGeom prst="rect">
            <a:avLst/>
          </a:prstGeom>
          <a:noFill/>
          <a:ln/>
        </p:spPr>
        <p:txBody>
          <a:bodyPr wrap="square" lIns="0" tIns="0" rIns="0" bIns="0" rtlCol="0" anchor="t"/>
          <a:lstStyle/>
          <a:p>
            <a:pPr algn="l">
              <a:lnSpc>
                <a:spcPct val="170000"/>
              </a:lnSpc>
            </a:pPr>
            <a:r>
              <a:rPr lang="en-US" sz="2130" dirty="0">
                <a:solidFill>
                  <a:srgbClr val="2C2C2C"/>
                </a:solidFill>
                <a:latin typeface="Quattrocento Sans" pitchFamily="34" charset="0"/>
                <a:ea typeface="Quattrocento Sans" pitchFamily="34" charset="-122"/>
                <a:cs typeface="Quattrocento Sans" pitchFamily="34" charset="-120"/>
              </a:rPr>
              <a:t>项目管理计划是指导项目实施的基础文件，协调各子计划，明确项目目标、工作范围、资源分配和进度安排，为项目执行提供依据。</a:t>
            </a:r>
            <a:endParaRPr lang="en-US" sz="2130" dirty="0"/>
          </a:p>
          <a:p>
            <a:pPr algn="l">
              <a:lnSpc>
                <a:spcPct val="170000"/>
              </a:lnSpc>
              <a:spcBef>
                <a:spcPts val="1333"/>
              </a:spcBef>
            </a:pPr>
            <a:r>
              <a:rPr lang="en-US" sz="2130" dirty="0">
                <a:solidFill>
                  <a:srgbClr val="2C2C2C"/>
                </a:solidFill>
                <a:latin typeface="Quattrocento Sans" pitchFamily="34" charset="0"/>
                <a:ea typeface="Quattrocento Sans" pitchFamily="34" charset="-122"/>
                <a:cs typeface="Quattrocento Sans" pitchFamily="34" charset="-120"/>
              </a:rPr>
              <a:t>包含范围、进度、费用、质量、人员配备、沟通、风险和采购等</a:t>
            </a:r>
            <a:r>
              <a:rPr lang="en-US" sz="2130" b="1" dirty="0">
                <a:solidFill>
                  <a:srgbClr val="2C2C2C"/>
                </a:solidFill>
                <a:latin typeface="Quattrocento Sans" pitchFamily="34" charset="0"/>
                <a:ea typeface="Quattrocento Sans" pitchFamily="34" charset="-122"/>
                <a:cs typeface="Quattrocento Sans" pitchFamily="34" charset="-120"/>
              </a:rPr>
              <a:t>子计划</a:t>
            </a:r>
            <a:r>
              <a:rPr lang="en-US" sz="2130" dirty="0">
                <a:solidFill>
                  <a:srgbClr val="2C2C2C"/>
                </a:solidFill>
                <a:latin typeface="Quattrocento Sans" pitchFamily="34" charset="0"/>
                <a:ea typeface="Quattrocento Sans" pitchFamily="34" charset="-122"/>
                <a:cs typeface="Quattrocento Sans" pitchFamily="34" charset="-120"/>
              </a:rPr>
              <a:t>，以及里程碑清单、资源日历等组件。</a:t>
            </a:r>
            <a:endParaRPr lang="en-US" sz="2130" dirty="0"/>
          </a:p>
        </p:txBody>
      </p:sp>
      <p:sp>
        <p:nvSpPr>
          <p:cNvPr id="16" name="Shape 13"/>
          <p:cNvSpPr/>
          <p:nvPr/>
        </p:nvSpPr>
        <p:spPr>
          <a:xfrm>
            <a:off x="11260709" y="1456309"/>
            <a:ext cx="9736709" cy="711200"/>
          </a:xfrm>
          <a:prstGeom prst="roundRect">
            <a:avLst>
              <a:gd name="adj" fmla="val 4000"/>
            </a:avLst>
          </a:prstGeom>
          <a:solidFill>
            <a:srgbClr val="5B9BD5"/>
          </a:solidFill>
          <a:ln/>
        </p:spPr>
      </p:sp>
      <p:sp>
        <p:nvSpPr>
          <p:cNvPr id="17" name="Shape 14"/>
          <p:cNvSpPr/>
          <p:nvPr/>
        </p:nvSpPr>
        <p:spPr>
          <a:xfrm>
            <a:off x="11260709" y="1456309"/>
            <a:ext cx="9736709" cy="711200"/>
          </a:xfrm>
          <a:prstGeom prst="rect">
            <a:avLst/>
          </a:prstGeom>
          <a:noFill/>
          <a:ln/>
        </p:spPr>
      </p:sp>
      <p:sp>
        <p:nvSpPr>
          <p:cNvPr id="18" name="Text 15"/>
          <p:cNvSpPr/>
          <p:nvPr/>
        </p:nvSpPr>
        <p:spPr>
          <a:xfrm>
            <a:off x="11138789" y="1395349"/>
            <a:ext cx="9980549" cy="833120"/>
          </a:xfrm>
          <a:prstGeom prst="rect">
            <a:avLst/>
          </a:prstGeom>
          <a:noFill/>
          <a:ln/>
        </p:spPr>
        <p:txBody>
          <a:bodyPr wrap="none" lIns="0" tIns="0" rIns="0" bIns="0" rtlCol="0" anchor="ctr"/>
          <a:lstStyle/>
          <a:p>
            <a:pPr algn="ctr">
              <a:lnSpc>
                <a:spcPct val="120000"/>
              </a:lnSpc>
            </a:pPr>
            <a:r>
              <a:rPr lang="en-US" sz="2130" b="1" dirty="0">
                <a:solidFill>
                  <a:srgbClr val="FFFFFF"/>
                </a:solidFill>
                <a:latin typeface="Quattrocento Sans" pitchFamily="34" charset="0"/>
                <a:ea typeface="Quattrocento Sans" pitchFamily="34" charset="-122"/>
                <a:cs typeface="Quattrocento Sans" pitchFamily="34" charset="-120"/>
              </a:rPr>
              <a:t>整体管理过程</a:t>
            </a:r>
            <a:endParaRPr lang="en-US" sz="2130" dirty="0"/>
          </a:p>
        </p:txBody>
      </p:sp>
      <p:sp>
        <p:nvSpPr>
          <p:cNvPr id="19" name="Shape 16"/>
          <p:cNvSpPr/>
          <p:nvPr/>
        </p:nvSpPr>
        <p:spPr>
          <a:xfrm>
            <a:off x="11260709" y="2167509"/>
            <a:ext cx="9736709" cy="4334891"/>
          </a:xfrm>
          <a:prstGeom prst="roundRect">
            <a:avLst>
              <a:gd name="adj" fmla="val 4000"/>
            </a:avLst>
          </a:prstGeom>
          <a:solidFill>
            <a:srgbClr val="F5F5F5"/>
          </a:solidFill>
          <a:ln/>
        </p:spPr>
      </p:sp>
      <p:sp>
        <p:nvSpPr>
          <p:cNvPr id="20" name="Shape 17"/>
          <p:cNvSpPr/>
          <p:nvPr/>
        </p:nvSpPr>
        <p:spPr>
          <a:xfrm>
            <a:off x="11599291" y="2438400"/>
            <a:ext cx="9059291" cy="3996309"/>
          </a:xfrm>
          <a:prstGeom prst="rect">
            <a:avLst/>
          </a:prstGeom>
          <a:noFill/>
          <a:ln/>
        </p:spPr>
      </p:sp>
      <p:sp>
        <p:nvSpPr>
          <p:cNvPr id="21" name="Text 18"/>
          <p:cNvSpPr/>
          <p:nvPr/>
        </p:nvSpPr>
        <p:spPr>
          <a:xfrm>
            <a:off x="11477371" y="2377440"/>
            <a:ext cx="9303131" cy="4118229"/>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项目整体管理涵盖以下核心过程：</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 制定项目章程</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 制定初步范围说明书</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 制定项目管理计划</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 指导与管理项目执行</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 监控项目工作</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 整体变更控制</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 项目收尾</a:t>
            </a:r>
            <a:endParaRPr lang="en-US" sz="2000" dirty="0"/>
          </a:p>
        </p:txBody>
      </p:sp>
      <p:sp>
        <p:nvSpPr>
          <p:cNvPr id="22" name="Shape 19"/>
          <p:cNvSpPr/>
          <p:nvPr/>
        </p:nvSpPr>
        <p:spPr>
          <a:xfrm>
            <a:off x="677291" y="6773291"/>
            <a:ext cx="6773291" cy="474091"/>
          </a:xfrm>
          <a:prstGeom prst="rect">
            <a:avLst/>
          </a:prstGeom>
          <a:noFill/>
          <a:ln/>
        </p:spPr>
      </p:sp>
      <p:sp>
        <p:nvSpPr>
          <p:cNvPr id="23" name="Text 20"/>
          <p:cNvSpPr/>
          <p:nvPr/>
        </p:nvSpPr>
        <p:spPr>
          <a:xfrm>
            <a:off x="555371" y="6712331"/>
            <a:ext cx="7017131" cy="596011"/>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管理流程示意</a:t>
            </a:r>
            <a:endParaRPr lang="en-US" sz="2400" dirty="0"/>
          </a:p>
        </p:txBody>
      </p:sp>
      <p:sp>
        <p:nvSpPr>
          <p:cNvPr id="24" name="Shape 21"/>
          <p:cNvSpPr/>
          <p:nvPr/>
        </p:nvSpPr>
        <p:spPr>
          <a:xfrm>
            <a:off x="677291" y="7315200"/>
            <a:ext cx="20320000" cy="16891"/>
          </a:xfrm>
          <a:prstGeom prst="rect">
            <a:avLst/>
          </a:prstGeom>
          <a:solidFill>
            <a:srgbClr val="E0E0E0"/>
          </a:solidFill>
          <a:ln/>
        </p:spPr>
      </p:sp>
      <p:sp>
        <p:nvSpPr>
          <p:cNvPr id="25" name="Shape 22"/>
          <p:cNvSpPr/>
          <p:nvPr/>
        </p:nvSpPr>
        <p:spPr>
          <a:xfrm>
            <a:off x="677291" y="7620000"/>
            <a:ext cx="2709291" cy="846709"/>
          </a:xfrm>
          <a:prstGeom prst="roundRect">
            <a:avLst>
              <a:gd name="adj" fmla="val 4000"/>
            </a:avLst>
          </a:prstGeom>
          <a:solidFill>
            <a:srgbClr val="1A4A7A"/>
          </a:solidFill>
          <a:ln/>
        </p:spPr>
      </p:sp>
      <p:sp>
        <p:nvSpPr>
          <p:cNvPr id="26" name="Shape 23"/>
          <p:cNvSpPr/>
          <p:nvPr/>
        </p:nvSpPr>
        <p:spPr>
          <a:xfrm>
            <a:off x="677291" y="7620000"/>
            <a:ext cx="2709291" cy="846709"/>
          </a:xfrm>
          <a:prstGeom prst="rect">
            <a:avLst/>
          </a:prstGeom>
          <a:noFill/>
          <a:ln/>
        </p:spPr>
      </p:sp>
      <p:sp>
        <p:nvSpPr>
          <p:cNvPr id="27" name="Text 24"/>
          <p:cNvSpPr/>
          <p:nvPr/>
        </p:nvSpPr>
        <p:spPr>
          <a:xfrm>
            <a:off x="555371" y="7559040"/>
            <a:ext cx="2953131" cy="968629"/>
          </a:xfrm>
          <a:prstGeom prst="rect">
            <a:avLst/>
          </a:prstGeom>
          <a:noFill/>
          <a:ln/>
        </p:spPr>
        <p:txBody>
          <a:bodyPr wrap="none" lIns="0" tIns="0" rIns="0" bIns="0" rtlCol="0" anchor="ctr"/>
          <a:lstStyle/>
          <a:p>
            <a:pPr algn="ctr">
              <a:lnSpc>
                <a:spcPct val="120000"/>
              </a:lnSpc>
            </a:pPr>
            <a:r>
              <a:rPr lang="en-US" sz="1870" dirty="0">
                <a:solidFill>
                  <a:srgbClr val="FFFFFF"/>
                </a:solidFill>
                <a:latin typeface="Quattrocento Sans" pitchFamily="34" charset="0"/>
                <a:ea typeface="Quattrocento Sans" pitchFamily="34" charset="-122"/>
                <a:cs typeface="Quattrocento Sans" pitchFamily="34" charset="-120"/>
              </a:rPr>
              <a:t>项目章程</a:t>
            </a:r>
            <a:endParaRPr lang="en-US" sz="1870" dirty="0"/>
          </a:p>
        </p:txBody>
      </p:sp>
      <p:sp>
        <p:nvSpPr>
          <p:cNvPr id="28" name="Shape 25"/>
          <p:cNvSpPr/>
          <p:nvPr/>
        </p:nvSpPr>
        <p:spPr>
          <a:xfrm>
            <a:off x="3522091" y="7874000"/>
            <a:ext cx="508000" cy="338709"/>
          </a:xfrm>
          <a:prstGeom prst="rightArrow">
            <a:avLst>
              <a:gd name="adj1" fmla="val 50000"/>
              <a:gd name="adj2" fmla="val 50000"/>
            </a:avLst>
          </a:prstGeom>
          <a:solidFill>
            <a:srgbClr val="5B9BD5"/>
          </a:solidFill>
          <a:ln/>
        </p:spPr>
      </p:sp>
      <p:sp>
        <p:nvSpPr>
          <p:cNvPr id="29" name="Shape 26"/>
          <p:cNvSpPr/>
          <p:nvPr/>
        </p:nvSpPr>
        <p:spPr>
          <a:xfrm>
            <a:off x="4165600" y="7620000"/>
            <a:ext cx="2709291" cy="846709"/>
          </a:xfrm>
          <a:prstGeom prst="roundRect">
            <a:avLst>
              <a:gd name="adj" fmla="val 4000"/>
            </a:avLst>
          </a:prstGeom>
          <a:solidFill>
            <a:srgbClr val="5B9BD5"/>
          </a:solidFill>
          <a:ln/>
        </p:spPr>
      </p:sp>
      <p:sp>
        <p:nvSpPr>
          <p:cNvPr id="30" name="Shape 27"/>
          <p:cNvSpPr/>
          <p:nvPr/>
        </p:nvSpPr>
        <p:spPr>
          <a:xfrm>
            <a:off x="4165600" y="7620000"/>
            <a:ext cx="2709291" cy="846709"/>
          </a:xfrm>
          <a:prstGeom prst="rect">
            <a:avLst/>
          </a:prstGeom>
          <a:noFill/>
          <a:ln/>
        </p:spPr>
      </p:sp>
      <p:sp>
        <p:nvSpPr>
          <p:cNvPr id="31" name="Text 28"/>
          <p:cNvSpPr/>
          <p:nvPr/>
        </p:nvSpPr>
        <p:spPr>
          <a:xfrm>
            <a:off x="4043680" y="7559040"/>
            <a:ext cx="2953131" cy="968629"/>
          </a:xfrm>
          <a:prstGeom prst="rect">
            <a:avLst/>
          </a:prstGeom>
          <a:noFill/>
          <a:ln/>
        </p:spPr>
        <p:txBody>
          <a:bodyPr wrap="none" lIns="0" tIns="0" rIns="0" bIns="0" rtlCol="0" anchor="ctr"/>
          <a:lstStyle/>
          <a:p>
            <a:pPr algn="ctr">
              <a:lnSpc>
                <a:spcPct val="120000"/>
              </a:lnSpc>
            </a:pPr>
            <a:r>
              <a:rPr lang="en-US" sz="1870" dirty="0">
                <a:solidFill>
                  <a:srgbClr val="FFFFFF"/>
                </a:solidFill>
                <a:latin typeface="Quattrocento Sans" pitchFamily="34" charset="0"/>
                <a:ea typeface="Quattrocento Sans" pitchFamily="34" charset="-122"/>
                <a:cs typeface="Quattrocento Sans" pitchFamily="34" charset="-120"/>
              </a:rPr>
              <a:t>范围说明书</a:t>
            </a:r>
            <a:endParaRPr lang="en-US" sz="1870" dirty="0"/>
          </a:p>
        </p:txBody>
      </p:sp>
      <p:sp>
        <p:nvSpPr>
          <p:cNvPr id="32" name="Shape 29"/>
          <p:cNvSpPr/>
          <p:nvPr/>
        </p:nvSpPr>
        <p:spPr>
          <a:xfrm>
            <a:off x="7010400" y="7874000"/>
            <a:ext cx="508000" cy="338709"/>
          </a:xfrm>
          <a:prstGeom prst="rightArrow">
            <a:avLst>
              <a:gd name="adj1" fmla="val 50000"/>
              <a:gd name="adj2" fmla="val 50000"/>
            </a:avLst>
          </a:prstGeom>
          <a:solidFill>
            <a:srgbClr val="5B9BD5"/>
          </a:solidFill>
          <a:ln/>
        </p:spPr>
      </p:sp>
      <p:sp>
        <p:nvSpPr>
          <p:cNvPr id="33" name="Shape 30"/>
          <p:cNvSpPr/>
          <p:nvPr/>
        </p:nvSpPr>
        <p:spPr>
          <a:xfrm>
            <a:off x="7653909" y="7620000"/>
            <a:ext cx="2709291" cy="846709"/>
          </a:xfrm>
          <a:prstGeom prst="roundRect">
            <a:avLst>
              <a:gd name="adj" fmla="val 4000"/>
            </a:avLst>
          </a:prstGeom>
          <a:solidFill>
            <a:srgbClr val="2E86C1"/>
          </a:solidFill>
          <a:ln/>
        </p:spPr>
      </p:sp>
      <p:sp>
        <p:nvSpPr>
          <p:cNvPr id="34" name="Shape 31"/>
          <p:cNvSpPr/>
          <p:nvPr/>
        </p:nvSpPr>
        <p:spPr>
          <a:xfrm>
            <a:off x="7653909" y="7620000"/>
            <a:ext cx="2709291" cy="846709"/>
          </a:xfrm>
          <a:prstGeom prst="rect">
            <a:avLst/>
          </a:prstGeom>
          <a:noFill/>
          <a:ln/>
        </p:spPr>
      </p:sp>
      <p:sp>
        <p:nvSpPr>
          <p:cNvPr id="35" name="Text 32"/>
          <p:cNvSpPr/>
          <p:nvPr/>
        </p:nvSpPr>
        <p:spPr>
          <a:xfrm>
            <a:off x="7531989" y="7559040"/>
            <a:ext cx="2953131" cy="968629"/>
          </a:xfrm>
          <a:prstGeom prst="rect">
            <a:avLst/>
          </a:prstGeom>
          <a:noFill/>
          <a:ln/>
        </p:spPr>
        <p:txBody>
          <a:bodyPr wrap="none" lIns="0" tIns="0" rIns="0" bIns="0" rtlCol="0" anchor="ctr"/>
          <a:lstStyle/>
          <a:p>
            <a:pPr algn="ctr">
              <a:lnSpc>
                <a:spcPct val="120000"/>
              </a:lnSpc>
            </a:pPr>
            <a:r>
              <a:rPr lang="en-US" sz="1870" dirty="0">
                <a:solidFill>
                  <a:srgbClr val="FFFFFF"/>
                </a:solidFill>
                <a:latin typeface="Quattrocento Sans" pitchFamily="34" charset="0"/>
                <a:ea typeface="Quattrocento Sans" pitchFamily="34" charset="-122"/>
                <a:cs typeface="Quattrocento Sans" pitchFamily="34" charset="-120"/>
              </a:rPr>
              <a:t>管理计划</a:t>
            </a:r>
            <a:endParaRPr lang="en-US" sz="1870" dirty="0"/>
          </a:p>
        </p:txBody>
      </p:sp>
      <p:sp>
        <p:nvSpPr>
          <p:cNvPr id="36" name="Shape 33"/>
          <p:cNvSpPr/>
          <p:nvPr/>
        </p:nvSpPr>
        <p:spPr>
          <a:xfrm>
            <a:off x="10498709" y="7874000"/>
            <a:ext cx="508000" cy="338709"/>
          </a:xfrm>
          <a:prstGeom prst="rightArrow">
            <a:avLst>
              <a:gd name="adj1" fmla="val 50000"/>
              <a:gd name="adj2" fmla="val 50000"/>
            </a:avLst>
          </a:prstGeom>
          <a:solidFill>
            <a:srgbClr val="5B9BD5"/>
          </a:solidFill>
          <a:ln/>
        </p:spPr>
      </p:sp>
      <p:sp>
        <p:nvSpPr>
          <p:cNvPr id="37" name="Shape 34"/>
          <p:cNvSpPr/>
          <p:nvPr/>
        </p:nvSpPr>
        <p:spPr>
          <a:xfrm>
            <a:off x="11142091" y="7620000"/>
            <a:ext cx="2709291" cy="846709"/>
          </a:xfrm>
          <a:prstGeom prst="roundRect">
            <a:avLst>
              <a:gd name="adj" fmla="val 4000"/>
            </a:avLst>
          </a:prstGeom>
          <a:solidFill>
            <a:srgbClr val="1A4A7A"/>
          </a:solidFill>
          <a:ln/>
        </p:spPr>
      </p:sp>
      <p:sp>
        <p:nvSpPr>
          <p:cNvPr id="38" name="Shape 35"/>
          <p:cNvSpPr/>
          <p:nvPr/>
        </p:nvSpPr>
        <p:spPr>
          <a:xfrm>
            <a:off x="11142091" y="7620000"/>
            <a:ext cx="2709291" cy="846709"/>
          </a:xfrm>
          <a:prstGeom prst="rect">
            <a:avLst/>
          </a:prstGeom>
          <a:noFill/>
          <a:ln/>
        </p:spPr>
      </p:sp>
      <p:sp>
        <p:nvSpPr>
          <p:cNvPr id="39" name="Text 36"/>
          <p:cNvSpPr/>
          <p:nvPr/>
        </p:nvSpPr>
        <p:spPr>
          <a:xfrm>
            <a:off x="11020171" y="7559040"/>
            <a:ext cx="2953131" cy="968629"/>
          </a:xfrm>
          <a:prstGeom prst="rect">
            <a:avLst/>
          </a:prstGeom>
          <a:noFill/>
          <a:ln/>
        </p:spPr>
        <p:txBody>
          <a:bodyPr wrap="none" lIns="0" tIns="0" rIns="0" bIns="0" rtlCol="0" anchor="ctr"/>
          <a:lstStyle/>
          <a:p>
            <a:pPr algn="ctr">
              <a:lnSpc>
                <a:spcPct val="120000"/>
              </a:lnSpc>
            </a:pPr>
            <a:r>
              <a:rPr lang="en-US" sz="1870" dirty="0">
                <a:solidFill>
                  <a:srgbClr val="FFFFFF"/>
                </a:solidFill>
                <a:latin typeface="Quattrocento Sans" pitchFamily="34" charset="0"/>
                <a:ea typeface="Quattrocento Sans" pitchFamily="34" charset="-122"/>
                <a:cs typeface="Quattrocento Sans" pitchFamily="34" charset="-120"/>
              </a:rPr>
              <a:t>指导执行</a:t>
            </a:r>
            <a:endParaRPr lang="en-US" sz="1870" dirty="0"/>
          </a:p>
        </p:txBody>
      </p:sp>
      <p:sp>
        <p:nvSpPr>
          <p:cNvPr id="40" name="Shape 37"/>
          <p:cNvSpPr/>
          <p:nvPr/>
        </p:nvSpPr>
        <p:spPr>
          <a:xfrm>
            <a:off x="13986891" y="7874000"/>
            <a:ext cx="508000" cy="338709"/>
          </a:xfrm>
          <a:prstGeom prst="rightArrow">
            <a:avLst>
              <a:gd name="adj1" fmla="val 50000"/>
              <a:gd name="adj2" fmla="val 50000"/>
            </a:avLst>
          </a:prstGeom>
          <a:solidFill>
            <a:srgbClr val="5B9BD5"/>
          </a:solidFill>
          <a:ln/>
        </p:spPr>
      </p:sp>
      <p:sp>
        <p:nvSpPr>
          <p:cNvPr id="41" name="Shape 38"/>
          <p:cNvSpPr/>
          <p:nvPr/>
        </p:nvSpPr>
        <p:spPr>
          <a:xfrm>
            <a:off x="14630400" y="7620000"/>
            <a:ext cx="2709291" cy="846709"/>
          </a:xfrm>
          <a:prstGeom prst="roundRect">
            <a:avLst>
              <a:gd name="adj" fmla="val 4000"/>
            </a:avLst>
          </a:prstGeom>
          <a:solidFill>
            <a:srgbClr val="5B9BD5"/>
          </a:solidFill>
          <a:ln/>
        </p:spPr>
      </p:sp>
      <p:sp>
        <p:nvSpPr>
          <p:cNvPr id="42" name="Shape 39"/>
          <p:cNvSpPr/>
          <p:nvPr/>
        </p:nvSpPr>
        <p:spPr>
          <a:xfrm>
            <a:off x="14630400" y="7620000"/>
            <a:ext cx="2709291" cy="846709"/>
          </a:xfrm>
          <a:prstGeom prst="rect">
            <a:avLst/>
          </a:prstGeom>
          <a:noFill/>
          <a:ln/>
        </p:spPr>
      </p:sp>
      <p:sp>
        <p:nvSpPr>
          <p:cNvPr id="43" name="Text 40"/>
          <p:cNvSpPr/>
          <p:nvPr/>
        </p:nvSpPr>
        <p:spPr>
          <a:xfrm>
            <a:off x="14508480" y="7559040"/>
            <a:ext cx="2953131" cy="968629"/>
          </a:xfrm>
          <a:prstGeom prst="rect">
            <a:avLst/>
          </a:prstGeom>
          <a:noFill/>
          <a:ln/>
        </p:spPr>
        <p:txBody>
          <a:bodyPr wrap="none" lIns="0" tIns="0" rIns="0" bIns="0" rtlCol="0" anchor="ctr"/>
          <a:lstStyle/>
          <a:p>
            <a:pPr algn="ctr">
              <a:lnSpc>
                <a:spcPct val="120000"/>
              </a:lnSpc>
            </a:pPr>
            <a:r>
              <a:rPr lang="en-US" sz="1870" dirty="0">
                <a:solidFill>
                  <a:srgbClr val="FFFFFF"/>
                </a:solidFill>
                <a:latin typeface="Quattrocento Sans" pitchFamily="34" charset="0"/>
                <a:ea typeface="Quattrocento Sans" pitchFamily="34" charset="-122"/>
                <a:cs typeface="Quattrocento Sans" pitchFamily="34" charset="-120"/>
              </a:rPr>
              <a:t>监控与收尾</a:t>
            </a:r>
            <a:endParaRPr lang="en-US" sz="1870" dirty="0"/>
          </a:p>
        </p:txBody>
      </p:sp>
      <p:sp>
        <p:nvSpPr>
          <p:cNvPr id="44" name="Shape 41"/>
          <p:cNvSpPr/>
          <p:nvPr/>
        </p:nvSpPr>
        <p:spPr>
          <a:xfrm>
            <a:off x="677291" y="8974709"/>
            <a:ext cx="20320000" cy="2032000"/>
          </a:xfrm>
          <a:prstGeom prst="rect">
            <a:avLst/>
          </a:prstGeom>
          <a:noFill/>
          <a:ln/>
        </p:spPr>
      </p:sp>
      <p:sp>
        <p:nvSpPr>
          <p:cNvPr id="45" name="Text 42"/>
          <p:cNvSpPr/>
          <p:nvPr/>
        </p:nvSpPr>
        <p:spPr>
          <a:xfrm>
            <a:off x="555371" y="8913749"/>
            <a:ext cx="20563840" cy="2153920"/>
          </a:xfrm>
          <a:prstGeom prst="rect">
            <a:avLst/>
          </a:prstGeom>
          <a:noFill/>
          <a:ln/>
        </p:spPr>
        <p:txBody>
          <a:bodyPr wrap="square" lIns="0" tIns="0" rIns="0" bIns="0" rtlCol="0" anchor="t"/>
          <a:lstStyle/>
          <a:p>
            <a:pPr algn="l">
              <a:lnSpc>
                <a:spcPct val="160000"/>
              </a:lnSpc>
            </a:pPr>
            <a:r>
              <a:rPr lang="en-US" sz="2000" b="1" dirty="0">
                <a:solidFill>
                  <a:srgbClr val="2C2C2C"/>
                </a:solidFill>
                <a:latin typeface="Quattrocento Sans" pitchFamily="34" charset="0"/>
                <a:ea typeface="Quattrocento Sans" pitchFamily="34" charset="-122"/>
                <a:cs typeface="Quattrocento Sans" pitchFamily="34" charset="-120"/>
              </a:rPr>
              <a:t>整体变更控制</a:t>
            </a:r>
            <a:r>
              <a:rPr lang="en-US" sz="2000" dirty="0">
                <a:solidFill>
                  <a:srgbClr val="2C2C2C"/>
                </a:solidFill>
                <a:latin typeface="Quattrocento Sans" pitchFamily="34" charset="0"/>
                <a:ea typeface="Quattrocento Sans" pitchFamily="34" charset="-122"/>
                <a:cs typeface="Quattrocento Sans" pitchFamily="34" charset="-120"/>
              </a:rPr>
              <a:t>是项目整体管理的核心环节。任何变更请求都需经过评估、审批和实施监控，确保变更对项目目标的影响可控。变更控制委员会（CCB）负责审批重大变更，项目经理负责日常变更管理。</a:t>
            </a:r>
            <a:endParaRPr lang="en-US" sz="2000" dirty="0"/>
          </a:p>
        </p:txBody>
      </p:sp>
      <p:sp>
        <p:nvSpPr>
          <p:cNvPr id="46" name="Shape 43"/>
          <p:cNvSpPr/>
          <p:nvPr/>
        </p:nvSpPr>
        <p:spPr>
          <a:xfrm>
            <a:off x="20320000" y="11514709"/>
            <a:ext cx="846709" cy="406400"/>
          </a:xfrm>
          <a:prstGeom prst="rect">
            <a:avLst/>
          </a:prstGeom>
          <a:noFill/>
          <a:ln/>
        </p:spPr>
      </p:sp>
      <p:sp>
        <p:nvSpPr>
          <p:cNvPr id="47" name="Text 44"/>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5</a:t>
            </a:r>
            <a:endParaRPr lang="en-US" sz="187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02</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TWO</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项目范围管理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Scope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2.1　范围管理过程</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2.2　WBS与范围变更控制</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6</a:t>
            </a:r>
            <a:endParaRPr lang="en-US" sz="187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02 项目范围管理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范围管理过程</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90091"/>
            <a:ext cx="6197600" cy="4402709"/>
          </a:xfrm>
          <a:prstGeom prst="roundRect">
            <a:avLst>
              <a:gd name="adj" fmla="val 4000"/>
            </a:avLst>
          </a:prstGeom>
          <a:solidFill>
            <a:srgbClr val="1A4A7A"/>
          </a:solidFill>
          <a:ln/>
        </p:spPr>
      </p:sp>
      <p:sp>
        <p:nvSpPr>
          <p:cNvPr id="11" name="Shape 8"/>
          <p:cNvSpPr/>
          <p:nvPr/>
        </p:nvSpPr>
        <p:spPr>
          <a:xfrm>
            <a:off x="677291" y="1625600"/>
            <a:ext cx="6197600" cy="677291"/>
          </a:xfrm>
          <a:prstGeom prst="rect">
            <a:avLst/>
          </a:prstGeom>
          <a:noFill/>
          <a:ln/>
        </p:spPr>
      </p:sp>
      <p:sp>
        <p:nvSpPr>
          <p:cNvPr id="12" name="Text 9"/>
          <p:cNvSpPr/>
          <p:nvPr/>
        </p:nvSpPr>
        <p:spPr>
          <a:xfrm>
            <a:off x="555371" y="1564640"/>
            <a:ext cx="6441440" cy="799211"/>
          </a:xfrm>
          <a:prstGeom prst="rect">
            <a:avLst/>
          </a:prstGeom>
          <a:noFill/>
          <a:ln/>
        </p:spPr>
        <p:txBody>
          <a:bodyPr wrap="none" lIns="0" tIns="0" rIns="0" bIns="0" rtlCol="0" anchor="t"/>
          <a:lstStyle/>
          <a:p>
            <a:pPr algn="ctr">
              <a:lnSpc>
                <a:spcPct val="120000"/>
              </a:lnSpc>
            </a:pPr>
            <a:r>
              <a:rPr lang="en-US" sz="3730" dirty="0">
                <a:solidFill>
                  <a:srgbClr val="FFFFFF"/>
                </a:solidFill>
                <a:latin typeface="Quattrocento Sans" pitchFamily="34" charset="0"/>
                <a:ea typeface="Quattrocento Sans" pitchFamily="34" charset="-122"/>
                <a:cs typeface="Quattrocento Sans" pitchFamily="34" charset="-120"/>
              </a:rPr>
              <a:t>01</a:t>
            </a:r>
            <a:endParaRPr lang="en-US" sz="3730" dirty="0"/>
          </a:p>
        </p:txBody>
      </p:sp>
      <p:sp>
        <p:nvSpPr>
          <p:cNvPr id="13" name="Shape 10"/>
          <p:cNvSpPr/>
          <p:nvPr/>
        </p:nvSpPr>
        <p:spPr>
          <a:xfrm>
            <a:off x="948309" y="2370709"/>
            <a:ext cx="5655691" cy="406400"/>
          </a:xfrm>
          <a:prstGeom prst="rect">
            <a:avLst/>
          </a:prstGeom>
          <a:noFill/>
          <a:ln/>
        </p:spPr>
      </p:sp>
      <p:sp>
        <p:nvSpPr>
          <p:cNvPr id="14" name="Text 11"/>
          <p:cNvSpPr/>
          <p:nvPr/>
        </p:nvSpPr>
        <p:spPr>
          <a:xfrm>
            <a:off x="826389" y="2309749"/>
            <a:ext cx="5899531" cy="528320"/>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范围规划</a:t>
            </a:r>
            <a:endParaRPr lang="en-US" sz="2400" dirty="0"/>
          </a:p>
        </p:txBody>
      </p:sp>
      <p:sp>
        <p:nvSpPr>
          <p:cNvPr id="15" name="Shape 12"/>
          <p:cNvSpPr/>
          <p:nvPr/>
        </p:nvSpPr>
        <p:spPr>
          <a:xfrm>
            <a:off x="948309" y="2912491"/>
            <a:ext cx="5655691" cy="2709291"/>
          </a:xfrm>
          <a:prstGeom prst="rect">
            <a:avLst/>
          </a:prstGeom>
          <a:noFill/>
          <a:ln/>
        </p:spPr>
      </p:sp>
      <p:sp>
        <p:nvSpPr>
          <p:cNvPr id="16" name="Text 13"/>
          <p:cNvSpPr/>
          <p:nvPr/>
        </p:nvSpPr>
        <p:spPr>
          <a:xfrm>
            <a:off x="826389" y="2851531"/>
            <a:ext cx="5899531" cy="28312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制定范围管理计划的过程，明确如何定义、确认和控制项目范围，为后续范围管理活动提供指导框架。</a:t>
            </a:r>
            <a:endParaRPr lang="en-US" sz="2000" dirty="0"/>
          </a:p>
        </p:txBody>
      </p:sp>
      <p:sp>
        <p:nvSpPr>
          <p:cNvPr id="17" name="Shape 14"/>
          <p:cNvSpPr/>
          <p:nvPr/>
        </p:nvSpPr>
        <p:spPr>
          <a:xfrm>
            <a:off x="7738491" y="1490091"/>
            <a:ext cx="6197600" cy="4402709"/>
          </a:xfrm>
          <a:prstGeom prst="roundRect">
            <a:avLst>
              <a:gd name="adj" fmla="val 4000"/>
            </a:avLst>
          </a:prstGeom>
          <a:solidFill>
            <a:srgbClr val="5B9BD5"/>
          </a:solidFill>
          <a:ln/>
        </p:spPr>
      </p:sp>
      <p:sp>
        <p:nvSpPr>
          <p:cNvPr id="18" name="Shape 15"/>
          <p:cNvSpPr/>
          <p:nvPr/>
        </p:nvSpPr>
        <p:spPr>
          <a:xfrm>
            <a:off x="7738491" y="1625600"/>
            <a:ext cx="6197600" cy="677291"/>
          </a:xfrm>
          <a:prstGeom prst="rect">
            <a:avLst/>
          </a:prstGeom>
          <a:noFill/>
          <a:ln/>
        </p:spPr>
      </p:sp>
      <p:sp>
        <p:nvSpPr>
          <p:cNvPr id="19" name="Text 16"/>
          <p:cNvSpPr/>
          <p:nvPr/>
        </p:nvSpPr>
        <p:spPr>
          <a:xfrm>
            <a:off x="7616571" y="1564640"/>
            <a:ext cx="6441440" cy="799211"/>
          </a:xfrm>
          <a:prstGeom prst="rect">
            <a:avLst/>
          </a:prstGeom>
          <a:noFill/>
          <a:ln/>
        </p:spPr>
        <p:txBody>
          <a:bodyPr wrap="none" lIns="0" tIns="0" rIns="0" bIns="0" rtlCol="0" anchor="t"/>
          <a:lstStyle/>
          <a:p>
            <a:pPr algn="ctr">
              <a:lnSpc>
                <a:spcPct val="120000"/>
              </a:lnSpc>
            </a:pPr>
            <a:r>
              <a:rPr lang="en-US" sz="3730" dirty="0">
                <a:solidFill>
                  <a:srgbClr val="FFFFFF"/>
                </a:solidFill>
                <a:latin typeface="Quattrocento Sans" pitchFamily="34" charset="0"/>
                <a:ea typeface="Quattrocento Sans" pitchFamily="34" charset="-122"/>
                <a:cs typeface="Quattrocento Sans" pitchFamily="34" charset="-120"/>
              </a:rPr>
              <a:t>02</a:t>
            </a:r>
            <a:endParaRPr lang="en-US" sz="3730" dirty="0"/>
          </a:p>
        </p:txBody>
      </p:sp>
      <p:sp>
        <p:nvSpPr>
          <p:cNvPr id="20" name="Shape 17"/>
          <p:cNvSpPr/>
          <p:nvPr/>
        </p:nvSpPr>
        <p:spPr>
          <a:xfrm>
            <a:off x="8009509" y="2370709"/>
            <a:ext cx="5655691" cy="406400"/>
          </a:xfrm>
          <a:prstGeom prst="rect">
            <a:avLst/>
          </a:prstGeom>
          <a:noFill/>
          <a:ln/>
        </p:spPr>
      </p:sp>
      <p:sp>
        <p:nvSpPr>
          <p:cNvPr id="21" name="Text 18"/>
          <p:cNvSpPr/>
          <p:nvPr/>
        </p:nvSpPr>
        <p:spPr>
          <a:xfrm>
            <a:off x="7887589" y="2309749"/>
            <a:ext cx="5899531" cy="528320"/>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范围定义</a:t>
            </a:r>
            <a:endParaRPr lang="en-US" sz="2400" dirty="0"/>
          </a:p>
        </p:txBody>
      </p:sp>
      <p:sp>
        <p:nvSpPr>
          <p:cNvPr id="22" name="Shape 19"/>
          <p:cNvSpPr/>
          <p:nvPr/>
        </p:nvSpPr>
        <p:spPr>
          <a:xfrm>
            <a:off x="8009509" y="2912491"/>
            <a:ext cx="5655691" cy="2709291"/>
          </a:xfrm>
          <a:prstGeom prst="rect">
            <a:avLst/>
          </a:prstGeom>
          <a:noFill/>
          <a:ln/>
        </p:spPr>
      </p:sp>
      <p:sp>
        <p:nvSpPr>
          <p:cNvPr id="23" name="Text 20"/>
          <p:cNvSpPr/>
          <p:nvPr/>
        </p:nvSpPr>
        <p:spPr>
          <a:xfrm>
            <a:off x="7887589" y="2851531"/>
            <a:ext cx="5899531" cy="28312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明确项目和产品范围，生成详细项目范围说明书的过程。细化项目目标，确定项目边界，为项目实施提供明确方向。</a:t>
            </a:r>
            <a:endParaRPr lang="en-US" sz="2000" dirty="0"/>
          </a:p>
        </p:txBody>
      </p:sp>
      <p:sp>
        <p:nvSpPr>
          <p:cNvPr id="24" name="Shape 21"/>
          <p:cNvSpPr/>
          <p:nvPr/>
        </p:nvSpPr>
        <p:spPr>
          <a:xfrm>
            <a:off x="14799691" y="1490091"/>
            <a:ext cx="6197600" cy="4402709"/>
          </a:xfrm>
          <a:prstGeom prst="roundRect">
            <a:avLst>
              <a:gd name="adj" fmla="val 4000"/>
            </a:avLst>
          </a:prstGeom>
          <a:solidFill>
            <a:srgbClr val="2E86C1"/>
          </a:solidFill>
          <a:ln/>
        </p:spPr>
      </p:sp>
      <p:sp>
        <p:nvSpPr>
          <p:cNvPr id="25" name="Shape 22"/>
          <p:cNvSpPr/>
          <p:nvPr/>
        </p:nvSpPr>
        <p:spPr>
          <a:xfrm>
            <a:off x="14799691" y="1625600"/>
            <a:ext cx="6197600" cy="677291"/>
          </a:xfrm>
          <a:prstGeom prst="rect">
            <a:avLst/>
          </a:prstGeom>
          <a:noFill/>
          <a:ln/>
        </p:spPr>
      </p:sp>
      <p:sp>
        <p:nvSpPr>
          <p:cNvPr id="26" name="Text 23"/>
          <p:cNvSpPr/>
          <p:nvPr/>
        </p:nvSpPr>
        <p:spPr>
          <a:xfrm>
            <a:off x="14677771" y="1564640"/>
            <a:ext cx="6441440" cy="799211"/>
          </a:xfrm>
          <a:prstGeom prst="rect">
            <a:avLst/>
          </a:prstGeom>
          <a:noFill/>
          <a:ln/>
        </p:spPr>
        <p:txBody>
          <a:bodyPr wrap="none" lIns="0" tIns="0" rIns="0" bIns="0" rtlCol="0" anchor="t"/>
          <a:lstStyle/>
          <a:p>
            <a:pPr algn="ctr">
              <a:lnSpc>
                <a:spcPct val="120000"/>
              </a:lnSpc>
            </a:pPr>
            <a:r>
              <a:rPr lang="en-US" sz="3730" dirty="0">
                <a:solidFill>
                  <a:srgbClr val="FFFFFF"/>
                </a:solidFill>
                <a:latin typeface="Quattrocento Sans" pitchFamily="34" charset="0"/>
                <a:ea typeface="Quattrocento Sans" pitchFamily="34" charset="-122"/>
                <a:cs typeface="Quattrocento Sans" pitchFamily="34" charset="-120"/>
              </a:rPr>
              <a:t>03</a:t>
            </a:r>
            <a:endParaRPr lang="en-US" sz="3730" dirty="0"/>
          </a:p>
        </p:txBody>
      </p:sp>
      <p:sp>
        <p:nvSpPr>
          <p:cNvPr id="27" name="Shape 24"/>
          <p:cNvSpPr/>
          <p:nvPr/>
        </p:nvSpPr>
        <p:spPr>
          <a:xfrm>
            <a:off x="15070709" y="2370709"/>
            <a:ext cx="5655691" cy="406400"/>
          </a:xfrm>
          <a:prstGeom prst="rect">
            <a:avLst/>
          </a:prstGeom>
          <a:noFill/>
          <a:ln/>
        </p:spPr>
      </p:sp>
      <p:sp>
        <p:nvSpPr>
          <p:cNvPr id="28" name="Text 25"/>
          <p:cNvSpPr/>
          <p:nvPr/>
        </p:nvSpPr>
        <p:spPr>
          <a:xfrm>
            <a:off x="14948789" y="2309749"/>
            <a:ext cx="5899531" cy="528320"/>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制作WBS</a:t>
            </a:r>
            <a:endParaRPr lang="en-US" sz="2400" dirty="0"/>
          </a:p>
        </p:txBody>
      </p:sp>
      <p:sp>
        <p:nvSpPr>
          <p:cNvPr id="29" name="Shape 26"/>
          <p:cNvSpPr/>
          <p:nvPr/>
        </p:nvSpPr>
        <p:spPr>
          <a:xfrm>
            <a:off x="15070709" y="2912491"/>
            <a:ext cx="5655691" cy="2709291"/>
          </a:xfrm>
          <a:prstGeom prst="rect">
            <a:avLst/>
          </a:prstGeom>
          <a:noFill/>
          <a:ln/>
        </p:spPr>
      </p:sp>
      <p:sp>
        <p:nvSpPr>
          <p:cNvPr id="30" name="Text 27"/>
          <p:cNvSpPr/>
          <p:nvPr/>
        </p:nvSpPr>
        <p:spPr>
          <a:xfrm>
            <a:off x="14948789" y="2851531"/>
            <a:ext cx="5899531" cy="28312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将项目范围分解为可管理的工作包的过程。WBS是项目工作层次化分解，反映项目范围，有助于组织和定义项目工作。</a:t>
            </a:r>
            <a:endParaRPr lang="en-US" sz="2000" dirty="0"/>
          </a:p>
        </p:txBody>
      </p:sp>
      <p:sp>
        <p:nvSpPr>
          <p:cNvPr id="31" name="Shape 28"/>
          <p:cNvSpPr/>
          <p:nvPr/>
        </p:nvSpPr>
        <p:spPr>
          <a:xfrm>
            <a:off x="677291" y="6265291"/>
            <a:ext cx="6773291" cy="474091"/>
          </a:xfrm>
          <a:prstGeom prst="rect">
            <a:avLst/>
          </a:prstGeom>
          <a:noFill/>
          <a:ln/>
        </p:spPr>
      </p:sp>
      <p:sp>
        <p:nvSpPr>
          <p:cNvPr id="32" name="Text 29"/>
          <p:cNvSpPr/>
          <p:nvPr/>
        </p:nvSpPr>
        <p:spPr>
          <a:xfrm>
            <a:off x="555371" y="6204331"/>
            <a:ext cx="7017131" cy="596011"/>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WBS的重要性</a:t>
            </a:r>
            <a:endParaRPr lang="en-US" sz="2400" dirty="0"/>
          </a:p>
        </p:txBody>
      </p:sp>
      <p:sp>
        <p:nvSpPr>
          <p:cNvPr id="33" name="Shape 30"/>
          <p:cNvSpPr/>
          <p:nvPr/>
        </p:nvSpPr>
        <p:spPr>
          <a:xfrm>
            <a:off x="677291" y="6807200"/>
            <a:ext cx="20320000" cy="16891"/>
          </a:xfrm>
          <a:prstGeom prst="rect">
            <a:avLst/>
          </a:prstGeom>
          <a:solidFill>
            <a:srgbClr val="E0E0E0"/>
          </a:solidFill>
          <a:ln/>
        </p:spPr>
      </p:sp>
      <p:sp>
        <p:nvSpPr>
          <p:cNvPr id="34" name="Shape 31"/>
          <p:cNvSpPr/>
          <p:nvPr/>
        </p:nvSpPr>
        <p:spPr>
          <a:xfrm>
            <a:off x="677291" y="7044309"/>
            <a:ext cx="6316091" cy="3894709"/>
          </a:xfrm>
          <a:prstGeom prst="roundRect">
            <a:avLst>
              <a:gd name="adj" fmla="val 4000"/>
            </a:avLst>
          </a:prstGeom>
          <a:solidFill>
            <a:srgbClr val="F5F5F5"/>
          </a:solidFill>
          <a:ln/>
        </p:spPr>
      </p:sp>
      <p:sp>
        <p:nvSpPr>
          <p:cNvPr id="35" name="Shape 32"/>
          <p:cNvSpPr/>
          <p:nvPr/>
        </p:nvSpPr>
        <p:spPr>
          <a:xfrm>
            <a:off x="1016000" y="7281291"/>
            <a:ext cx="541909" cy="541909"/>
          </a:xfrm>
          <a:custGeom>
            <a:avLst/>
            <a:gdLst/>
            <a:ahLst/>
            <a:cxnLst/>
            <a:rect l="l" t="t" r="r" b="b"/>
            <a:pathLst>
              <a:path w="541909" h="541909">
                <a:moveTo>
                  <a:pt x="203216" y="67739"/>
                </a:moveTo>
                <a:cubicBezTo>
                  <a:pt x="203216" y="49005"/>
                  <a:pt x="218352" y="33869"/>
                  <a:pt x="237085" y="33869"/>
                </a:cubicBezTo>
                <a:lnTo>
                  <a:pt x="304824" y="33869"/>
                </a:lnTo>
                <a:cubicBezTo>
                  <a:pt x="323557" y="33869"/>
                  <a:pt x="338693" y="49005"/>
                  <a:pt x="338693" y="67739"/>
                </a:cubicBezTo>
                <a:lnTo>
                  <a:pt x="338693" y="135477"/>
                </a:lnTo>
                <a:cubicBezTo>
                  <a:pt x="338693" y="154211"/>
                  <a:pt x="323557" y="169347"/>
                  <a:pt x="304824" y="169347"/>
                </a:cubicBezTo>
                <a:lnTo>
                  <a:pt x="296356" y="169347"/>
                </a:lnTo>
                <a:lnTo>
                  <a:pt x="296356" y="237085"/>
                </a:lnTo>
                <a:lnTo>
                  <a:pt x="423366" y="237085"/>
                </a:lnTo>
                <a:cubicBezTo>
                  <a:pt x="465491" y="237085"/>
                  <a:pt x="499572" y="271167"/>
                  <a:pt x="499572" y="313291"/>
                </a:cubicBezTo>
                <a:lnTo>
                  <a:pt x="499572" y="372562"/>
                </a:lnTo>
                <a:lnTo>
                  <a:pt x="508040" y="372562"/>
                </a:lnTo>
                <a:cubicBezTo>
                  <a:pt x="526773" y="372562"/>
                  <a:pt x="541909" y="387698"/>
                  <a:pt x="541909" y="406432"/>
                </a:cubicBezTo>
                <a:lnTo>
                  <a:pt x="541909" y="474170"/>
                </a:lnTo>
                <a:cubicBezTo>
                  <a:pt x="541909" y="492904"/>
                  <a:pt x="526773" y="508040"/>
                  <a:pt x="508040" y="508040"/>
                </a:cubicBezTo>
                <a:lnTo>
                  <a:pt x="440301" y="508040"/>
                </a:lnTo>
                <a:cubicBezTo>
                  <a:pt x="421568" y="508040"/>
                  <a:pt x="406432" y="492904"/>
                  <a:pt x="406432" y="474170"/>
                </a:cubicBezTo>
                <a:lnTo>
                  <a:pt x="406432" y="406432"/>
                </a:lnTo>
                <a:cubicBezTo>
                  <a:pt x="406432" y="387698"/>
                  <a:pt x="421568" y="372562"/>
                  <a:pt x="440301" y="372562"/>
                </a:cubicBezTo>
                <a:lnTo>
                  <a:pt x="448768" y="372562"/>
                </a:lnTo>
                <a:lnTo>
                  <a:pt x="448768" y="313291"/>
                </a:lnTo>
                <a:cubicBezTo>
                  <a:pt x="448768" y="299214"/>
                  <a:pt x="437444" y="287889"/>
                  <a:pt x="423366" y="287889"/>
                </a:cubicBezTo>
                <a:lnTo>
                  <a:pt x="296356" y="287889"/>
                </a:lnTo>
                <a:lnTo>
                  <a:pt x="296356" y="372562"/>
                </a:lnTo>
                <a:lnTo>
                  <a:pt x="304824" y="372562"/>
                </a:lnTo>
                <a:cubicBezTo>
                  <a:pt x="323557" y="372562"/>
                  <a:pt x="338693" y="387698"/>
                  <a:pt x="338693" y="406432"/>
                </a:cubicBezTo>
                <a:lnTo>
                  <a:pt x="338693" y="474170"/>
                </a:lnTo>
                <a:cubicBezTo>
                  <a:pt x="338693" y="492904"/>
                  <a:pt x="323557" y="508040"/>
                  <a:pt x="304824" y="508040"/>
                </a:cubicBezTo>
                <a:lnTo>
                  <a:pt x="237085" y="508040"/>
                </a:lnTo>
                <a:cubicBezTo>
                  <a:pt x="218352" y="508040"/>
                  <a:pt x="203216" y="492904"/>
                  <a:pt x="203216" y="474170"/>
                </a:cubicBezTo>
                <a:lnTo>
                  <a:pt x="203216" y="406432"/>
                </a:lnTo>
                <a:cubicBezTo>
                  <a:pt x="203216" y="387698"/>
                  <a:pt x="218352" y="372562"/>
                  <a:pt x="237085" y="372562"/>
                </a:cubicBezTo>
                <a:lnTo>
                  <a:pt x="245553" y="372562"/>
                </a:lnTo>
                <a:lnTo>
                  <a:pt x="245553" y="287889"/>
                </a:lnTo>
                <a:lnTo>
                  <a:pt x="118543" y="287889"/>
                </a:lnTo>
                <a:cubicBezTo>
                  <a:pt x="104465" y="287889"/>
                  <a:pt x="93141" y="299214"/>
                  <a:pt x="93141" y="313291"/>
                </a:cubicBezTo>
                <a:lnTo>
                  <a:pt x="93141" y="372562"/>
                </a:lnTo>
                <a:lnTo>
                  <a:pt x="101608" y="372562"/>
                </a:lnTo>
                <a:cubicBezTo>
                  <a:pt x="120341" y="372562"/>
                  <a:pt x="135477" y="387698"/>
                  <a:pt x="135477" y="406432"/>
                </a:cubicBezTo>
                <a:lnTo>
                  <a:pt x="135477" y="474170"/>
                </a:lnTo>
                <a:cubicBezTo>
                  <a:pt x="135477" y="492904"/>
                  <a:pt x="120341" y="508040"/>
                  <a:pt x="101608" y="508040"/>
                </a:cubicBezTo>
                <a:lnTo>
                  <a:pt x="33869" y="508040"/>
                </a:lnTo>
                <a:cubicBezTo>
                  <a:pt x="15136" y="508040"/>
                  <a:pt x="0" y="492904"/>
                  <a:pt x="0" y="474170"/>
                </a:cubicBezTo>
                <a:lnTo>
                  <a:pt x="0" y="406432"/>
                </a:lnTo>
                <a:cubicBezTo>
                  <a:pt x="0" y="387698"/>
                  <a:pt x="15136" y="372562"/>
                  <a:pt x="33869" y="372562"/>
                </a:cubicBezTo>
                <a:lnTo>
                  <a:pt x="42337" y="372562"/>
                </a:lnTo>
                <a:lnTo>
                  <a:pt x="42337" y="313291"/>
                </a:lnTo>
                <a:cubicBezTo>
                  <a:pt x="42337" y="271167"/>
                  <a:pt x="76418" y="237085"/>
                  <a:pt x="118543" y="237085"/>
                </a:cubicBezTo>
                <a:lnTo>
                  <a:pt x="245553" y="237085"/>
                </a:lnTo>
                <a:lnTo>
                  <a:pt x="245553" y="169347"/>
                </a:lnTo>
                <a:lnTo>
                  <a:pt x="237085" y="169347"/>
                </a:lnTo>
                <a:cubicBezTo>
                  <a:pt x="218352" y="169347"/>
                  <a:pt x="203216" y="154211"/>
                  <a:pt x="203216" y="135477"/>
                </a:cubicBezTo>
                <a:lnTo>
                  <a:pt x="203216" y="67739"/>
                </a:lnTo>
                <a:close/>
              </a:path>
            </a:pathLst>
          </a:custGeom>
          <a:solidFill>
            <a:srgbClr val="1A4A7A"/>
          </a:solidFill>
          <a:ln/>
        </p:spPr>
      </p:sp>
      <p:sp>
        <p:nvSpPr>
          <p:cNvPr id="36" name="Shape 33"/>
          <p:cNvSpPr/>
          <p:nvPr/>
        </p:nvSpPr>
        <p:spPr>
          <a:xfrm>
            <a:off x="1727200" y="7281291"/>
            <a:ext cx="4910709" cy="474091"/>
          </a:xfrm>
          <a:prstGeom prst="rect">
            <a:avLst/>
          </a:prstGeom>
          <a:noFill/>
          <a:ln/>
        </p:spPr>
      </p:sp>
      <p:sp>
        <p:nvSpPr>
          <p:cNvPr id="37" name="Text 34"/>
          <p:cNvSpPr/>
          <p:nvPr/>
        </p:nvSpPr>
        <p:spPr>
          <a:xfrm>
            <a:off x="1605280" y="7220331"/>
            <a:ext cx="5154549" cy="596011"/>
          </a:xfrm>
          <a:prstGeom prst="rect">
            <a:avLst/>
          </a:prstGeom>
          <a:noFill/>
          <a:ln/>
        </p:spPr>
        <p:txBody>
          <a:bodyPr wrap="none" lIns="0" tIns="0" rIns="0" bIns="0" rtlCol="0" anchor="ctr"/>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组织项目工作</a:t>
            </a:r>
            <a:endParaRPr lang="en-US" sz="2130" dirty="0"/>
          </a:p>
        </p:txBody>
      </p:sp>
      <p:sp>
        <p:nvSpPr>
          <p:cNvPr id="38" name="Shape 35"/>
          <p:cNvSpPr/>
          <p:nvPr/>
        </p:nvSpPr>
        <p:spPr>
          <a:xfrm>
            <a:off x="1016000" y="7958709"/>
            <a:ext cx="5706491" cy="2709291"/>
          </a:xfrm>
          <a:prstGeom prst="rect">
            <a:avLst/>
          </a:prstGeom>
          <a:noFill/>
          <a:ln/>
        </p:spPr>
      </p:sp>
      <p:sp>
        <p:nvSpPr>
          <p:cNvPr id="39" name="Text 36"/>
          <p:cNvSpPr/>
          <p:nvPr/>
        </p:nvSpPr>
        <p:spPr>
          <a:xfrm>
            <a:off x="894080" y="7897749"/>
            <a:ext cx="5950331" cy="2831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WBS有机地组织项目工作，将项目分解成较小、易于管理的部分，便于项目团队理解和执行，提高项目管理效率。</a:t>
            </a:r>
            <a:endParaRPr lang="en-US" sz="2000" dirty="0"/>
          </a:p>
        </p:txBody>
      </p:sp>
      <p:sp>
        <p:nvSpPr>
          <p:cNvPr id="40" name="Shape 37"/>
          <p:cNvSpPr/>
          <p:nvPr/>
        </p:nvSpPr>
        <p:spPr>
          <a:xfrm>
            <a:off x="7670800" y="7044309"/>
            <a:ext cx="6333109" cy="3894709"/>
          </a:xfrm>
          <a:prstGeom prst="roundRect">
            <a:avLst>
              <a:gd name="adj" fmla="val 4000"/>
            </a:avLst>
          </a:prstGeom>
          <a:solidFill>
            <a:srgbClr val="F5F5F5"/>
          </a:solidFill>
          <a:ln/>
        </p:spPr>
      </p:sp>
      <p:sp>
        <p:nvSpPr>
          <p:cNvPr id="41" name="Shape 38"/>
          <p:cNvSpPr/>
          <p:nvPr/>
        </p:nvSpPr>
        <p:spPr>
          <a:xfrm>
            <a:off x="8009509" y="7281291"/>
            <a:ext cx="541909" cy="541909"/>
          </a:xfrm>
          <a:custGeom>
            <a:avLst/>
            <a:gdLst/>
            <a:ahLst/>
            <a:cxnLst/>
            <a:rect l="l" t="t" r="r" b="b"/>
            <a:pathLst>
              <a:path w="541909" h="541909">
                <a:moveTo>
                  <a:pt x="0" y="67739"/>
                </a:moveTo>
                <a:cubicBezTo>
                  <a:pt x="0" y="30377"/>
                  <a:pt x="40502" y="0"/>
                  <a:pt x="90318" y="0"/>
                </a:cubicBezTo>
                <a:lnTo>
                  <a:pt x="301296" y="0"/>
                </a:lnTo>
                <a:cubicBezTo>
                  <a:pt x="325287" y="0"/>
                  <a:pt x="348290" y="7091"/>
                  <a:pt x="365225" y="19792"/>
                </a:cubicBezTo>
                <a:lnTo>
                  <a:pt x="515519" y="132620"/>
                </a:lnTo>
                <a:cubicBezTo>
                  <a:pt x="532454" y="145321"/>
                  <a:pt x="541909" y="162573"/>
                  <a:pt x="541909" y="180566"/>
                </a:cubicBezTo>
                <a:lnTo>
                  <a:pt x="541909" y="474170"/>
                </a:lnTo>
                <a:cubicBezTo>
                  <a:pt x="541909" y="511532"/>
                  <a:pt x="501407" y="541909"/>
                  <a:pt x="451591" y="541909"/>
                </a:cubicBezTo>
                <a:lnTo>
                  <a:pt x="90318" y="541909"/>
                </a:lnTo>
                <a:cubicBezTo>
                  <a:pt x="40502" y="541909"/>
                  <a:pt x="0" y="511532"/>
                  <a:pt x="0" y="474170"/>
                </a:cubicBezTo>
                <a:lnTo>
                  <a:pt x="0" y="67739"/>
                </a:lnTo>
                <a:close/>
                <a:moveTo>
                  <a:pt x="293534" y="61917"/>
                </a:moveTo>
                <a:lnTo>
                  <a:pt x="293534" y="160879"/>
                </a:lnTo>
                <a:cubicBezTo>
                  <a:pt x="293534" y="174956"/>
                  <a:pt x="308633" y="186281"/>
                  <a:pt x="327403" y="186281"/>
                </a:cubicBezTo>
                <a:lnTo>
                  <a:pt x="459352" y="186281"/>
                </a:lnTo>
                <a:lnTo>
                  <a:pt x="293534" y="61917"/>
                </a:lnTo>
                <a:close/>
                <a:moveTo>
                  <a:pt x="169347" y="270955"/>
                </a:moveTo>
                <a:cubicBezTo>
                  <a:pt x="150577" y="270955"/>
                  <a:pt x="135477" y="282279"/>
                  <a:pt x="135477" y="296356"/>
                </a:cubicBezTo>
                <a:cubicBezTo>
                  <a:pt x="135477" y="310434"/>
                  <a:pt x="150577" y="321758"/>
                  <a:pt x="169347" y="321758"/>
                </a:cubicBezTo>
                <a:lnTo>
                  <a:pt x="372562" y="321758"/>
                </a:lnTo>
                <a:cubicBezTo>
                  <a:pt x="391332" y="321758"/>
                  <a:pt x="406432" y="310434"/>
                  <a:pt x="406432" y="296356"/>
                </a:cubicBezTo>
                <a:cubicBezTo>
                  <a:pt x="406432" y="282279"/>
                  <a:pt x="391332" y="270955"/>
                  <a:pt x="372562" y="270955"/>
                </a:cubicBezTo>
                <a:lnTo>
                  <a:pt x="169347" y="270955"/>
                </a:lnTo>
                <a:close/>
                <a:moveTo>
                  <a:pt x="169347" y="372562"/>
                </a:moveTo>
                <a:cubicBezTo>
                  <a:pt x="150577" y="372562"/>
                  <a:pt x="135477" y="383887"/>
                  <a:pt x="135477" y="397964"/>
                </a:cubicBezTo>
                <a:cubicBezTo>
                  <a:pt x="135477" y="412042"/>
                  <a:pt x="150577" y="423366"/>
                  <a:pt x="169347" y="423366"/>
                </a:cubicBezTo>
                <a:lnTo>
                  <a:pt x="372562" y="423366"/>
                </a:lnTo>
                <a:cubicBezTo>
                  <a:pt x="391332" y="423366"/>
                  <a:pt x="406432" y="412042"/>
                  <a:pt x="406432" y="397964"/>
                </a:cubicBezTo>
                <a:cubicBezTo>
                  <a:pt x="406432" y="383887"/>
                  <a:pt x="391332" y="372562"/>
                  <a:pt x="372562" y="372562"/>
                </a:cubicBezTo>
                <a:lnTo>
                  <a:pt x="169347" y="372562"/>
                </a:lnTo>
                <a:close/>
              </a:path>
            </a:pathLst>
          </a:custGeom>
          <a:solidFill>
            <a:srgbClr val="5B9BD5"/>
          </a:solidFill>
          <a:ln/>
        </p:spPr>
      </p:sp>
      <p:sp>
        <p:nvSpPr>
          <p:cNvPr id="42" name="Shape 39"/>
          <p:cNvSpPr/>
          <p:nvPr/>
        </p:nvSpPr>
        <p:spPr>
          <a:xfrm>
            <a:off x="8720709" y="7281291"/>
            <a:ext cx="4910709" cy="474091"/>
          </a:xfrm>
          <a:prstGeom prst="rect">
            <a:avLst/>
          </a:prstGeom>
          <a:noFill/>
          <a:ln/>
        </p:spPr>
      </p:sp>
      <p:sp>
        <p:nvSpPr>
          <p:cNvPr id="43" name="Text 40"/>
          <p:cNvSpPr/>
          <p:nvPr/>
        </p:nvSpPr>
        <p:spPr>
          <a:xfrm>
            <a:off x="8598789" y="7220331"/>
            <a:ext cx="5154549" cy="596011"/>
          </a:xfrm>
          <a:prstGeom prst="rect">
            <a:avLst/>
          </a:prstGeom>
          <a:noFill/>
          <a:ln/>
        </p:spPr>
        <p:txBody>
          <a:bodyPr wrap="none" lIns="0" tIns="0" rIns="0" bIns="0" rtlCol="0" anchor="ctr"/>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提供详细信息</a:t>
            </a:r>
            <a:endParaRPr lang="en-US" sz="2130" dirty="0"/>
          </a:p>
        </p:txBody>
      </p:sp>
      <p:sp>
        <p:nvSpPr>
          <p:cNvPr id="44" name="Shape 41"/>
          <p:cNvSpPr/>
          <p:nvPr/>
        </p:nvSpPr>
        <p:spPr>
          <a:xfrm>
            <a:off x="8009509" y="7958709"/>
            <a:ext cx="5723509" cy="2709291"/>
          </a:xfrm>
          <a:prstGeom prst="rect">
            <a:avLst/>
          </a:prstGeom>
          <a:noFill/>
          <a:ln/>
        </p:spPr>
      </p:sp>
      <p:sp>
        <p:nvSpPr>
          <p:cNvPr id="45" name="Text 42"/>
          <p:cNvSpPr/>
          <p:nvPr/>
        </p:nvSpPr>
        <p:spPr>
          <a:xfrm>
            <a:off x="7887589" y="7897749"/>
            <a:ext cx="5967349" cy="2831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WBS提供工作说明、可交付成果、活动清单、里程碑、资源需求、费用和合同信息等详细内容，为项目实施提供全面指导。</a:t>
            </a:r>
            <a:endParaRPr lang="en-US" sz="2000" dirty="0"/>
          </a:p>
        </p:txBody>
      </p:sp>
      <p:sp>
        <p:nvSpPr>
          <p:cNvPr id="46" name="Shape 43"/>
          <p:cNvSpPr/>
          <p:nvPr/>
        </p:nvSpPr>
        <p:spPr>
          <a:xfrm>
            <a:off x="14681200" y="7044309"/>
            <a:ext cx="6316091" cy="3894709"/>
          </a:xfrm>
          <a:prstGeom prst="roundRect">
            <a:avLst>
              <a:gd name="adj" fmla="val 4000"/>
            </a:avLst>
          </a:prstGeom>
          <a:solidFill>
            <a:srgbClr val="F5F5F5"/>
          </a:solidFill>
          <a:ln/>
        </p:spPr>
      </p:sp>
      <p:sp>
        <p:nvSpPr>
          <p:cNvPr id="47" name="Shape 44"/>
          <p:cNvSpPr/>
          <p:nvPr/>
        </p:nvSpPr>
        <p:spPr>
          <a:xfrm>
            <a:off x="15019909" y="7281291"/>
            <a:ext cx="541909" cy="541909"/>
          </a:xfrm>
          <a:custGeom>
            <a:avLst/>
            <a:gdLst/>
            <a:ahLst/>
            <a:cxnLst/>
            <a:rect l="l" t="t" r="r" b="b"/>
            <a:pathLst>
              <a:path w="541909" h="541909">
                <a:moveTo>
                  <a:pt x="270955" y="0"/>
                </a:moveTo>
                <a:cubicBezTo>
                  <a:pt x="275823" y="0"/>
                  <a:pt x="280693" y="1059"/>
                  <a:pt x="285137" y="3070"/>
                </a:cubicBezTo>
                <a:lnTo>
                  <a:pt x="484543" y="87638"/>
                </a:lnTo>
                <a:cubicBezTo>
                  <a:pt x="507828" y="97480"/>
                  <a:pt x="525186" y="120448"/>
                  <a:pt x="525080" y="148178"/>
                </a:cubicBezTo>
                <a:cubicBezTo>
                  <a:pt x="524552" y="253173"/>
                  <a:pt x="481368" y="445276"/>
                  <a:pt x="299002" y="532595"/>
                </a:cubicBezTo>
                <a:cubicBezTo>
                  <a:pt x="281327" y="541062"/>
                  <a:pt x="260794" y="541062"/>
                  <a:pt x="243118" y="532595"/>
                </a:cubicBezTo>
                <a:cubicBezTo>
                  <a:pt x="60647" y="445276"/>
                  <a:pt x="17569" y="253173"/>
                  <a:pt x="17040" y="148178"/>
                </a:cubicBezTo>
                <a:cubicBezTo>
                  <a:pt x="16935" y="120448"/>
                  <a:pt x="34292" y="97480"/>
                  <a:pt x="57578" y="87638"/>
                </a:cubicBezTo>
                <a:lnTo>
                  <a:pt x="256877" y="3070"/>
                </a:lnTo>
                <a:cubicBezTo>
                  <a:pt x="261323" y="1059"/>
                  <a:pt x="266086" y="0"/>
                  <a:pt x="270955" y="0"/>
                </a:cubicBezTo>
                <a:close/>
                <a:moveTo>
                  <a:pt x="270955" y="70702"/>
                </a:moveTo>
                <a:lnTo>
                  <a:pt x="270955" y="470889"/>
                </a:lnTo>
                <a:cubicBezTo>
                  <a:pt x="417017" y="400187"/>
                  <a:pt x="456284" y="243542"/>
                  <a:pt x="457236" y="149766"/>
                </a:cubicBezTo>
                <a:lnTo>
                  <a:pt x="270955" y="70808"/>
                </a:lnTo>
                <a:lnTo>
                  <a:pt x="270955" y="70808"/>
                </a:lnTo>
                <a:close/>
              </a:path>
            </a:pathLst>
          </a:custGeom>
          <a:solidFill>
            <a:srgbClr val="2E86C1"/>
          </a:solidFill>
          <a:ln/>
        </p:spPr>
      </p:sp>
      <p:sp>
        <p:nvSpPr>
          <p:cNvPr id="48" name="Shape 45"/>
          <p:cNvSpPr/>
          <p:nvPr/>
        </p:nvSpPr>
        <p:spPr>
          <a:xfrm>
            <a:off x="15731109" y="7281291"/>
            <a:ext cx="4910709" cy="474091"/>
          </a:xfrm>
          <a:prstGeom prst="rect">
            <a:avLst/>
          </a:prstGeom>
          <a:noFill/>
          <a:ln/>
        </p:spPr>
      </p:sp>
      <p:sp>
        <p:nvSpPr>
          <p:cNvPr id="49" name="Text 46"/>
          <p:cNvSpPr/>
          <p:nvPr/>
        </p:nvSpPr>
        <p:spPr>
          <a:xfrm>
            <a:off x="15609189" y="7220331"/>
            <a:ext cx="5154549" cy="596011"/>
          </a:xfrm>
          <a:prstGeom prst="rect">
            <a:avLst/>
          </a:prstGeom>
          <a:noFill/>
          <a:ln/>
        </p:spPr>
        <p:txBody>
          <a:bodyPr wrap="none" lIns="0" tIns="0" rIns="0" bIns="0" rtlCol="0" anchor="ctr"/>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控制项目范围</a:t>
            </a:r>
            <a:endParaRPr lang="en-US" sz="2130" dirty="0"/>
          </a:p>
        </p:txBody>
      </p:sp>
      <p:sp>
        <p:nvSpPr>
          <p:cNvPr id="50" name="Shape 47"/>
          <p:cNvSpPr/>
          <p:nvPr/>
        </p:nvSpPr>
        <p:spPr>
          <a:xfrm>
            <a:off x="15019909" y="7958709"/>
            <a:ext cx="5706491" cy="2709291"/>
          </a:xfrm>
          <a:prstGeom prst="rect">
            <a:avLst/>
          </a:prstGeom>
          <a:noFill/>
          <a:ln/>
        </p:spPr>
      </p:sp>
      <p:sp>
        <p:nvSpPr>
          <p:cNvPr id="51" name="Text 48"/>
          <p:cNvSpPr/>
          <p:nvPr/>
        </p:nvSpPr>
        <p:spPr>
          <a:xfrm>
            <a:off x="14897989" y="7897749"/>
            <a:ext cx="5950331" cy="2831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WBS是控制项目范围的重要工具，通过监控WBS中的工作包，及时发现范围偏差，采取措施纠正，确保项目按计划进行。</a:t>
            </a:r>
            <a:endParaRPr lang="en-US" sz="2000" dirty="0"/>
          </a:p>
        </p:txBody>
      </p:sp>
      <p:sp>
        <p:nvSpPr>
          <p:cNvPr id="52" name="Shape 49"/>
          <p:cNvSpPr/>
          <p:nvPr/>
        </p:nvSpPr>
        <p:spPr>
          <a:xfrm>
            <a:off x="20320000" y="11514709"/>
            <a:ext cx="846709" cy="406400"/>
          </a:xfrm>
          <a:prstGeom prst="rect">
            <a:avLst/>
          </a:prstGeom>
          <a:noFill/>
          <a:ln/>
        </p:spPr>
      </p:sp>
      <p:sp>
        <p:nvSpPr>
          <p:cNvPr id="53" name="Text 50"/>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7</a:t>
            </a:r>
            <a:endParaRPr lang="en-US" sz="187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02 项目范围管理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WBS核心原则与范围变更控制</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22400"/>
            <a:ext cx="9736709" cy="643509"/>
          </a:xfrm>
          <a:prstGeom prst="roundRect">
            <a:avLst>
              <a:gd name="adj" fmla="val 4000"/>
            </a:avLst>
          </a:prstGeom>
          <a:solidFill>
            <a:srgbClr val="1A4A7A"/>
          </a:solidFill>
          <a:ln/>
        </p:spPr>
      </p:sp>
      <p:sp>
        <p:nvSpPr>
          <p:cNvPr id="11" name="Shape 8"/>
          <p:cNvSpPr/>
          <p:nvPr/>
        </p:nvSpPr>
        <p:spPr>
          <a:xfrm>
            <a:off x="677291" y="1422400"/>
            <a:ext cx="9736709" cy="643509"/>
          </a:xfrm>
          <a:prstGeom prst="rect">
            <a:avLst/>
          </a:prstGeom>
          <a:noFill/>
          <a:ln/>
        </p:spPr>
      </p:sp>
      <p:sp>
        <p:nvSpPr>
          <p:cNvPr id="12" name="Text 9"/>
          <p:cNvSpPr/>
          <p:nvPr/>
        </p:nvSpPr>
        <p:spPr>
          <a:xfrm>
            <a:off x="555371" y="1361440"/>
            <a:ext cx="9980549" cy="765429"/>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Quattrocento Sans" pitchFamily="34" charset="0"/>
                <a:ea typeface="Quattrocento Sans" pitchFamily="34" charset="-122"/>
                <a:cs typeface="Quattrocento Sans" pitchFamily="34" charset="-120"/>
              </a:rPr>
              <a:t>WBS核心原则</a:t>
            </a:r>
            <a:endParaRPr lang="en-US" sz="2000" dirty="0"/>
          </a:p>
        </p:txBody>
      </p:sp>
      <p:sp>
        <p:nvSpPr>
          <p:cNvPr id="13" name="Shape 10"/>
          <p:cNvSpPr/>
          <p:nvPr/>
        </p:nvSpPr>
        <p:spPr>
          <a:xfrm>
            <a:off x="677291" y="2065909"/>
            <a:ext cx="9736709" cy="8974709"/>
          </a:xfrm>
          <a:prstGeom prst="roundRect">
            <a:avLst>
              <a:gd name="adj" fmla="val 4000"/>
            </a:avLst>
          </a:prstGeom>
          <a:solidFill>
            <a:srgbClr val="F5F5F5"/>
          </a:solidFill>
          <a:ln/>
        </p:spPr>
      </p:sp>
      <p:sp>
        <p:nvSpPr>
          <p:cNvPr id="14" name="Shape 11"/>
          <p:cNvSpPr/>
          <p:nvPr/>
        </p:nvSpPr>
        <p:spPr>
          <a:xfrm>
            <a:off x="948309" y="2336800"/>
            <a:ext cx="9194800" cy="8432800"/>
          </a:xfrm>
          <a:prstGeom prst="rect">
            <a:avLst/>
          </a:prstGeom>
          <a:noFill/>
          <a:ln/>
        </p:spPr>
      </p:sp>
      <p:sp>
        <p:nvSpPr>
          <p:cNvPr id="15" name="Text 12"/>
          <p:cNvSpPr/>
          <p:nvPr/>
        </p:nvSpPr>
        <p:spPr>
          <a:xfrm>
            <a:off x="826389" y="2275840"/>
            <a:ext cx="9438640" cy="8554720"/>
          </a:xfrm>
          <a:prstGeom prst="rect">
            <a:avLst/>
          </a:prstGeom>
          <a:noFill/>
          <a:ln/>
        </p:spPr>
        <p:txBody>
          <a:bodyPr wrap="square" lIns="0" tIns="0" rIns="0" bIns="0" rtlCol="0" anchor="t"/>
          <a:lstStyle/>
          <a:p>
            <a:pPr algn="l">
              <a:lnSpc>
                <a:spcPct val="165000"/>
              </a:lnSpc>
            </a:pPr>
            <a:r>
              <a:rPr lang="en-US" sz="2000" b="1" dirty="0">
                <a:solidFill>
                  <a:srgbClr val="2C2C2C"/>
                </a:solidFill>
                <a:latin typeface="Quattrocento Sans" pitchFamily="34" charset="0"/>
                <a:ea typeface="Quattrocento Sans" pitchFamily="34" charset="-122"/>
                <a:cs typeface="Quattrocento Sans" pitchFamily="34" charset="-120"/>
              </a:rPr>
              <a:t>100%规则</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WBS必须涵盖完成项目所需的100%工作——不多也不少。每个交付成果和任务都应直接对应项目目标。</a:t>
            </a:r>
            <a:endParaRPr lang="en-US" sz="2000" dirty="0"/>
          </a:p>
          <a:p>
            <a:pPr algn="l">
              <a:lnSpc>
                <a:spcPct val="165000"/>
              </a:lnSpc>
              <a:spcBef>
                <a:spcPts val="1600"/>
              </a:spcBef>
            </a:pPr>
            <a:r>
              <a:rPr lang="en-US" sz="2000" b="1" dirty="0">
                <a:solidFill>
                  <a:srgbClr val="2C2C2C"/>
                </a:solidFill>
                <a:latin typeface="Quattrocento Sans" pitchFamily="34" charset="0"/>
                <a:ea typeface="Quattrocento Sans" pitchFamily="34" charset="-122"/>
                <a:cs typeface="Quattrocento Sans" pitchFamily="34" charset="-120"/>
              </a:rPr>
              <a:t>以交付成果为导向</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WBS分解的不是"动作"，而是"结果"。例如"登录功能模块"是可交付成果，而非"开发登录功能"这个动作。</a:t>
            </a:r>
            <a:endParaRPr lang="en-US" sz="2000" dirty="0"/>
          </a:p>
          <a:p>
            <a:pPr algn="l">
              <a:lnSpc>
                <a:spcPct val="165000"/>
              </a:lnSpc>
              <a:spcBef>
                <a:spcPts val="1600"/>
              </a:spcBef>
            </a:pPr>
            <a:r>
              <a:rPr lang="en-US" sz="2000" b="1" dirty="0">
                <a:solidFill>
                  <a:srgbClr val="2C2C2C"/>
                </a:solidFill>
                <a:latin typeface="Quattrocento Sans" pitchFamily="34" charset="0"/>
                <a:ea typeface="Quattrocento Sans" pitchFamily="34" charset="-122"/>
                <a:cs typeface="Quattrocento Sans" pitchFamily="34" charset="-120"/>
              </a:rPr>
              <a:t>适当的分解层级</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一般项目4-6层足够，最多不超过20层。在任意支路，当达到可估算、可分配的精度时即可停止分解。</a:t>
            </a:r>
            <a:endParaRPr lang="en-US" sz="2000" dirty="0"/>
          </a:p>
          <a:p>
            <a:pPr algn="l">
              <a:lnSpc>
                <a:spcPct val="165000"/>
              </a:lnSpc>
              <a:spcBef>
                <a:spcPts val="1600"/>
              </a:spcBef>
            </a:pPr>
            <a:r>
              <a:rPr lang="en-US" sz="2000" b="1" dirty="0">
                <a:solidFill>
                  <a:srgbClr val="2C2C2C"/>
                </a:solidFill>
                <a:latin typeface="Quattrocento Sans" pitchFamily="34" charset="0"/>
                <a:ea typeface="Quattrocento Sans" pitchFamily="34" charset="-122"/>
                <a:cs typeface="Quattrocento Sans" pitchFamily="34" charset="-120"/>
              </a:rPr>
              <a:t>工作包特征</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工作包是WBS中最小单元，可分配给一个人、可估算时间和成本、有明确的交付物。</a:t>
            </a:r>
            <a:endParaRPr lang="en-US" sz="2000" dirty="0"/>
          </a:p>
        </p:txBody>
      </p:sp>
      <p:sp>
        <p:nvSpPr>
          <p:cNvPr id="16" name="Shape 13"/>
          <p:cNvSpPr/>
          <p:nvPr/>
        </p:nvSpPr>
        <p:spPr>
          <a:xfrm>
            <a:off x="11260709" y="1422400"/>
            <a:ext cx="9736709" cy="643509"/>
          </a:xfrm>
          <a:prstGeom prst="roundRect">
            <a:avLst>
              <a:gd name="adj" fmla="val 4000"/>
            </a:avLst>
          </a:prstGeom>
          <a:solidFill>
            <a:srgbClr val="5B9BD5"/>
          </a:solidFill>
          <a:ln/>
        </p:spPr>
      </p:sp>
      <p:sp>
        <p:nvSpPr>
          <p:cNvPr id="17" name="Shape 14"/>
          <p:cNvSpPr/>
          <p:nvPr/>
        </p:nvSpPr>
        <p:spPr>
          <a:xfrm>
            <a:off x="11260709" y="1422400"/>
            <a:ext cx="9736709" cy="643509"/>
          </a:xfrm>
          <a:prstGeom prst="rect">
            <a:avLst/>
          </a:prstGeom>
          <a:noFill/>
          <a:ln/>
        </p:spPr>
      </p:sp>
      <p:sp>
        <p:nvSpPr>
          <p:cNvPr id="18" name="Text 15"/>
          <p:cNvSpPr/>
          <p:nvPr/>
        </p:nvSpPr>
        <p:spPr>
          <a:xfrm>
            <a:off x="11138789" y="1361440"/>
            <a:ext cx="9980549" cy="765429"/>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Quattrocento Sans" pitchFamily="34" charset="0"/>
                <a:ea typeface="Quattrocento Sans" pitchFamily="34" charset="-122"/>
                <a:cs typeface="Quattrocento Sans" pitchFamily="34" charset="-120"/>
              </a:rPr>
              <a:t>范围变更控制</a:t>
            </a:r>
            <a:endParaRPr lang="en-US" sz="2000" dirty="0"/>
          </a:p>
        </p:txBody>
      </p:sp>
      <p:sp>
        <p:nvSpPr>
          <p:cNvPr id="19" name="Shape 16"/>
          <p:cNvSpPr/>
          <p:nvPr/>
        </p:nvSpPr>
        <p:spPr>
          <a:xfrm>
            <a:off x="11260709" y="2065909"/>
            <a:ext cx="9736709" cy="8974709"/>
          </a:xfrm>
          <a:prstGeom prst="roundRect">
            <a:avLst>
              <a:gd name="adj" fmla="val 4000"/>
            </a:avLst>
          </a:prstGeom>
          <a:solidFill>
            <a:srgbClr val="F5F5F5"/>
          </a:solidFill>
          <a:ln/>
        </p:spPr>
      </p:sp>
      <p:sp>
        <p:nvSpPr>
          <p:cNvPr id="20" name="Shape 17"/>
          <p:cNvSpPr/>
          <p:nvPr/>
        </p:nvSpPr>
        <p:spPr>
          <a:xfrm>
            <a:off x="11531600" y="2336800"/>
            <a:ext cx="9194800" cy="8432800"/>
          </a:xfrm>
          <a:prstGeom prst="rect">
            <a:avLst/>
          </a:prstGeom>
          <a:noFill/>
          <a:ln/>
        </p:spPr>
      </p:sp>
      <p:sp>
        <p:nvSpPr>
          <p:cNvPr id="21" name="Text 18"/>
          <p:cNvSpPr/>
          <p:nvPr/>
        </p:nvSpPr>
        <p:spPr>
          <a:xfrm>
            <a:off x="11409680" y="2275840"/>
            <a:ext cx="9438640" cy="8554720"/>
          </a:xfrm>
          <a:prstGeom prst="rect">
            <a:avLst/>
          </a:prstGeom>
          <a:noFill/>
          <a:ln/>
        </p:spPr>
        <p:txBody>
          <a:bodyPr wrap="square" lIns="0" tIns="0" rIns="0" bIns="0" rtlCol="0" anchor="t"/>
          <a:lstStyle/>
          <a:p>
            <a:pPr algn="l">
              <a:lnSpc>
                <a:spcPct val="165000"/>
              </a:lnSpc>
            </a:pPr>
            <a:r>
              <a:rPr lang="en-US" sz="2000" b="1" dirty="0">
                <a:solidFill>
                  <a:srgbClr val="2C2C2C"/>
                </a:solidFill>
                <a:latin typeface="Quattrocento Sans" pitchFamily="34" charset="0"/>
                <a:ea typeface="Quattrocento Sans" pitchFamily="34" charset="-122"/>
                <a:cs typeface="Quattrocento Sans" pitchFamily="34" charset="-120"/>
              </a:rPr>
              <a:t>变更请求形式</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包括口头、书面、直接、间接、外部、内部、法律规定和可选择的变更，需正式记录和管理。</a:t>
            </a:r>
            <a:endParaRPr lang="en-US" sz="2000" dirty="0"/>
          </a:p>
          <a:p>
            <a:pPr algn="l">
              <a:lnSpc>
                <a:spcPct val="165000"/>
              </a:lnSpc>
              <a:spcBef>
                <a:spcPts val="1600"/>
              </a:spcBef>
            </a:pPr>
            <a:r>
              <a:rPr lang="en-US" sz="2000" b="1" dirty="0">
                <a:solidFill>
                  <a:srgbClr val="2C2C2C"/>
                </a:solidFill>
                <a:latin typeface="Quattrocento Sans" pitchFamily="34" charset="0"/>
                <a:ea typeface="Quattrocento Sans" pitchFamily="34" charset="-122"/>
                <a:cs typeface="Quattrocento Sans" pitchFamily="34" charset="-120"/>
              </a:rPr>
              <a:t>变更原因分析</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外部事件、产品范围定义错误、项目范围定义错误、增值变更和应对风险的变更等，需深入分析原因。</a:t>
            </a:r>
            <a:endParaRPr lang="en-US" sz="2000" dirty="0"/>
          </a:p>
          <a:p>
            <a:pPr algn="l">
              <a:lnSpc>
                <a:spcPct val="165000"/>
              </a:lnSpc>
              <a:spcBef>
                <a:spcPts val="1600"/>
              </a:spcBef>
            </a:pPr>
            <a:r>
              <a:rPr lang="en-US" sz="2000" b="1" dirty="0">
                <a:solidFill>
                  <a:srgbClr val="2C2C2C"/>
                </a:solidFill>
                <a:latin typeface="Quattrocento Sans" pitchFamily="34" charset="0"/>
                <a:ea typeface="Quattrocento Sans" pitchFamily="34" charset="-122"/>
                <a:cs typeface="Quattrocento Sans" pitchFamily="34" charset="-120"/>
              </a:rPr>
              <a:t>控制变更流程</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审查所有变更请求 → 批准或拒绝变更 → 管理变更实施 → 确保范围得到有效控制，避免范围蔓延。</a:t>
            </a:r>
            <a:endParaRPr lang="en-US" sz="2000" dirty="0"/>
          </a:p>
          <a:p>
            <a:pPr algn="l">
              <a:lnSpc>
                <a:spcPct val="165000"/>
              </a:lnSpc>
              <a:spcBef>
                <a:spcPts val="1600"/>
              </a:spcBef>
            </a:pPr>
            <a:r>
              <a:rPr lang="en-US" sz="2000" b="1" dirty="0">
                <a:solidFill>
                  <a:srgbClr val="2C2C2C"/>
                </a:solidFill>
                <a:latin typeface="Quattrocento Sans" pitchFamily="34" charset="0"/>
                <a:ea typeface="Quattrocento Sans" pitchFamily="34" charset="-122"/>
                <a:cs typeface="Quattrocento Sans" pitchFamily="34" charset="-120"/>
              </a:rPr>
              <a:t>范围蔓延防范</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严格执行变更控制流程，任何范围变更都需经过正式审批，防止未经控制的需求增加导致项目失控。</a:t>
            </a:r>
            <a:endParaRPr lang="en-US" sz="2000" dirty="0"/>
          </a:p>
        </p:txBody>
      </p:sp>
      <p:sp>
        <p:nvSpPr>
          <p:cNvPr id="22" name="Shape 19"/>
          <p:cNvSpPr/>
          <p:nvPr/>
        </p:nvSpPr>
        <p:spPr>
          <a:xfrm>
            <a:off x="20320000" y="11514709"/>
            <a:ext cx="846709" cy="406400"/>
          </a:xfrm>
          <a:prstGeom prst="rect">
            <a:avLst/>
          </a:prstGeom>
          <a:noFill/>
          <a:ln/>
        </p:spPr>
      </p:sp>
      <p:sp>
        <p:nvSpPr>
          <p:cNvPr id="23" name="Text 20"/>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8</a:t>
            </a:r>
            <a:endParaRPr lang="en-US" sz="187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03</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THREE</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项目时间管理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Time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3.1　时间管理过程</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3.2　关键路径与进度控制</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9</a:t>
            </a:r>
            <a:endParaRPr lang="en-US" sz="187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03 项目时间管理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时间管理过程</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388491"/>
            <a:ext cx="6316091" cy="4572000"/>
          </a:xfrm>
          <a:prstGeom prst="roundRect">
            <a:avLst>
              <a:gd name="adj" fmla="val 4000"/>
            </a:avLst>
          </a:prstGeom>
          <a:solidFill>
            <a:srgbClr val="1A4A7A"/>
          </a:solidFill>
          <a:ln/>
        </p:spPr>
      </p:sp>
      <p:sp>
        <p:nvSpPr>
          <p:cNvPr id="11" name="Shape 8"/>
          <p:cNvSpPr/>
          <p:nvPr/>
        </p:nvSpPr>
        <p:spPr>
          <a:xfrm>
            <a:off x="948309" y="1625600"/>
            <a:ext cx="5774309" cy="338709"/>
          </a:xfrm>
          <a:prstGeom prst="rect">
            <a:avLst/>
          </a:prstGeom>
          <a:noFill/>
          <a:ln/>
        </p:spPr>
      </p:sp>
      <p:sp>
        <p:nvSpPr>
          <p:cNvPr id="12" name="Text 9"/>
          <p:cNvSpPr/>
          <p:nvPr/>
        </p:nvSpPr>
        <p:spPr>
          <a:xfrm>
            <a:off x="826389" y="1564640"/>
            <a:ext cx="6018149" cy="460629"/>
          </a:xfrm>
          <a:prstGeom prst="rect">
            <a:avLst/>
          </a:prstGeom>
          <a:noFill/>
          <a:ln/>
        </p:spPr>
        <p:txBody>
          <a:bodyPr wrap="none" lIns="0" tIns="0" rIns="0" bIns="0" rtlCol="0" anchor="t"/>
          <a:lstStyle/>
          <a:p>
            <a:pPr algn="l">
              <a:lnSpc>
                <a:spcPct val="120000"/>
              </a:lnSpc>
            </a:pPr>
            <a:r>
              <a:rPr lang="en-US" sz="1730" dirty="0">
                <a:solidFill>
                  <a:srgbClr val="FFFFFF"/>
                </a:solidFill>
                <a:latin typeface="Quattrocento Sans" pitchFamily="34" charset="0"/>
                <a:ea typeface="Quattrocento Sans" pitchFamily="34" charset="-122"/>
                <a:cs typeface="Quattrocento Sans" pitchFamily="34" charset="-120"/>
              </a:rPr>
              <a:t>PROCESS 01</a:t>
            </a:r>
            <a:endParaRPr lang="en-US" sz="1730" dirty="0"/>
          </a:p>
        </p:txBody>
      </p:sp>
      <p:sp>
        <p:nvSpPr>
          <p:cNvPr id="13" name="Shape 10"/>
          <p:cNvSpPr/>
          <p:nvPr/>
        </p:nvSpPr>
        <p:spPr>
          <a:xfrm>
            <a:off x="948309" y="2099691"/>
            <a:ext cx="5774309" cy="474091"/>
          </a:xfrm>
          <a:prstGeom prst="rect">
            <a:avLst/>
          </a:prstGeom>
          <a:noFill/>
          <a:ln/>
        </p:spPr>
      </p:sp>
      <p:sp>
        <p:nvSpPr>
          <p:cNvPr id="14" name="Text 11"/>
          <p:cNvSpPr/>
          <p:nvPr/>
        </p:nvSpPr>
        <p:spPr>
          <a:xfrm>
            <a:off x="826389" y="2038731"/>
            <a:ext cx="6018149" cy="596011"/>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活动定义</a:t>
            </a:r>
            <a:endParaRPr lang="en-US" sz="2670" dirty="0"/>
          </a:p>
        </p:txBody>
      </p:sp>
      <p:sp>
        <p:nvSpPr>
          <p:cNvPr id="15" name="Shape 12"/>
          <p:cNvSpPr/>
          <p:nvPr/>
        </p:nvSpPr>
        <p:spPr>
          <a:xfrm>
            <a:off x="948309" y="2743200"/>
            <a:ext cx="5774309" cy="2878709"/>
          </a:xfrm>
          <a:prstGeom prst="rect">
            <a:avLst/>
          </a:prstGeom>
          <a:noFill/>
          <a:ln/>
        </p:spPr>
      </p:sp>
      <p:sp>
        <p:nvSpPr>
          <p:cNvPr id="16" name="Text 13"/>
          <p:cNvSpPr/>
          <p:nvPr/>
        </p:nvSpPr>
        <p:spPr>
          <a:xfrm>
            <a:off x="826389" y="2682240"/>
            <a:ext cx="6018149" cy="30006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识别和记录为完成项目可交付成果而需进行的具体活动的过程，明确项目工作的基本单元，为后续排序和资源估算奠定基础。</a:t>
            </a:r>
            <a:endParaRPr lang="en-US" sz="2000" dirty="0"/>
          </a:p>
        </p:txBody>
      </p:sp>
      <p:sp>
        <p:nvSpPr>
          <p:cNvPr id="17" name="Shape 14"/>
          <p:cNvSpPr/>
          <p:nvPr/>
        </p:nvSpPr>
        <p:spPr>
          <a:xfrm>
            <a:off x="7670800" y="1388491"/>
            <a:ext cx="6333109" cy="4572000"/>
          </a:xfrm>
          <a:prstGeom prst="roundRect">
            <a:avLst>
              <a:gd name="adj" fmla="val 4000"/>
            </a:avLst>
          </a:prstGeom>
          <a:solidFill>
            <a:srgbClr val="5B9BD5"/>
          </a:solidFill>
          <a:ln/>
        </p:spPr>
      </p:sp>
      <p:sp>
        <p:nvSpPr>
          <p:cNvPr id="18" name="Shape 15"/>
          <p:cNvSpPr/>
          <p:nvPr/>
        </p:nvSpPr>
        <p:spPr>
          <a:xfrm>
            <a:off x="7941691" y="1625600"/>
            <a:ext cx="5791200" cy="338709"/>
          </a:xfrm>
          <a:prstGeom prst="rect">
            <a:avLst/>
          </a:prstGeom>
          <a:noFill/>
          <a:ln/>
        </p:spPr>
      </p:sp>
      <p:sp>
        <p:nvSpPr>
          <p:cNvPr id="19" name="Text 16"/>
          <p:cNvSpPr/>
          <p:nvPr/>
        </p:nvSpPr>
        <p:spPr>
          <a:xfrm>
            <a:off x="7819771" y="1564640"/>
            <a:ext cx="6035040" cy="460629"/>
          </a:xfrm>
          <a:prstGeom prst="rect">
            <a:avLst/>
          </a:prstGeom>
          <a:noFill/>
          <a:ln/>
        </p:spPr>
        <p:txBody>
          <a:bodyPr wrap="none" lIns="0" tIns="0" rIns="0" bIns="0" rtlCol="0" anchor="t"/>
          <a:lstStyle/>
          <a:p>
            <a:pPr algn="l">
              <a:lnSpc>
                <a:spcPct val="120000"/>
              </a:lnSpc>
            </a:pPr>
            <a:r>
              <a:rPr lang="en-US" sz="1730" dirty="0">
                <a:solidFill>
                  <a:srgbClr val="FFFFFF"/>
                </a:solidFill>
                <a:latin typeface="Quattrocento Sans" pitchFamily="34" charset="0"/>
                <a:ea typeface="Quattrocento Sans" pitchFamily="34" charset="-122"/>
                <a:cs typeface="Quattrocento Sans" pitchFamily="34" charset="-120"/>
              </a:rPr>
              <a:t>PROCESS 02</a:t>
            </a:r>
            <a:endParaRPr lang="en-US" sz="1730" dirty="0"/>
          </a:p>
        </p:txBody>
      </p:sp>
      <p:sp>
        <p:nvSpPr>
          <p:cNvPr id="20" name="Shape 17"/>
          <p:cNvSpPr/>
          <p:nvPr/>
        </p:nvSpPr>
        <p:spPr>
          <a:xfrm>
            <a:off x="7941691" y="2099691"/>
            <a:ext cx="5791200" cy="474091"/>
          </a:xfrm>
          <a:prstGeom prst="rect">
            <a:avLst/>
          </a:prstGeom>
          <a:noFill/>
          <a:ln/>
        </p:spPr>
      </p:sp>
      <p:sp>
        <p:nvSpPr>
          <p:cNvPr id="21" name="Text 18"/>
          <p:cNvSpPr/>
          <p:nvPr/>
        </p:nvSpPr>
        <p:spPr>
          <a:xfrm>
            <a:off x="7819771" y="2038731"/>
            <a:ext cx="6035040" cy="596011"/>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活动排序</a:t>
            </a:r>
            <a:endParaRPr lang="en-US" sz="2670" dirty="0"/>
          </a:p>
        </p:txBody>
      </p:sp>
      <p:sp>
        <p:nvSpPr>
          <p:cNvPr id="22" name="Shape 19"/>
          <p:cNvSpPr/>
          <p:nvPr/>
        </p:nvSpPr>
        <p:spPr>
          <a:xfrm>
            <a:off x="7941691" y="2743200"/>
            <a:ext cx="5791200" cy="2878709"/>
          </a:xfrm>
          <a:prstGeom prst="rect">
            <a:avLst/>
          </a:prstGeom>
          <a:noFill/>
          <a:ln/>
        </p:spPr>
      </p:sp>
      <p:sp>
        <p:nvSpPr>
          <p:cNvPr id="23" name="Text 20"/>
          <p:cNvSpPr/>
          <p:nvPr/>
        </p:nvSpPr>
        <p:spPr>
          <a:xfrm>
            <a:off x="7819771" y="2682240"/>
            <a:ext cx="6035040" cy="30006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确定活动之间的逻辑关系的过程，根据活动之间的依赖关系（FS/SS/FF/SF）和外部因素，安排活动的先后顺序。</a:t>
            </a:r>
            <a:endParaRPr lang="en-US" sz="2000" dirty="0"/>
          </a:p>
        </p:txBody>
      </p:sp>
      <p:sp>
        <p:nvSpPr>
          <p:cNvPr id="24" name="Shape 21"/>
          <p:cNvSpPr/>
          <p:nvPr/>
        </p:nvSpPr>
        <p:spPr>
          <a:xfrm>
            <a:off x="14681200" y="1388491"/>
            <a:ext cx="6316091" cy="4572000"/>
          </a:xfrm>
          <a:prstGeom prst="roundRect">
            <a:avLst>
              <a:gd name="adj" fmla="val 4000"/>
            </a:avLst>
          </a:prstGeom>
          <a:solidFill>
            <a:srgbClr val="2E86C1"/>
          </a:solidFill>
          <a:ln/>
        </p:spPr>
      </p:sp>
      <p:sp>
        <p:nvSpPr>
          <p:cNvPr id="25" name="Shape 22"/>
          <p:cNvSpPr/>
          <p:nvPr/>
        </p:nvSpPr>
        <p:spPr>
          <a:xfrm>
            <a:off x="14952091" y="1625600"/>
            <a:ext cx="5774309" cy="338709"/>
          </a:xfrm>
          <a:prstGeom prst="rect">
            <a:avLst/>
          </a:prstGeom>
          <a:noFill/>
          <a:ln/>
        </p:spPr>
      </p:sp>
      <p:sp>
        <p:nvSpPr>
          <p:cNvPr id="26" name="Text 23"/>
          <p:cNvSpPr/>
          <p:nvPr/>
        </p:nvSpPr>
        <p:spPr>
          <a:xfrm>
            <a:off x="14830171" y="1564640"/>
            <a:ext cx="6018149" cy="460629"/>
          </a:xfrm>
          <a:prstGeom prst="rect">
            <a:avLst/>
          </a:prstGeom>
          <a:noFill/>
          <a:ln/>
        </p:spPr>
        <p:txBody>
          <a:bodyPr wrap="none" lIns="0" tIns="0" rIns="0" bIns="0" rtlCol="0" anchor="t"/>
          <a:lstStyle/>
          <a:p>
            <a:pPr algn="l">
              <a:lnSpc>
                <a:spcPct val="120000"/>
              </a:lnSpc>
            </a:pPr>
            <a:r>
              <a:rPr lang="en-US" sz="1730" dirty="0">
                <a:solidFill>
                  <a:srgbClr val="FFFFFF"/>
                </a:solidFill>
                <a:latin typeface="Quattrocento Sans" pitchFamily="34" charset="0"/>
                <a:ea typeface="Quattrocento Sans" pitchFamily="34" charset="-122"/>
                <a:cs typeface="Quattrocento Sans" pitchFamily="34" charset="-120"/>
              </a:rPr>
              <a:t>PROCESS 03</a:t>
            </a:r>
            <a:endParaRPr lang="en-US" sz="1730" dirty="0"/>
          </a:p>
        </p:txBody>
      </p:sp>
      <p:sp>
        <p:nvSpPr>
          <p:cNvPr id="27" name="Shape 24"/>
          <p:cNvSpPr/>
          <p:nvPr/>
        </p:nvSpPr>
        <p:spPr>
          <a:xfrm>
            <a:off x="14952091" y="2099691"/>
            <a:ext cx="5774309" cy="474091"/>
          </a:xfrm>
          <a:prstGeom prst="rect">
            <a:avLst/>
          </a:prstGeom>
          <a:noFill/>
          <a:ln/>
        </p:spPr>
      </p:sp>
      <p:sp>
        <p:nvSpPr>
          <p:cNvPr id="28" name="Text 25"/>
          <p:cNvSpPr/>
          <p:nvPr/>
        </p:nvSpPr>
        <p:spPr>
          <a:xfrm>
            <a:off x="14830171" y="2038731"/>
            <a:ext cx="6018149" cy="596011"/>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活动资源估算</a:t>
            </a:r>
            <a:endParaRPr lang="en-US" sz="2670" dirty="0"/>
          </a:p>
        </p:txBody>
      </p:sp>
      <p:sp>
        <p:nvSpPr>
          <p:cNvPr id="29" name="Shape 26"/>
          <p:cNvSpPr/>
          <p:nvPr/>
        </p:nvSpPr>
        <p:spPr>
          <a:xfrm>
            <a:off x="14952091" y="2743200"/>
            <a:ext cx="5774309" cy="2878709"/>
          </a:xfrm>
          <a:prstGeom prst="rect">
            <a:avLst/>
          </a:prstGeom>
          <a:noFill/>
          <a:ln/>
        </p:spPr>
      </p:sp>
      <p:sp>
        <p:nvSpPr>
          <p:cNvPr id="30" name="Text 27"/>
          <p:cNvSpPr/>
          <p:nvPr/>
        </p:nvSpPr>
        <p:spPr>
          <a:xfrm>
            <a:off x="14830171" y="2682240"/>
            <a:ext cx="6018149" cy="30006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估算完成活动所需资源种类和数量的过程，为活动资源分配提供依据，确保活动顺利进行。包括人力、设备、材料等。</a:t>
            </a:r>
            <a:endParaRPr lang="en-US" sz="2000" dirty="0"/>
          </a:p>
        </p:txBody>
      </p:sp>
      <p:sp>
        <p:nvSpPr>
          <p:cNvPr id="31" name="Shape 28"/>
          <p:cNvSpPr/>
          <p:nvPr/>
        </p:nvSpPr>
        <p:spPr>
          <a:xfrm>
            <a:off x="677291" y="6333109"/>
            <a:ext cx="20320000" cy="4673600"/>
          </a:xfrm>
          <a:prstGeom prst="roundRect">
            <a:avLst>
              <a:gd name="adj" fmla="val 4000"/>
            </a:avLst>
          </a:prstGeom>
          <a:solidFill>
            <a:srgbClr val="E3F0FA"/>
          </a:solidFill>
          <a:ln/>
        </p:spPr>
      </p:sp>
      <p:sp>
        <p:nvSpPr>
          <p:cNvPr id="32" name="Shape 29"/>
          <p:cNvSpPr/>
          <p:nvPr/>
        </p:nvSpPr>
        <p:spPr>
          <a:xfrm>
            <a:off x="1016000" y="6604000"/>
            <a:ext cx="6773291" cy="474091"/>
          </a:xfrm>
          <a:prstGeom prst="rect">
            <a:avLst/>
          </a:prstGeom>
          <a:noFill/>
          <a:ln/>
        </p:spPr>
      </p:sp>
      <p:sp>
        <p:nvSpPr>
          <p:cNvPr id="33" name="Text 30"/>
          <p:cNvSpPr/>
          <p:nvPr/>
        </p:nvSpPr>
        <p:spPr>
          <a:xfrm>
            <a:off x="894080" y="6543040"/>
            <a:ext cx="7017131" cy="596011"/>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活动持续时间估算方法</a:t>
            </a:r>
            <a:endParaRPr lang="en-US" sz="2400" dirty="0"/>
          </a:p>
        </p:txBody>
      </p:sp>
      <p:sp>
        <p:nvSpPr>
          <p:cNvPr id="34" name="Shape 31"/>
          <p:cNvSpPr/>
          <p:nvPr/>
        </p:nvSpPr>
        <p:spPr>
          <a:xfrm>
            <a:off x="1016000" y="7213600"/>
            <a:ext cx="19642709" cy="3556000"/>
          </a:xfrm>
          <a:prstGeom prst="rect">
            <a:avLst/>
          </a:prstGeom>
          <a:noFill/>
          <a:ln/>
        </p:spPr>
      </p:sp>
      <p:sp>
        <p:nvSpPr>
          <p:cNvPr id="35" name="Text 32"/>
          <p:cNvSpPr/>
          <p:nvPr/>
        </p:nvSpPr>
        <p:spPr>
          <a:xfrm>
            <a:off x="894080" y="7152640"/>
            <a:ext cx="19886549" cy="3677920"/>
          </a:xfrm>
          <a:prstGeom prst="rect">
            <a:avLst/>
          </a:prstGeom>
          <a:noFill/>
          <a:ln/>
        </p:spPr>
        <p:txBody>
          <a:bodyPr wrap="square" lIns="0" tIns="0" rIns="0" bIns="0" rtlCol="0" anchor="t"/>
          <a:lstStyle/>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类比估算：</a:t>
            </a:r>
            <a:r>
              <a:rPr lang="en-US" sz="2000" dirty="0">
                <a:solidFill>
                  <a:srgbClr val="2C2C2C"/>
                </a:solidFill>
                <a:latin typeface="Quattrocento Sans" pitchFamily="34" charset="0"/>
                <a:ea typeface="Quattrocento Sans" pitchFamily="34" charset="-122"/>
                <a:cs typeface="Quattrocento Sans" pitchFamily="34" charset="-120"/>
              </a:rPr>
              <a:t>参考类似项目历史数据进行估算，适用于项目早期，成本低但精度较低</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参数估算：</a:t>
            </a:r>
            <a:r>
              <a:rPr lang="en-US" sz="2000" dirty="0">
                <a:solidFill>
                  <a:srgbClr val="2C2C2C"/>
                </a:solidFill>
                <a:latin typeface="Quattrocento Sans" pitchFamily="34" charset="0"/>
                <a:ea typeface="Quattrocento Sans" pitchFamily="34" charset="-122"/>
                <a:cs typeface="Quattrocento Sans" pitchFamily="34" charset="-120"/>
              </a:rPr>
              <a:t>利用历史数据和统计关系进行计算，如每平方米建筑成本，精度较高</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三点估算：</a:t>
            </a:r>
            <a:r>
              <a:rPr lang="en-US" sz="2000" dirty="0">
                <a:solidFill>
                  <a:srgbClr val="2C2C2C"/>
                </a:solidFill>
                <a:latin typeface="Quattrocento Sans" pitchFamily="34" charset="0"/>
                <a:ea typeface="Quattrocento Sans" pitchFamily="34" charset="-122"/>
                <a:cs typeface="Quattrocento Sans" pitchFamily="34" charset="-120"/>
              </a:rPr>
              <a:t>考虑最乐观(O)、最悲观(P)和最可能(M)三种情况，公式：(O + 4M + P) / 6</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专家判断：</a:t>
            </a:r>
            <a:r>
              <a:rPr lang="en-US" sz="2000" dirty="0">
                <a:solidFill>
                  <a:srgbClr val="2C2C2C"/>
                </a:solidFill>
                <a:latin typeface="Quattrocento Sans" pitchFamily="34" charset="0"/>
                <a:ea typeface="Quattrocento Sans" pitchFamily="34" charset="-122"/>
                <a:cs typeface="Quattrocento Sans" pitchFamily="34" charset="-120"/>
              </a:rPr>
              <a:t>借助具有相关经验的专家意见进行估算</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储备分析：</a:t>
            </a:r>
            <a:r>
              <a:rPr lang="en-US" sz="2000" dirty="0">
                <a:solidFill>
                  <a:srgbClr val="2C2C2C"/>
                </a:solidFill>
                <a:latin typeface="Quattrocento Sans" pitchFamily="34" charset="0"/>
                <a:ea typeface="Quattrocento Sans" pitchFamily="34" charset="-122"/>
                <a:cs typeface="Quattrocento Sans" pitchFamily="34" charset="-120"/>
              </a:rPr>
              <a:t>在估算中考虑应急储备和管理储备，应对不确定性</a:t>
            </a:r>
            <a:endParaRPr lang="en-US" sz="2000" dirty="0"/>
          </a:p>
        </p:txBody>
      </p:sp>
      <p:sp>
        <p:nvSpPr>
          <p:cNvPr id="36" name="Shape 33"/>
          <p:cNvSpPr/>
          <p:nvPr/>
        </p:nvSpPr>
        <p:spPr>
          <a:xfrm>
            <a:off x="20320000" y="11514709"/>
            <a:ext cx="846709" cy="406400"/>
          </a:xfrm>
          <a:prstGeom prst="rect">
            <a:avLst/>
          </a:prstGeom>
          <a:noFill/>
          <a:ln/>
        </p:spPr>
      </p:sp>
      <p:sp>
        <p:nvSpPr>
          <p:cNvPr id="37" name="Text 34"/>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10</a:t>
            </a:r>
            <a:endParaRPr lang="en-US" sz="187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03 项目时间管理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关键路径与进度控制</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22400"/>
            <a:ext cx="9736709" cy="643509"/>
          </a:xfrm>
          <a:prstGeom prst="roundRect">
            <a:avLst>
              <a:gd name="adj" fmla="val 4000"/>
            </a:avLst>
          </a:prstGeom>
          <a:solidFill>
            <a:srgbClr val="1A4A7A"/>
          </a:solidFill>
          <a:ln/>
        </p:spPr>
      </p:sp>
      <p:sp>
        <p:nvSpPr>
          <p:cNvPr id="11" name="Shape 8"/>
          <p:cNvSpPr/>
          <p:nvPr/>
        </p:nvSpPr>
        <p:spPr>
          <a:xfrm>
            <a:off x="677291" y="1422400"/>
            <a:ext cx="9736709" cy="643509"/>
          </a:xfrm>
          <a:prstGeom prst="rect">
            <a:avLst/>
          </a:prstGeom>
          <a:noFill/>
          <a:ln/>
        </p:spPr>
      </p:sp>
      <p:sp>
        <p:nvSpPr>
          <p:cNvPr id="12" name="Text 9"/>
          <p:cNvSpPr/>
          <p:nvPr/>
        </p:nvSpPr>
        <p:spPr>
          <a:xfrm>
            <a:off x="555371" y="1361440"/>
            <a:ext cx="9980549" cy="765429"/>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Quattrocento Sans" pitchFamily="34" charset="0"/>
                <a:ea typeface="Quattrocento Sans" pitchFamily="34" charset="-122"/>
                <a:cs typeface="Quattrocento Sans" pitchFamily="34" charset="-120"/>
              </a:rPr>
              <a:t>关键路径分析（CPM）</a:t>
            </a:r>
            <a:endParaRPr lang="en-US" sz="2000" dirty="0"/>
          </a:p>
        </p:txBody>
      </p:sp>
      <p:sp>
        <p:nvSpPr>
          <p:cNvPr id="13" name="Shape 10"/>
          <p:cNvSpPr/>
          <p:nvPr/>
        </p:nvSpPr>
        <p:spPr>
          <a:xfrm>
            <a:off x="677291" y="2065909"/>
            <a:ext cx="9736709" cy="8974709"/>
          </a:xfrm>
          <a:prstGeom prst="roundRect">
            <a:avLst>
              <a:gd name="adj" fmla="val 4000"/>
            </a:avLst>
          </a:prstGeom>
          <a:solidFill>
            <a:srgbClr val="F5F5F5"/>
          </a:solidFill>
          <a:ln/>
        </p:spPr>
      </p:sp>
      <p:sp>
        <p:nvSpPr>
          <p:cNvPr id="14" name="Shape 11"/>
          <p:cNvSpPr/>
          <p:nvPr/>
        </p:nvSpPr>
        <p:spPr>
          <a:xfrm>
            <a:off x="948309" y="2336800"/>
            <a:ext cx="9194800" cy="8432800"/>
          </a:xfrm>
          <a:prstGeom prst="rect">
            <a:avLst/>
          </a:prstGeom>
          <a:noFill/>
          <a:ln/>
        </p:spPr>
      </p:sp>
      <p:sp>
        <p:nvSpPr>
          <p:cNvPr id="15" name="Text 12"/>
          <p:cNvSpPr/>
          <p:nvPr/>
        </p:nvSpPr>
        <p:spPr>
          <a:xfrm>
            <a:off x="826389" y="2275840"/>
            <a:ext cx="9438640" cy="8554720"/>
          </a:xfrm>
          <a:prstGeom prst="rect">
            <a:avLst/>
          </a:prstGeom>
          <a:noFill/>
          <a:ln/>
        </p:spPr>
        <p:txBody>
          <a:bodyPr wrap="square" lIns="0" tIns="0" rIns="0" bIns="0" rtlCol="0" anchor="t"/>
          <a:lstStyle/>
          <a:p>
            <a:pPr algn="l">
              <a:lnSpc>
                <a:spcPct val="165000"/>
              </a:lnSpc>
            </a:pPr>
            <a:r>
              <a:rPr lang="en-US" sz="2000" b="1" dirty="0">
                <a:solidFill>
                  <a:srgbClr val="2C2C2C"/>
                </a:solidFill>
                <a:latin typeface="Quattrocento Sans" pitchFamily="34" charset="0"/>
                <a:ea typeface="Quattrocento Sans" pitchFamily="34" charset="-122"/>
                <a:cs typeface="Quattrocento Sans" pitchFamily="34" charset="-120"/>
              </a:rPr>
              <a:t>关键路径概念</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关键路径是项目进度网络中</a:t>
            </a:r>
            <a:r>
              <a:rPr lang="en-US" sz="2000" b="1" dirty="0">
                <a:solidFill>
                  <a:srgbClr val="2C2C2C"/>
                </a:solidFill>
                <a:latin typeface="Quattrocento Sans" pitchFamily="34" charset="0"/>
                <a:ea typeface="Quattrocento Sans" pitchFamily="34" charset="-122"/>
                <a:cs typeface="Quattrocento Sans" pitchFamily="34" charset="-120"/>
              </a:rPr>
              <a:t>总浮动时间为零</a:t>
            </a:r>
            <a:r>
              <a:rPr lang="en-US" sz="2000" dirty="0">
                <a:solidFill>
                  <a:srgbClr val="2C2C2C"/>
                </a:solidFill>
                <a:latin typeface="Quattrocento Sans" pitchFamily="34" charset="0"/>
                <a:ea typeface="Quattrocento Sans" pitchFamily="34" charset="-122"/>
                <a:cs typeface="Quattrocento Sans" pitchFamily="34" charset="-120"/>
              </a:rPr>
              <a:t>的活动路径，代表项目的最短完成时间。</a:t>
            </a:r>
            <a:endParaRPr lang="en-US" sz="2000" dirty="0"/>
          </a:p>
          <a:p>
            <a:pPr algn="l">
              <a:lnSpc>
                <a:spcPct val="165000"/>
              </a:lnSpc>
              <a:spcBef>
                <a:spcPts val="1333"/>
              </a:spcBef>
            </a:pPr>
            <a:r>
              <a:rPr lang="en-US" sz="2000" b="1" dirty="0">
                <a:solidFill>
                  <a:srgbClr val="2C2C2C"/>
                </a:solidFill>
                <a:latin typeface="Quattrocento Sans" pitchFamily="34" charset="0"/>
                <a:ea typeface="Quattrocento Sans" pitchFamily="34" charset="-122"/>
                <a:cs typeface="Quattrocento Sans" pitchFamily="34" charset="-120"/>
              </a:rPr>
              <a:t>关键路径特点</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 关键路径可能有多条</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 路径上活动进度灵活性最小</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 任何延迟都会直接影响总工期</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 需重点关注和优先保障</a:t>
            </a:r>
            <a:endParaRPr lang="en-US" sz="2000" dirty="0"/>
          </a:p>
          <a:p>
            <a:pPr algn="l">
              <a:lnSpc>
                <a:spcPct val="165000"/>
              </a:lnSpc>
              <a:spcBef>
                <a:spcPts val="1333"/>
              </a:spcBef>
            </a:pPr>
            <a:r>
              <a:rPr lang="en-US" sz="2000" b="1" dirty="0">
                <a:solidFill>
                  <a:srgbClr val="2C2C2C"/>
                </a:solidFill>
                <a:latin typeface="Quattrocento Sans" pitchFamily="34" charset="0"/>
                <a:ea typeface="Quattrocento Sans" pitchFamily="34" charset="-122"/>
                <a:cs typeface="Quattrocento Sans" pitchFamily="34" charset="-120"/>
              </a:rPr>
              <a:t>关键路径应用</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向关键路径要时间，向非关键路径要资源。通过压缩关键活动工期或调整资源分配来优化项目进度。</a:t>
            </a:r>
            <a:endParaRPr lang="en-US" sz="2000" dirty="0"/>
          </a:p>
        </p:txBody>
      </p:sp>
      <p:sp>
        <p:nvSpPr>
          <p:cNvPr id="16" name="Shape 13"/>
          <p:cNvSpPr/>
          <p:nvPr/>
        </p:nvSpPr>
        <p:spPr>
          <a:xfrm>
            <a:off x="11260709" y="1422400"/>
            <a:ext cx="9736709" cy="643509"/>
          </a:xfrm>
          <a:prstGeom prst="roundRect">
            <a:avLst>
              <a:gd name="adj" fmla="val 4000"/>
            </a:avLst>
          </a:prstGeom>
          <a:solidFill>
            <a:srgbClr val="5B9BD5"/>
          </a:solidFill>
          <a:ln/>
        </p:spPr>
      </p:sp>
      <p:sp>
        <p:nvSpPr>
          <p:cNvPr id="17" name="Shape 14"/>
          <p:cNvSpPr/>
          <p:nvPr/>
        </p:nvSpPr>
        <p:spPr>
          <a:xfrm>
            <a:off x="11260709" y="1422400"/>
            <a:ext cx="9736709" cy="643509"/>
          </a:xfrm>
          <a:prstGeom prst="rect">
            <a:avLst/>
          </a:prstGeom>
          <a:noFill/>
          <a:ln/>
        </p:spPr>
      </p:sp>
      <p:sp>
        <p:nvSpPr>
          <p:cNvPr id="18" name="Text 15"/>
          <p:cNvSpPr/>
          <p:nvPr/>
        </p:nvSpPr>
        <p:spPr>
          <a:xfrm>
            <a:off x="11138789" y="1361440"/>
            <a:ext cx="9980549" cy="765429"/>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Quattrocento Sans" pitchFamily="34" charset="0"/>
                <a:ea typeface="Quattrocento Sans" pitchFamily="34" charset="-122"/>
                <a:cs typeface="Quattrocento Sans" pitchFamily="34" charset="-120"/>
              </a:rPr>
              <a:t>进度控制</a:t>
            </a:r>
            <a:endParaRPr lang="en-US" sz="2000" dirty="0"/>
          </a:p>
        </p:txBody>
      </p:sp>
      <p:sp>
        <p:nvSpPr>
          <p:cNvPr id="19" name="Shape 16"/>
          <p:cNvSpPr/>
          <p:nvPr/>
        </p:nvSpPr>
        <p:spPr>
          <a:xfrm>
            <a:off x="11260709" y="2065909"/>
            <a:ext cx="9736709" cy="8974709"/>
          </a:xfrm>
          <a:prstGeom prst="roundRect">
            <a:avLst>
              <a:gd name="adj" fmla="val 4000"/>
            </a:avLst>
          </a:prstGeom>
          <a:solidFill>
            <a:srgbClr val="F5F5F5"/>
          </a:solidFill>
          <a:ln/>
        </p:spPr>
      </p:sp>
      <p:sp>
        <p:nvSpPr>
          <p:cNvPr id="20" name="Shape 17"/>
          <p:cNvSpPr/>
          <p:nvPr/>
        </p:nvSpPr>
        <p:spPr>
          <a:xfrm>
            <a:off x="11531600" y="2336800"/>
            <a:ext cx="9194800" cy="8432800"/>
          </a:xfrm>
          <a:prstGeom prst="rect">
            <a:avLst/>
          </a:prstGeom>
          <a:noFill/>
          <a:ln/>
        </p:spPr>
      </p:sp>
      <p:sp>
        <p:nvSpPr>
          <p:cNvPr id="21" name="Text 18"/>
          <p:cNvSpPr/>
          <p:nvPr/>
        </p:nvSpPr>
        <p:spPr>
          <a:xfrm>
            <a:off x="11409680" y="2275840"/>
            <a:ext cx="9438640" cy="8554720"/>
          </a:xfrm>
          <a:prstGeom prst="rect">
            <a:avLst/>
          </a:prstGeom>
          <a:noFill/>
          <a:ln/>
        </p:spPr>
        <p:txBody>
          <a:bodyPr wrap="square" lIns="0" tIns="0" rIns="0" bIns="0" rtlCol="0" anchor="t"/>
          <a:lstStyle/>
          <a:p>
            <a:pPr algn="l">
              <a:lnSpc>
                <a:spcPct val="165000"/>
              </a:lnSpc>
            </a:pPr>
            <a:r>
              <a:rPr lang="en-US" sz="2000" b="1" dirty="0">
                <a:solidFill>
                  <a:srgbClr val="2C2C2C"/>
                </a:solidFill>
                <a:latin typeface="Quattrocento Sans" pitchFamily="34" charset="0"/>
                <a:ea typeface="Quattrocento Sans" pitchFamily="34" charset="-122"/>
                <a:cs typeface="Quattrocento Sans" pitchFamily="34" charset="-120"/>
              </a:rPr>
              <a:t>控制目标</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确定项目进度当前状况，对造成进度变化的因素施加影响，确保项目按计划进行。</a:t>
            </a:r>
            <a:endParaRPr lang="en-US" sz="2000" dirty="0"/>
          </a:p>
          <a:p>
            <a:pPr algn="l">
              <a:lnSpc>
                <a:spcPct val="165000"/>
              </a:lnSpc>
              <a:spcBef>
                <a:spcPts val="1333"/>
              </a:spcBef>
            </a:pPr>
            <a:r>
              <a:rPr lang="en-US" sz="2000" b="1" dirty="0">
                <a:solidFill>
                  <a:srgbClr val="2C2C2C"/>
                </a:solidFill>
                <a:latin typeface="Quattrocento Sans" pitchFamily="34" charset="0"/>
                <a:ea typeface="Quattrocento Sans" pitchFamily="34" charset="-122"/>
                <a:cs typeface="Quattrocento Sans" pitchFamily="34" charset="-120"/>
              </a:rPr>
              <a:t>控制方法</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 偏差分析：对比计划与实际进度</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 趋势分析：预测未来进度走势</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 采取纠正措施调整进度计划</a:t>
            </a:r>
            <a:endParaRPr lang="en-US" sz="2000" dirty="0"/>
          </a:p>
          <a:p>
            <a:pPr algn="l">
              <a:lnSpc>
                <a:spcPct val="165000"/>
              </a:lnSpc>
              <a:spcBef>
                <a:spcPts val="1333"/>
              </a:spcBef>
            </a:pPr>
            <a:r>
              <a:rPr lang="en-US" sz="2000" b="1" dirty="0">
                <a:solidFill>
                  <a:srgbClr val="2C2C2C"/>
                </a:solidFill>
                <a:latin typeface="Quattrocento Sans" pitchFamily="34" charset="0"/>
                <a:ea typeface="Quattrocento Sans" pitchFamily="34" charset="-122"/>
                <a:cs typeface="Quattrocento Sans" pitchFamily="34" charset="-120"/>
              </a:rPr>
              <a:t>与其他控制关系</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进度控制是综合变更控制的一部分，与成本控制、质量控制等相互关联，需协调一致共同确保项目目标实现。</a:t>
            </a:r>
            <a:endParaRPr lang="en-US" sz="2000" dirty="0"/>
          </a:p>
          <a:p>
            <a:pPr algn="l">
              <a:lnSpc>
                <a:spcPct val="165000"/>
              </a:lnSpc>
              <a:spcBef>
                <a:spcPts val="1333"/>
              </a:spcBef>
            </a:pPr>
            <a:r>
              <a:rPr lang="en-US" sz="2000" b="1" dirty="0">
                <a:solidFill>
                  <a:srgbClr val="2C2C2C"/>
                </a:solidFill>
                <a:latin typeface="Quattrocento Sans" pitchFamily="34" charset="0"/>
                <a:ea typeface="Quattrocento Sans" pitchFamily="34" charset="-122"/>
                <a:cs typeface="Quattrocento Sans" pitchFamily="34" charset="-120"/>
              </a:rPr>
              <a:t>进度压缩技术</a:t>
            </a:r>
            <a:endParaRPr lang="en-US" sz="2000" dirty="0"/>
          </a:p>
          <a:p>
            <a:pPr algn="l">
              <a:lnSpc>
                <a:spcPct val="165000"/>
              </a:lnSpc>
            </a:pPr>
            <a:r>
              <a:rPr lang="en-US" sz="2000" dirty="0">
                <a:solidFill>
                  <a:srgbClr val="2C2C2C"/>
                </a:solidFill>
                <a:latin typeface="Quattrocento Sans" pitchFamily="34" charset="0"/>
                <a:ea typeface="Quattrocento Sans" pitchFamily="34" charset="-122"/>
                <a:cs typeface="Quattrocento Sans" pitchFamily="34" charset="-120"/>
              </a:rPr>
              <a:t>赶工：增加资源缩短工期 | 快速跟进：并行执行原本顺序的活动</a:t>
            </a:r>
            <a:endParaRPr lang="en-US" sz="2000" dirty="0"/>
          </a:p>
        </p:txBody>
      </p:sp>
      <p:sp>
        <p:nvSpPr>
          <p:cNvPr id="22" name="Shape 19"/>
          <p:cNvSpPr/>
          <p:nvPr/>
        </p:nvSpPr>
        <p:spPr>
          <a:xfrm>
            <a:off x="20320000" y="11514709"/>
            <a:ext cx="846709" cy="406400"/>
          </a:xfrm>
          <a:prstGeom prst="rect">
            <a:avLst/>
          </a:prstGeom>
          <a:noFill/>
          <a:ln/>
        </p:spPr>
      </p:sp>
      <p:sp>
        <p:nvSpPr>
          <p:cNvPr id="23" name="Text 20"/>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11</a:t>
            </a:r>
            <a:endParaRPr lang="en-US" sz="187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04</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FOUR</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项目成本管理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Cost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4.1　成本估算与预算</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4.2　成本控制措施</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12</a:t>
            </a:r>
            <a:endParaRPr lang="en-US" sz="187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04 项目成本管理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成本估算与预算</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22400"/>
            <a:ext cx="6316091" cy="3386709"/>
          </a:xfrm>
          <a:prstGeom prst="roundRect">
            <a:avLst>
              <a:gd name="adj" fmla="val 4000"/>
            </a:avLst>
          </a:prstGeom>
          <a:solidFill>
            <a:srgbClr val="1A4A7A"/>
          </a:solidFill>
          <a:ln/>
        </p:spPr>
      </p:sp>
      <p:sp>
        <p:nvSpPr>
          <p:cNvPr id="11" name="Shape 8"/>
          <p:cNvSpPr/>
          <p:nvPr/>
        </p:nvSpPr>
        <p:spPr>
          <a:xfrm>
            <a:off x="948309" y="1693291"/>
            <a:ext cx="5774309" cy="474091"/>
          </a:xfrm>
          <a:prstGeom prst="rect">
            <a:avLst/>
          </a:prstGeom>
          <a:noFill/>
          <a:ln/>
        </p:spPr>
      </p:sp>
      <p:sp>
        <p:nvSpPr>
          <p:cNvPr id="12" name="Text 9"/>
          <p:cNvSpPr/>
          <p:nvPr/>
        </p:nvSpPr>
        <p:spPr>
          <a:xfrm>
            <a:off x="826389" y="1632331"/>
            <a:ext cx="6018149" cy="596011"/>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成本估算</a:t>
            </a:r>
            <a:endParaRPr lang="en-US" sz="2400" dirty="0"/>
          </a:p>
        </p:txBody>
      </p:sp>
      <p:sp>
        <p:nvSpPr>
          <p:cNvPr id="13" name="Shape 10"/>
          <p:cNvSpPr/>
          <p:nvPr/>
        </p:nvSpPr>
        <p:spPr>
          <a:xfrm>
            <a:off x="948309" y="2269109"/>
            <a:ext cx="5774309" cy="2269109"/>
          </a:xfrm>
          <a:prstGeom prst="rect">
            <a:avLst/>
          </a:prstGeom>
          <a:noFill/>
          <a:ln/>
        </p:spPr>
      </p:sp>
      <p:sp>
        <p:nvSpPr>
          <p:cNvPr id="14" name="Text 11"/>
          <p:cNvSpPr/>
          <p:nvPr/>
        </p:nvSpPr>
        <p:spPr>
          <a:xfrm>
            <a:off x="826389" y="2208149"/>
            <a:ext cx="6018149" cy="23910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估算完成项目活动所需资源大致费用的过程，为项目预算编制提供基础数据。估算精度随项目进展逐步提高。</a:t>
            </a:r>
            <a:endParaRPr lang="en-US" sz="2000" dirty="0"/>
          </a:p>
        </p:txBody>
      </p:sp>
      <p:sp>
        <p:nvSpPr>
          <p:cNvPr id="15" name="Shape 12"/>
          <p:cNvSpPr/>
          <p:nvPr/>
        </p:nvSpPr>
        <p:spPr>
          <a:xfrm>
            <a:off x="7670800" y="1422400"/>
            <a:ext cx="6333109" cy="3386709"/>
          </a:xfrm>
          <a:prstGeom prst="roundRect">
            <a:avLst>
              <a:gd name="adj" fmla="val 4000"/>
            </a:avLst>
          </a:prstGeom>
          <a:solidFill>
            <a:srgbClr val="5B9BD5"/>
          </a:solidFill>
          <a:ln/>
        </p:spPr>
      </p:sp>
      <p:sp>
        <p:nvSpPr>
          <p:cNvPr id="16" name="Shape 13"/>
          <p:cNvSpPr/>
          <p:nvPr/>
        </p:nvSpPr>
        <p:spPr>
          <a:xfrm>
            <a:off x="7941691" y="1693291"/>
            <a:ext cx="5791200" cy="474091"/>
          </a:xfrm>
          <a:prstGeom prst="rect">
            <a:avLst/>
          </a:prstGeom>
          <a:noFill/>
          <a:ln/>
        </p:spPr>
      </p:sp>
      <p:sp>
        <p:nvSpPr>
          <p:cNvPr id="17" name="Text 14"/>
          <p:cNvSpPr/>
          <p:nvPr/>
        </p:nvSpPr>
        <p:spPr>
          <a:xfrm>
            <a:off x="7819771" y="1632331"/>
            <a:ext cx="6035040" cy="596011"/>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成本预算</a:t>
            </a:r>
            <a:endParaRPr lang="en-US" sz="2400" dirty="0"/>
          </a:p>
        </p:txBody>
      </p:sp>
      <p:sp>
        <p:nvSpPr>
          <p:cNvPr id="18" name="Shape 15"/>
          <p:cNvSpPr/>
          <p:nvPr/>
        </p:nvSpPr>
        <p:spPr>
          <a:xfrm>
            <a:off x="7941691" y="2269109"/>
            <a:ext cx="5791200" cy="2269109"/>
          </a:xfrm>
          <a:prstGeom prst="rect">
            <a:avLst/>
          </a:prstGeom>
          <a:noFill/>
          <a:ln/>
        </p:spPr>
      </p:sp>
      <p:sp>
        <p:nvSpPr>
          <p:cNvPr id="19" name="Text 16"/>
          <p:cNvSpPr/>
          <p:nvPr/>
        </p:nvSpPr>
        <p:spPr>
          <a:xfrm>
            <a:off x="7819771" y="2208149"/>
            <a:ext cx="6035040" cy="23910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合计各个活动或工作包的估算费用，建立成本基准的过程。成本基准是经批准的、按时间段分配的项目预算，用于衡量和监控成本绩效。</a:t>
            </a:r>
            <a:endParaRPr lang="en-US" sz="2000" dirty="0"/>
          </a:p>
        </p:txBody>
      </p:sp>
      <p:sp>
        <p:nvSpPr>
          <p:cNvPr id="20" name="Shape 17"/>
          <p:cNvSpPr/>
          <p:nvPr/>
        </p:nvSpPr>
        <p:spPr>
          <a:xfrm>
            <a:off x="14681200" y="1422400"/>
            <a:ext cx="6316091" cy="3386709"/>
          </a:xfrm>
          <a:prstGeom prst="roundRect">
            <a:avLst>
              <a:gd name="adj" fmla="val 4000"/>
            </a:avLst>
          </a:prstGeom>
          <a:solidFill>
            <a:srgbClr val="2E86C1"/>
          </a:solidFill>
          <a:ln/>
        </p:spPr>
      </p:sp>
      <p:sp>
        <p:nvSpPr>
          <p:cNvPr id="21" name="Shape 18"/>
          <p:cNvSpPr/>
          <p:nvPr/>
        </p:nvSpPr>
        <p:spPr>
          <a:xfrm>
            <a:off x="14952091" y="1693291"/>
            <a:ext cx="5774309" cy="474091"/>
          </a:xfrm>
          <a:prstGeom prst="rect">
            <a:avLst/>
          </a:prstGeom>
          <a:noFill/>
          <a:ln/>
        </p:spPr>
      </p:sp>
      <p:sp>
        <p:nvSpPr>
          <p:cNvPr id="22" name="Text 19"/>
          <p:cNvSpPr/>
          <p:nvPr/>
        </p:nvSpPr>
        <p:spPr>
          <a:xfrm>
            <a:off x="14830171" y="1632331"/>
            <a:ext cx="6018149" cy="596011"/>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成本控制</a:t>
            </a:r>
            <a:endParaRPr lang="en-US" sz="2400" dirty="0"/>
          </a:p>
        </p:txBody>
      </p:sp>
      <p:sp>
        <p:nvSpPr>
          <p:cNvPr id="23" name="Shape 20"/>
          <p:cNvSpPr/>
          <p:nvPr/>
        </p:nvSpPr>
        <p:spPr>
          <a:xfrm>
            <a:off x="14952091" y="2269109"/>
            <a:ext cx="5774309" cy="2269109"/>
          </a:xfrm>
          <a:prstGeom prst="rect">
            <a:avLst/>
          </a:prstGeom>
          <a:noFill/>
          <a:ln/>
        </p:spPr>
      </p:sp>
      <p:sp>
        <p:nvSpPr>
          <p:cNvPr id="24" name="Text 21"/>
          <p:cNvSpPr/>
          <p:nvPr/>
        </p:nvSpPr>
        <p:spPr>
          <a:xfrm>
            <a:off x="14830171" y="2208149"/>
            <a:ext cx="6018149" cy="23910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影响造成成本偏差的因素，控制项目预算变更的过程。确保项目成本不超预算，在批准的预算范围内完成项目。</a:t>
            </a:r>
            <a:endParaRPr lang="en-US" sz="2000" dirty="0"/>
          </a:p>
        </p:txBody>
      </p:sp>
      <p:sp>
        <p:nvSpPr>
          <p:cNvPr id="25" name="Shape 22"/>
          <p:cNvSpPr/>
          <p:nvPr/>
        </p:nvSpPr>
        <p:spPr>
          <a:xfrm>
            <a:off x="677291" y="5147691"/>
            <a:ext cx="6773291" cy="474091"/>
          </a:xfrm>
          <a:prstGeom prst="rect">
            <a:avLst/>
          </a:prstGeom>
          <a:noFill/>
          <a:ln/>
        </p:spPr>
      </p:sp>
      <p:sp>
        <p:nvSpPr>
          <p:cNvPr id="26" name="Text 23"/>
          <p:cNvSpPr/>
          <p:nvPr/>
        </p:nvSpPr>
        <p:spPr>
          <a:xfrm>
            <a:off x="555371" y="5086731"/>
            <a:ext cx="7017131" cy="596011"/>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成本估算方法</a:t>
            </a:r>
            <a:endParaRPr lang="en-US" sz="2400" dirty="0"/>
          </a:p>
        </p:txBody>
      </p:sp>
      <p:sp>
        <p:nvSpPr>
          <p:cNvPr id="27" name="Shape 24"/>
          <p:cNvSpPr/>
          <p:nvPr/>
        </p:nvSpPr>
        <p:spPr>
          <a:xfrm>
            <a:off x="677291" y="5689600"/>
            <a:ext cx="20320000" cy="16891"/>
          </a:xfrm>
          <a:prstGeom prst="rect">
            <a:avLst/>
          </a:prstGeom>
          <a:solidFill>
            <a:srgbClr val="E0E0E0"/>
          </a:solidFill>
          <a:ln/>
        </p:spPr>
      </p:sp>
      <p:sp>
        <p:nvSpPr>
          <p:cNvPr id="28" name="Shape 25"/>
          <p:cNvSpPr/>
          <p:nvPr/>
        </p:nvSpPr>
        <p:spPr>
          <a:xfrm>
            <a:off x="677291" y="5926709"/>
            <a:ext cx="6316091" cy="4910709"/>
          </a:xfrm>
          <a:prstGeom prst="roundRect">
            <a:avLst>
              <a:gd name="adj" fmla="val 4000"/>
            </a:avLst>
          </a:prstGeom>
          <a:solidFill>
            <a:srgbClr val="F5F5F5"/>
          </a:solidFill>
          <a:ln/>
        </p:spPr>
      </p:sp>
      <p:sp>
        <p:nvSpPr>
          <p:cNvPr id="29" name="Shape 26"/>
          <p:cNvSpPr/>
          <p:nvPr/>
        </p:nvSpPr>
        <p:spPr>
          <a:xfrm>
            <a:off x="948309" y="6163691"/>
            <a:ext cx="609600" cy="609600"/>
          </a:xfrm>
          <a:prstGeom prst="ellipse">
            <a:avLst/>
          </a:prstGeom>
          <a:solidFill>
            <a:srgbClr val="1A4A7A"/>
          </a:solidFill>
          <a:ln/>
        </p:spPr>
      </p:sp>
      <p:sp>
        <p:nvSpPr>
          <p:cNvPr id="30" name="Shape 27"/>
          <p:cNvSpPr/>
          <p:nvPr/>
        </p:nvSpPr>
        <p:spPr>
          <a:xfrm>
            <a:off x="948309" y="6163691"/>
            <a:ext cx="609600" cy="609600"/>
          </a:xfrm>
          <a:prstGeom prst="rect">
            <a:avLst/>
          </a:prstGeom>
          <a:noFill/>
          <a:ln/>
        </p:spPr>
      </p:sp>
      <p:sp>
        <p:nvSpPr>
          <p:cNvPr id="31" name="Text 28"/>
          <p:cNvSpPr/>
          <p:nvPr/>
        </p:nvSpPr>
        <p:spPr>
          <a:xfrm>
            <a:off x="826389" y="6102731"/>
            <a:ext cx="853440" cy="731520"/>
          </a:xfrm>
          <a:prstGeom prst="rect">
            <a:avLst/>
          </a:prstGeom>
          <a:noFill/>
          <a:ln/>
        </p:spPr>
        <p:txBody>
          <a:bodyPr wrap="none" lIns="0" tIns="0" rIns="0" bIns="0" rtlCol="0" anchor="ctr"/>
          <a:lstStyle/>
          <a:p>
            <a:pPr algn="ctr">
              <a:lnSpc>
                <a:spcPct val="120000"/>
              </a:lnSpc>
            </a:pPr>
            <a:r>
              <a:rPr lang="en-US" sz="2130" dirty="0">
                <a:solidFill>
                  <a:srgbClr val="FFFFFF"/>
                </a:solidFill>
                <a:latin typeface="Quattrocento Sans" pitchFamily="34" charset="0"/>
                <a:ea typeface="Quattrocento Sans" pitchFamily="34" charset="-122"/>
                <a:cs typeface="Quattrocento Sans" pitchFamily="34" charset="-120"/>
              </a:rPr>
              <a:t>1</a:t>
            </a:r>
            <a:endParaRPr lang="en-US" sz="2130" dirty="0"/>
          </a:p>
        </p:txBody>
      </p:sp>
      <p:sp>
        <p:nvSpPr>
          <p:cNvPr id="32" name="Shape 29"/>
          <p:cNvSpPr/>
          <p:nvPr/>
        </p:nvSpPr>
        <p:spPr>
          <a:xfrm>
            <a:off x="1727200" y="6231509"/>
            <a:ext cx="4910709" cy="474091"/>
          </a:xfrm>
          <a:prstGeom prst="rect">
            <a:avLst/>
          </a:prstGeom>
          <a:noFill/>
          <a:ln/>
        </p:spPr>
      </p:sp>
      <p:sp>
        <p:nvSpPr>
          <p:cNvPr id="33" name="Text 30"/>
          <p:cNvSpPr/>
          <p:nvPr/>
        </p:nvSpPr>
        <p:spPr>
          <a:xfrm>
            <a:off x="1605280" y="61705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类比估算</a:t>
            </a:r>
            <a:endParaRPr lang="en-US" sz="2130" dirty="0"/>
          </a:p>
        </p:txBody>
      </p:sp>
      <p:sp>
        <p:nvSpPr>
          <p:cNvPr id="34" name="Shape 31"/>
          <p:cNvSpPr/>
          <p:nvPr/>
        </p:nvSpPr>
        <p:spPr>
          <a:xfrm>
            <a:off x="948309" y="6942709"/>
            <a:ext cx="5706491" cy="3657600"/>
          </a:xfrm>
          <a:prstGeom prst="rect">
            <a:avLst/>
          </a:prstGeom>
          <a:noFill/>
          <a:ln/>
        </p:spPr>
      </p:sp>
      <p:sp>
        <p:nvSpPr>
          <p:cNvPr id="35" name="Text 32"/>
          <p:cNvSpPr/>
          <p:nvPr/>
        </p:nvSpPr>
        <p:spPr>
          <a:xfrm>
            <a:off x="826389" y="6881749"/>
            <a:ext cx="5950331" cy="3779520"/>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参考类似项目实际成本数据，对当前项目成本进行估算的方法。适用于项目早期信息不足时，成本低但精度较低，通常误差在-25%~+75%。</a:t>
            </a:r>
            <a:endParaRPr lang="en-US" sz="2000" dirty="0"/>
          </a:p>
        </p:txBody>
      </p:sp>
      <p:sp>
        <p:nvSpPr>
          <p:cNvPr id="36" name="Shape 33"/>
          <p:cNvSpPr/>
          <p:nvPr/>
        </p:nvSpPr>
        <p:spPr>
          <a:xfrm>
            <a:off x="7670800" y="5926709"/>
            <a:ext cx="6333109" cy="4910709"/>
          </a:xfrm>
          <a:prstGeom prst="roundRect">
            <a:avLst>
              <a:gd name="adj" fmla="val 4000"/>
            </a:avLst>
          </a:prstGeom>
          <a:solidFill>
            <a:srgbClr val="F5F5F5"/>
          </a:solidFill>
          <a:ln/>
        </p:spPr>
      </p:sp>
      <p:sp>
        <p:nvSpPr>
          <p:cNvPr id="37" name="Shape 34"/>
          <p:cNvSpPr/>
          <p:nvPr/>
        </p:nvSpPr>
        <p:spPr>
          <a:xfrm>
            <a:off x="7941691" y="6163691"/>
            <a:ext cx="609600" cy="609600"/>
          </a:xfrm>
          <a:prstGeom prst="ellipse">
            <a:avLst/>
          </a:prstGeom>
          <a:solidFill>
            <a:srgbClr val="5B9BD5"/>
          </a:solidFill>
          <a:ln/>
        </p:spPr>
      </p:sp>
      <p:sp>
        <p:nvSpPr>
          <p:cNvPr id="38" name="Shape 35"/>
          <p:cNvSpPr/>
          <p:nvPr/>
        </p:nvSpPr>
        <p:spPr>
          <a:xfrm>
            <a:off x="7941691" y="6163691"/>
            <a:ext cx="609600" cy="609600"/>
          </a:xfrm>
          <a:prstGeom prst="rect">
            <a:avLst/>
          </a:prstGeom>
          <a:noFill/>
          <a:ln/>
        </p:spPr>
      </p:sp>
      <p:sp>
        <p:nvSpPr>
          <p:cNvPr id="39" name="Text 36"/>
          <p:cNvSpPr/>
          <p:nvPr/>
        </p:nvSpPr>
        <p:spPr>
          <a:xfrm>
            <a:off x="7819771" y="6102731"/>
            <a:ext cx="853440" cy="731520"/>
          </a:xfrm>
          <a:prstGeom prst="rect">
            <a:avLst/>
          </a:prstGeom>
          <a:noFill/>
          <a:ln/>
        </p:spPr>
        <p:txBody>
          <a:bodyPr wrap="none" lIns="0" tIns="0" rIns="0" bIns="0" rtlCol="0" anchor="ctr"/>
          <a:lstStyle/>
          <a:p>
            <a:pPr algn="ctr">
              <a:lnSpc>
                <a:spcPct val="120000"/>
              </a:lnSpc>
            </a:pPr>
            <a:r>
              <a:rPr lang="en-US" sz="2130" dirty="0">
                <a:solidFill>
                  <a:srgbClr val="FFFFFF"/>
                </a:solidFill>
                <a:latin typeface="Quattrocento Sans" pitchFamily="34" charset="0"/>
                <a:ea typeface="Quattrocento Sans" pitchFamily="34" charset="-122"/>
                <a:cs typeface="Quattrocento Sans" pitchFamily="34" charset="-120"/>
              </a:rPr>
              <a:t>2</a:t>
            </a:r>
            <a:endParaRPr lang="en-US" sz="2130" dirty="0"/>
          </a:p>
        </p:txBody>
      </p:sp>
      <p:sp>
        <p:nvSpPr>
          <p:cNvPr id="40" name="Shape 37"/>
          <p:cNvSpPr/>
          <p:nvPr/>
        </p:nvSpPr>
        <p:spPr>
          <a:xfrm>
            <a:off x="8720709" y="6231509"/>
            <a:ext cx="4910709" cy="474091"/>
          </a:xfrm>
          <a:prstGeom prst="rect">
            <a:avLst/>
          </a:prstGeom>
          <a:noFill/>
          <a:ln/>
        </p:spPr>
      </p:sp>
      <p:sp>
        <p:nvSpPr>
          <p:cNvPr id="41" name="Text 38"/>
          <p:cNvSpPr/>
          <p:nvPr/>
        </p:nvSpPr>
        <p:spPr>
          <a:xfrm>
            <a:off x="8598789" y="61705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参数估算</a:t>
            </a:r>
            <a:endParaRPr lang="en-US" sz="2130" dirty="0"/>
          </a:p>
        </p:txBody>
      </p:sp>
      <p:sp>
        <p:nvSpPr>
          <p:cNvPr id="42" name="Shape 39"/>
          <p:cNvSpPr/>
          <p:nvPr/>
        </p:nvSpPr>
        <p:spPr>
          <a:xfrm>
            <a:off x="7941691" y="6942709"/>
            <a:ext cx="5723509" cy="3657600"/>
          </a:xfrm>
          <a:prstGeom prst="rect">
            <a:avLst/>
          </a:prstGeom>
          <a:noFill/>
          <a:ln/>
        </p:spPr>
      </p:sp>
      <p:sp>
        <p:nvSpPr>
          <p:cNvPr id="43" name="Text 40"/>
          <p:cNvSpPr/>
          <p:nvPr/>
        </p:nvSpPr>
        <p:spPr>
          <a:xfrm>
            <a:off x="7819771" y="6881749"/>
            <a:ext cx="5967349" cy="3779520"/>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利用历史数据与项目参数之间的统计关系进行估算。如每平方米建筑成本×总建筑面积。精度较高，但需准确数据支持。</a:t>
            </a:r>
            <a:endParaRPr lang="en-US" sz="2000" dirty="0"/>
          </a:p>
        </p:txBody>
      </p:sp>
      <p:sp>
        <p:nvSpPr>
          <p:cNvPr id="44" name="Shape 41"/>
          <p:cNvSpPr/>
          <p:nvPr/>
        </p:nvSpPr>
        <p:spPr>
          <a:xfrm>
            <a:off x="14681200" y="5926709"/>
            <a:ext cx="6316091" cy="4910709"/>
          </a:xfrm>
          <a:prstGeom prst="roundRect">
            <a:avLst>
              <a:gd name="adj" fmla="val 4000"/>
            </a:avLst>
          </a:prstGeom>
          <a:solidFill>
            <a:srgbClr val="F5F5F5"/>
          </a:solidFill>
          <a:ln/>
        </p:spPr>
      </p:sp>
      <p:sp>
        <p:nvSpPr>
          <p:cNvPr id="45" name="Shape 42"/>
          <p:cNvSpPr/>
          <p:nvPr/>
        </p:nvSpPr>
        <p:spPr>
          <a:xfrm>
            <a:off x="14952091" y="6163691"/>
            <a:ext cx="609600" cy="609600"/>
          </a:xfrm>
          <a:prstGeom prst="ellipse">
            <a:avLst/>
          </a:prstGeom>
          <a:solidFill>
            <a:srgbClr val="2E86C1"/>
          </a:solidFill>
          <a:ln/>
        </p:spPr>
      </p:sp>
      <p:sp>
        <p:nvSpPr>
          <p:cNvPr id="46" name="Shape 43"/>
          <p:cNvSpPr/>
          <p:nvPr/>
        </p:nvSpPr>
        <p:spPr>
          <a:xfrm>
            <a:off x="14952091" y="6163691"/>
            <a:ext cx="609600" cy="609600"/>
          </a:xfrm>
          <a:prstGeom prst="rect">
            <a:avLst/>
          </a:prstGeom>
          <a:noFill/>
          <a:ln/>
        </p:spPr>
      </p:sp>
      <p:sp>
        <p:nvSpPr>
          <p:cNvPr id="47" name="Text 44"/>
          <p:cNvSpPr/>
          <p:nvPr/>
        </p:nvSpPr>
        <p:spPr>
          <a:xfrm>
            <a:off x="14830171" y="6102731"/>
            <a:ext cx="853440" cy="731520"/>
          </a:xfrm>
          <a:prstGeom prst="rect">
            <a:avLst/>
          </a:prstGeom>
          <a:noFill/>
          <a:ln/>
        </p:spPr>
        <p:txBody>
          <a:bodyPr wrap="none" lIns="0" tIns="0" rIns="0" bIns="0" rtlCol="0" anchor="ctr"/>
          <a:lstStyle/>
          <a:p>
            <a:pPr algn="ctr">
              <a:lnSpc>
                <a:spcPct val="120000"/>
              </a:lnSpc>
            </a:pPr>
            <a:r>
              <a:rPr lang="en-US" sz="2130" dirty="0">
                <a:solidFill>
                  <a:srgbClr val="FFFFFF"/>
                </a:solidFill>
                <a:latin typeface="Quattrocento Sans" pitchFamily="34" charset="0"/>
                <a:ea typeface="Quattrocento Sans" pitchFamily="34" charset="-122"/>
                <a:cs typeface="Quattrocento Sans" pitchFamily="34" charset="-120"/>
              </a:rPr>
              <a:t>3</a:t>
            </a:r>
            <a:endParaRPr lang="en-US" sz="2130" dirty="0"/>
          </a:p>
        </p:txBody>
      </p:sp>
      <p:sp>
        <p:nvSpPr>
          <p:cNvPr id="48" name="Shape 45"/>
          <p:cNvSpPr/>
          <p:nvPr/>
        </p:nvSpPr>
        <p:spPr>
          <a:xfrm>
            <a:off x="15731109" y="6231509"/>
            <a:ext cx="4910709" cy="474091"/>
          </a:xfrm>
          <a:prstGeom prst="rect">
            <a:avLst/>
          </a:prstGeom>
          <a:noFill/>
          <a:ln/>
        </p:spPr>
      </p:sp>
      <p:sp>
        <p:nvSpPr>
          <p:cNvPr id="49" name="Text 46"/>
          <p:cNvSpPr/>
          <p:nvPr/>
        </p:nvSpPr>
        <p:spPr>
          <a:xfrm>
            <a:off x="15609189" y="61705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三点估算</a:t>
            </a:r>
            <a:endParaRPr lang="en-US" sz="2130" dirty="0"/>
          </a:p>
        </p:txBody>
      </p:sp>
      <p:sp>
        <p:nvSpPr>
          <p:cNvPr id="50" name="Shape 47"/>
          <p:cNvSpPr/>
          <p:nvPr/>
        </p:nvSpPr>
        <p:spPr>
          <a:xfrm>
            <a:off x="14952091" y="6942709"/>
            <a:ext cx="5706491" cy="3657600"/>
          </a:xfrm>
          <a:prstGeom prst="rect">
            <a:avLst/>
          </a:prstGeom>
          <a:noFill/>
          <a:ln/>
        </p:spPr>
      </p:sp>
      <p:sp>
        <p:nvSpPr>
          <p:cNvPr id="51" name="Text 48"/>
          <p:cNvSpPr/>
          <p:nvPr/>
        </p:nvSpPr>
        <p:spPr>
          <a:xfrm>
            <a:off x="14830171" y="6881749"/>
            <a:ext cx="5950331" cy="3779520"/>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考虑最乐观(O)、最悲观(P)和最可能(M)成本，计算加权平均值。公式：(O + 4M + P) / 6。可降低估算风险，提高准确性。</a:t>
            </a:r>
            <a:endParaRPr lang="en-US" sz="2000" dirty="0"/>
          </a:p>
        </p:txBody>
      </p:sp>
      <p:sp>
        <p:nvSpPr>
          <p:cNvPr id="52" name="Shape 49"/>
          <p:cNvSpPr/>
          <p:nvPr/>
        </p:nvSpPr>
        <p:spPr>
          <a:xfrm>
            <a:off x="20320000" y="11514709"/>
            <a:ext cx="846709" cy="406400"/>
          </a:xfrm>
          <a:prstGeom prst="rect">
            <a:avLst/>
          </a:prstGeom>
          <a:noFill/>
          <a:ln/>
        </p:spPr>
      </p:sp>
      <p:sp>
        <p:nvSpPr>
          <p:cNvPr id="53" name="Text 50"/>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13</a:t>
            </a:r>
            <a:endParaRPr lang="en-US" sz="187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04 项目成本管理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成本控制措施</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1016000" y="1862709"/>
            <a:ext cx="609600" cy="609600"/>
          </a:xfrm>
          <a:prstGeom prst="ellipse">
            <a:avLst/>
          </a:prstGeom>
          <a:solidFill>
            <a:srgbClr val="1A4A7A"/>
          </a:solidFill>
          <a:ln/>
        </p:spPr>
      </p:sp>
      <p:sp>
        <p:nvSpPr>
          <p:cNvPr id="11" name="Shape 8"/>
          <p:cNvSpPr/>
          <p:nvPr/>
        </p:nvSpPr>
        <p:spPr>
          <a:xfrm>
            <a:off x="1016000" y="1862709"/>
            <a:ext cx="609600" cy="609600"/>
          </a:xfrm>
          <a:prstGeom prst="rect">
            <a:avLst/>
          </a:prstGeom>
          <a:noFill/>
          <a:ln/>
        </p:spPr>
      </p:sp>
      <p:sp>
        <p:nvSpPr>
          <p:cNvPr id="12" name="Text 9"/>
          <p:cNvSpPr/>
          <p:nvPr/>
        </p:nvSpPr>
        <p:spPr>
          <a:xfrm>
            <a:off x="894080" y="1801749"/>
            <a:ext cx="853440" cy="731520"/>
          </a:xfrm>
          <a:prstGeom prst="rect">
            <a:avLst/>
          </a:prstGeom>
          <a:noFill/>
          <a:ln/>
        </p:spPr>
        <p:txBody>
          <a:bodyPr wrap="none" lIns="0" tIns="0" rIns="0" bIns="0" rtlCol="0" anchor="ctr"/>
          <a:lstStyle/>
          <a:p>
            <a:pPr algn="ctr">
              <a:lnSpc>
                <a:spcPct val="120000"/>
              </a:lnSpc>
            </a:pPr>
            <a:r>
              <a:rPr lang="en-US" sz="2130" dirty="0">
                <a:solidFill>
                  <a:srgbClr val="FFFFFF"/>
                </a:solidFill>
                <a:latin typeface="Quattrocento Sans" pitchFamily="34" charset="0"/>
                <a:ea typeface="Quattrocento Sans" pitchFamily="34" charset="-122"/>
                <a:cs typeface="Quattrocento Sans" pitchFamily="34" charset="-120"/>
              </a:rPr>
              <a:t>1</a:t>
            </a:r>
            <a:endParaRPr lang="en-US" sz="2130" dirty="0"/>
          </a:p>
        </p:txBody>
      </p:sp>
      <p:sp>
        <p:nvSpPr>
          <p:cNvPr id="13" name="Shape 10"/>
          <p:cNvSpPr/>
          <p:nvPr/>
        </p:nvSpPr>
        <p:spPr>
          <a:xfrm>
            <a:off x="1964309" y="1862709"/>
            <a:ext cx="18626709" cy="609600"/>
          </a:xfrm>
          <a:prstGeom prst="rect">
            <a:avLst/>
          </a:prstGeom>
          <a:noFill/>
          <a:ln/>
        </p:spPr>
      </p:sp>
      <p:sp>
        <p:nvSpPr>
          <p:cNvPr id="14" name="Text 11"/>
          <p:cNvSpPr/>
          <p:nvPr/>
        </p:nvSpPr>
        <p:spPr>
          <a:xfrm>
            <a:off x="1842389" y="1801749"/>
            <a:ext cx="18870549" cy="731520"/>
          </a:xfrm>
          <a:prstGeom prst="rect">
            <a:avLst/>
          </a:prstGeom>
          <a:noFill/>
          <a:ln/>
        </p:spPr>
        <p:txBody>
          <a:bodyPr wrap="none" lIns="0" tIns="0" rIns="0" bIns="0" rtlCol="0" anchor="ctr"/>
          <a:lstStyle/>
          <a:p>
            <a:pPr algn="l">
              <a:lnSpc>
                <a:spcPct val="120000"/>
              </a:lnSpc>
            </a:pPr>
            <a:r>
              <a:rPr lang="en-US" sz="2670" b="1" dirty="0">
                <a:solidFill>
                  <a:srgbClr val="1A4A7A"/>
                </a:solidFill>
                <a:latin typeface="Quattrocento Sans" pitchFamily="34" charset="0"/>
                <a:ea typeface="Quattrocento Sans" pitchFamily="34" charset="-122"/>
                <a:cs typeface="Quattrocento Sans" pitchFamily="34" charset="-120"/>
              </a:rPr>
              <a:t>成本监控</a:t>
            </a:r>
            <a:endParaRPr lang="en-US" sz="2670" dirty="0"/>
          </a:p>
        </p:txBody>
      </p:sp>
      <p:sp>
        <p:nvSpPr>
          <p:cNvPr id="15" name="Shape 12"/>
          <p:cNvSpPr/>
          <p:nvPr/>
        </p:nvSpPr>
        <p:spPr>
          <a:xfrm>
            <a:off x="1964309" y="2540000"/>
            <a:ext cx="18626709" cy="1354709"/>
          </a:xfrm>
          <a:prstGeom prst="rect">
            <a:avLst/>
          </a:prstGeom>
          <a:noFill/>
          <a:ln/>
        </p:spPr>
      </p:sp>
      <p:sp>
        <p:nvSpPr>
          <p:cNvPr id="16" name="Text 13"/>
          <p:cNvSpPr/>
          <p:nvPr/>
        </p:nvSpPr>
        <p:spPr>
          <a:xfrm>
            <a:off x="1842389" y="2479040"/>
            <a:ext cx="18870549" cy="1476629"/>
          </a:xfrm>
          <a:prstGeom prst="rect">
            <a:avLst/>
          </a:prstGeom>
          <a:noFill/>
          <a:ln/>
        </p:spPr>
        <p:txBody>
          <a:bodyPr wrap="square" lIns="0" tIns="0" rIns="0" bIns="0" rtlCol="0" anchor="t"/>
          <a:lstStyle/>
          <a:p>
            <a:pPr algn="l">
              <a:lnSpc>
                <a:spcPct val="160000"/>
              </a:lnSpc>
            </a:pPr>
            <a:r>
              <a:rPr lang="en-US" sz="2130" dirty="0">
                <a:solidFill>
                  <a:srgbClr val="2C2C2C"/>
                </a:solidFill>
                <a:latin typeface="Quattrocento Sans" pitchFamily="34" charset="0"/>
                <a:ea typeface="Quattrocento Sans" pitchFamily="34" charset="-122"/>
                <a:cs typeface="Quattrocento Sans" pitchFamily="34" charset="-120"/>
              </a:rPr>
              <a:t>定期检查项目成本支出情况，与成本基准对比，及时发现成本偏差。监控内容包括实际成本(AC)、计划价值(PV)和挣值(EV)等关键指标。</a:t>
            </a:r>
            <a:endParaRPr lang="en-US" sz="2130" dirty="0"/>
          </a:p>
        </p:txBody>
      </p:sp>
      <p:sp>
        <p:nvSpPr>
          <p:cNvPr id="17" name="Shape 14"/>
          <p:cNvSpPr/>
          <p:nvPr/>
        </p:nvSpPr>
        <p:spPr>
          <a:xfrm>
            <a:off x="1016000" y="4064000"/>
            <a:ext cx="19642709" cy="16891"/>
          </a:xfrm>
          <a:prstGeom prst="rect">
            <a:avLst/>
          </a:prstGeom>
          <a:solidFill>
            <a:srgbClr val="E0E0E0"/>
          </a:solidFill>
          <a:ln/>
        </p:spPr>
      </p:sp>
      <p:sp>
        <p:nvSpPr>
          <p:cNvPr id="18" name="Shape 15"/>
          <p:cNvSpPr/>
          <p:nvPr/>
        </p:nvSpPr>
        <p:spPr>
          <a:xfrm>
            <a:off x="1016000" y="4741291"/>
            <a:ext cx="609600" cy="609600"/>
          </a:xfrm>
          <a:prstGeom prst="ellipse">
            <a:avLst/>
          </a:prstGeom>
          <a:solidFill>
            <a:srgbClr val="5B9BD5"/>
          </a:solidFill>
          <a:ln/>
        </p:spPr>
      </p:sp>
      <p:sp>
        <p:nvSpPr>
          <p:cNvPr id="19" name="Shape 16"/>
          <p:cNvSpPr/>
          <p:nvPr/>
        </p:nvSpPr>
        <p:spPr>
          <a:xfrm>
            <a:off x="1016000" y="4741291"/>
            <a:ext cx="609600" cy="609600"/>
          </a:xfrm>
          <a:prstGeom prst="rect">
            <a:avLst/>
          </a:prstGeom>
          <a:noFill/>
          <a:ln/>
        </p:spPr>
      </p:sp>
      <p:sp>
        <p:nvSpPr>
          <p:cNvPr id="20" name="Text 17"/>
          <p:cNvSpPr/>
          <p:nvPr/>
        </p:nvSpPr>
        <p:spPr>
          <a:xfrm>
            <a:off x="894080" y="4680331"/>
            <a:ext cx="853440" cy="731520"/>
          </a:xfrm>
          <a:prstGeom prst="rect">
            <a:avLst/>
          </a:prstGeom>
          <a:noFill/>
          <a:ln/>
        </p:spPr>
        <p:txBody>
          <a:bodyPr wrap="none" lIns="0" tIns="0" rIns="0" bIns="0" rtlCol="0" anchor="ctr"/>
          <a:lstStyle/>
          <a:p>
            <a:pPr algn="ctr">
              <a:lnSpc>
                <a:spcPct val="120000"/>
              </a:lnSpc>
            </a:pPr>
            <a:r>
              <a:rPr lang="en-US" sz="2130" dirty="0">
                <a:solidFill>
                  <a:srgbClr val="FFFFFF"/>
                </a:solidFill>
                <a:latin typeface="Quattrocento Sans" pitchFamily="34" charset="0"/>
                <a:ea typeface="Quattrocento Sans" pitchFamily="34" charset="-122"/>
                <a:cs typeface="Quattrocento Sans" pitchFamily="34" charset="-120"/>
              </a:rPr>
              <a:t>2</a:t>
            </a:r>
            <a:endParaRPr lang="en-US" sz="2130" dirty="0"/>
          </a:p>
        </p:txBody>
      </p:sp>
      <p:sp>
        <p:nvSpPr>
          <p:cNvPr id="21" name="Shape 18"/>
          <p:cNvSpPr/>
          <p:nvPr/>
        </p:nvSpPr>
        <p:spPr>
          <a:xfrm>
            <a:off x="1964309" y="4741291"/>
            <a:ext cx="18626709" cy="609600"/>
          </a:xfrm>
          <a:prstGeom prst="rect">
            <a:avLst/>
          </a:prstGeom>
          <a:noFill/>
          <a:ln/>
        </p:spPr>
      </p:sp>
      <p:sp>
        <p:nvSpPr>
          <p:cNvPr id="22" name="Text 19"/>
          <p:cNvSpPr/>
          <p:nvPr/>
        </p:nvSpPr>
        <p:spPr>
          <a:xfrm>
            <a:off x="1842389" y="4680331"/>
            <a:ext cx="18870549" cy="731520"/>
          </a:xfrm>
          <a:prstGeom prst="rect">
            <a:avLst/>
          </a:prstGeom>
          <a:noFill/>
          <a:ln/>
        </p:spPr>
        <p:txBody>
          <a:bodyPr wrap="none" lIns="0" tIns="0" rIns="0" bIns="0" rtlCol="0" anchor="ctr"/>
          <a:lstStyle/>
          <a:p>
            <a:pPr algn="l">
              <a:lnSpc>
                <a:spcPct val="120000"/>
              </a:lnSpc>
            </a:pPr>
            <a:r>
              <a:rPr lang="en-US" sz="2670" b="1" dirty="0">
                <a:solidFill>
                  <a:srgbClr val="1A4A7A"/>
                </a:solidFill>
                <a:latin typeface="Quattrocento Sans" pitchFamily="34" charset="0"/>
                <a:ea typeface="Quattrocento Sans" pitchFamily="34" charset="-122"/>
                <a:cs typeface="Quattrocento Sans" pitchFamily="34" charset="-120"/>
              </a:rPr>
              <a:t>偏差分析</a:t>
            </a:r>
            <a:endParaRPr lang="en-US" sz="2670" dirty="0"/>
          </a:p>
        </p:txBody>
      </p:sp>
      <p:sp>
        <p:nvSpPr>
          <p:cNvPr id="23" name="Shape 20"/>
          <p:cNvSpPr/>
          <p:nvPr/>
        </p:nvSpPr>
        <p:spPr>
          <a:xfrm>
            <a:off x="1964309" y="5418709"/>
            <a:ext cx="18626709" cy="1693291"/>
          </a:xfrm>
          <a:prstGeom prst="rect">
            <a:avLst/>
          </a:prstGeom>
          <a:noFill/>
          <a:ln/>
        </p:spPr>
      </p:sp>
      <p:sp>
        <p:nvSpPr>
          <p:cNvPr id="24" name="Text 21"/>
          <p:cNvSpPr/>
          <p:nvPr/>
        </p:nvSpPr>
        <p:spPr>
          <a:xfrm>
            <a:off x="1842389" y="5357749"/>
            <a:ext cx="18870549" cy="1815211"/>
          </a:xfrm>
          <a:prstGeom prst="rect">
            <a:avLst/>
          </a:prstGeom>
          <a:noFill/>
          <a:ln/>
        </p:spPr>
        <p:txBody>
          <a:bodyPr wrap="square" lIns="0" tIns="0" rIns="0" bIns="0" rtlCol="0" anchor="t"/>
          <a:lstStyle/>
          <a:p>
            <a:pPr algn="l">
              <a:lnSpc>
                <a:spcPct val="160000"/>
              </a:lnSpc>
            </a:pPr>
            <a:r>
              <a:rPr lang="en-US" sz="2130" dirty="0">
                <a:solidFill>
                  <a:srgbClr val="2C2C2C"/>
                </a:solidFill>
                <a:latin typeface="Quattrocento Sans" pitchFamily="34" charset="0"/>
                <a:ea typeface="Quattrocento Sans" pitchFamily="34" charset="-122"/>
                <a:cs typeface="Quattrocento Sans" pitchFamily="34" charset="-120"/>
              </a:rPr>
              <a:t>分析成本偏差原因，确定偏差影响程度。核心指标：</a:t>
            </a:r>
            <a:endParaRPr lang="en-US" sz="2130" dirty="0"/>
          </a:p>
          <a:p>
            <a:pPr algn="l">
              <a:lnSpc>
                <a:spcPct val="160000"/>
              </a:lnSpc>
            </a:pPr>
            <a:r>
              <a:rPr lang="en-US" sz="2130" dirty="0">
                <a:solidFill>
                  <a:srgbClr val="2C2C2C"/>
                </a:solidFill>
                <a:latin typeface="Quattrocento Sans" pitchFamily="34" charset="0"/>
                <a:ea typeface="Quattrocento Sans" pitchFamily="34" charset="-122"/>
                <a:cs typeface="Quattrocento Sans" pitchFamily="34" charset="-120"/>
              </a:rPr>
              <a:t>• </a:t>
            </a:r>
            <a:r>
              <a:rPr lang="en-US" sz="2130" b="1" dirty="0">
                <a:solidFill>
                  <a:srgbClr val="2C2C2C"/>
                </a:solidFill>
                <a:latin typeface="Quattrocento Sans" pitchFamily="34" charset="0"/>
                <a:ea typeface="Quattrocento Sans" pitchFamily="34" charset="-122"/>
                <a:cs typeface="Quattrocento Sans" pitchFamily="34" charset="-120"/>
              </a:rPr>
              <a:t>成本偏差(CV)</a:t>
            </a:r>
            <a:r>
              <a:rPr lang="en-US" sz="2130" dirty="0">
                <a:solidFill>
                  <a:srgbClr val="2C2C2C"/>
                </a:solidFill>
                <a:latin typeface="Quattrocento Sans" pitchFamily="34" charset="0"/>
                <a:ea typeface="Quattrocento Sans" pitchFamily="34" charset="-122"/>
                <a:cs typeface="Quattrocento Sans" pitchFamily="34" charset="-120"/>
              </a:rPr>
              <a:t> = EV - AC，CV&gt;0表示节约，CV&lt;0表示超支</a:t>
            </a:r>
            <a:endParaRPr lang="en-US" sz="2130" dirty="0"/>
          </a:p>
          <a:p>
            <a:pPr algn="l">
              <a:lnSpc>
                <a:spcPct val="160000"/>
              </a:lnSpc>
            </a:pPr>
            <a:r>
              <a:rPr lang="en-US" sz="2130" dirty="0">
                <a:solidFill>
                  <a:srgbClr val="2C2C2C"/>
                </a:solidFill>
                <a:latin typeface="Quattrocento Sans" pitchFamily="34" charset="0"/>
                <a:ea typeface="Quattrocento Sans" pitchFamily="34" charset="-122"/>
                <a:cs typeface="Quattrocento Sans" pitchFamily="34" charset="-120"/>
              </a:rPr>
              <a:t>• </a:t>
            </a:r>
            <a:r>
              <a:rPr lang="en-US" sz="2130" b="1" dirty="0">
                <a:solidFill>
                  <a:srgbClr val="2C2C2C"/>
                </a:solidFill>
                <a:latin typeface="Quattrocento Sans" pitchFamily="34" charset="0"/>
                <a:ea typeface="Quattrocento Sans" pitchFamily="34" charset="-122"/>
                <a:cs typeface="Quattrocento Sans" pitchFamily="34" charset="-120"/>
              </a:rPr>
              <a:t>进度偏差(SV)</a:t>
            </a:r>
            <a:r>
              <a:rPr lang="en-US" sz="2130" dirty="0">
                <a:solidFill>
                  <a:srgbClr val="2C2C2C"/>
                </a:solidFill>
                <a:latin typeface="Quattrocento Sans" pitchFamily="34" charset="0"/>
                <a:ea typeface="Quattrocento Sans" pitchFamily="34" charset="-122"/>
                <a:cs typeface="Quattrocento Sans" pitchFamily="34" charset="-120"/>
              </a:rPr>
              <a:t> = EV - PV，SV&gt;0表示提前，SV&lt;0表示滞后</a:t>
            </a:r>
            <a:endParaRPr lang="en-US" sz="2130" dirty="0"/>
          </a:p>
        </p:txBody>
      </p:sp>
      <p:sp>
        <p:nvSpPr>
          <p:cNvPr id="25" name="Shape 22"/>
          <p:cNvSpPr/>
          <p:nvPr/>
        </p:nvSpPr>
        <p:spPr>
          <a:xfrm>
            <a:off x="1016000" y="7281291"/>
            <a:ext cx="19642709" cy="16891"/>
          </a:xfrm>
          <a:prstGeom prst="rect">
            <a:avLst/>
          </a:prstGeom>
          <a:solidFill>
            <a:srgbClr val="E0E0E0"/>
          </a:solidFill>
          <a:ln/>
        </p:spPr>
      </p:sp>
      <p:sp>
        <p:nvSpPr>
          <p:cNvPr id="26" name="Shape 23"/>
          <p:cNvSpPr/>
          <p:nvPr/>
        </p:nvSpPr>
        <p:spPr>
          <a:xfrm>
            <a:off x="1016000" y="7958709"/>
            <a:ext cx="609600" cy="609600"/>
          </a:xfrm>
          <a:prstGeom prst="ellipse">
            <a:avLst/>
          </a:prstGeom>
          <a:solidFill>
            <a:srgbClr val="2E86C1"/>
          </a:solidFill>
          <a:ln/>
        </p:spPr>
      </p:sp>
      <p:sp>
        <p:nvSpPr>
          <p:cNvPr id="27" name="Shape 24"/>
          <p:cNvSpPr/>
          <p:nvPr/>
        </p:nvSpPr>
        <p:spPr>
          <a:xfrm>
            <a:off x="1016000" y="7958709"/>
            <a:ext cx="609600" cy="609600"/>
          </a:xfrm>
          <a:prstGeom prst="rect">
            <a:avLst/>
          </a:prstGeom>
          <a:noFill/>
          <a:ln/>
        </p:spPr>
      </p:sp>
      <p:sp>
        <p:nvSpPr>
          <p:cNvPr id="28" name="Text 25"/>
          <p:cNvSpPr/>
          <p:nvPr/>
        </p:nvSpPr>
        <p:spPr>
          <a:xfrm>
            <a:off x="894080" y="7897749"/>
            <a:ext cx="853440" cy="731520"/>
          </a:xfrm>
          <a:prstGeom prst="rect">
            <a:avLst/>
          </a:prstGeom>
          <a:noFill/>
          <a:ln/>
        </p:spPr>
        <p:txBody>
          <a:bodyPr wrap="none" lIns="0" tIns="0" rIns="0" bIns="0" rtlCol="0" anchor="ctr"/>
          <a:lstStyle/>
          <a:p>
            <a:pPr algn="ctr">
              <a:lnSpc>
                <a:spcPct val="120000"/>
              </a:lnSpc>
            </a:pPr>
            <a:r>
              <a:rPr lang="en-US" sz="2130" dirty="0">
                <a:solidFill>
                  <a:srgbClr val="FFFFFF"/>
                </a:solidFill>
                <a:latin typeface="Quattrocento Sans" pitchFamily="34" charset="0"/>
                <a:ea typeface="Quattrocento Sans" pitchFamily="34" charset="-122"/>
                <a:cs typeface="Quattrocento Sans" pitchFamily="34" charset="-120"/>
              </a:rPr>
              <a:t>3</a:t>
            </a:r>
            <a:endParaRPr lang="en-US" sz="2130" dirty="0"/>
          </a:p>
        </p:txBody>
      </p:sp>
      <p:sp>
        <p:nvSpPr>
          <p:cNvPr id="29" name="Shape 26"/>
          <p:cNvSpPr/>
          <p:nvPr/>
        </p:nvSpPr>
        <p:spPr>
          <a:xfrm>
            <a:off x="1964309" y="7958709"/>
            <a:ext cx="18626709" cy="609600"/>
          </a:xfrm>
          <a:prstGeom prst="rect">
            <a:avLst/>
          </a:prstGeom>
          <a:noFill/>
          <a:ln/>
        </p:spPr>
      </p:sp>
      <p:sp>
        <p:nvSpPr>
          <p:cNvPr id="30" name="Text 27"/>
          <p:cNvSpPr/>
          <p:nvPr/>
        </p:nvSpPr>
        <p:spPr>
          <a:xfrm>
            <a:off x="1842389" y="7897749"/>
            <a:ext cx="18870549" cy="731520"/>
          </a:xfrm>
          <a:prstGeom prst="rect">
            <a:avLst/>
          </a:prstGeom>
          <a:noFill/>
          <a:ln/>
        </p:spPr>
        <p:txBody>
          <a:bodyPr wrap="none" lIns="0" tIns="0" rIns="0" bIns="0" rtlCol="0" anchor="ctr"/>
          <a:lstStyle/>
          <a:p>
            <a:pPr algn="l">
              <a:lnSpc>
                <a:spcPct val="120000"/>
              </a:lnSpc>
            </a:pPr>
            <a:r>
              <a:rPr lang="en-US" sz="2670" b="1" dirty="0">
                <a:solidFill>
                  <a:srgbClr val="1A4A7A"/>
                </a:solidFill>
                <a:latin typeface="Quattrocento Sans" pitchFamily="34" charset="0"/>
                <a:ea typeface="Quattrocento Sans" pitchFamily="34" charset="-122"/>
                <a:cs typeface="Quattrocento Sans" pitchFamily="34" charset="-120"/>
              </a:rPr>
              <a:t>纠正措施</a:t>
            </a:r>
            <a:endParaRPr lang="en-US" sz="2670" dirty="0"/>
          </a:p>
        </p:txBody>
      </p:sp>
      <p:sp>
        <p:nvSpPr>
          <p:cNvPr id="31" name="Shape 28"/>
          <p:cNvSpPr/>
          <p:nvPr/>
        </p:nvSpPr>
        <p:spPr>
          <a:xfrm>
            <a:off x="1964309" y="8636000"/>
            <a:ext cx="18626709" cy="2032000"/>
          </a:xfrm>
          <a:prstGeom prst="rect">
            <a:avLst/>
          </a:prstGeom>
          <a:noFill/>
          <a:ln/>
        </p:spPr>
      </p:sp>
      <p:sp>
        <p:nvSpPr>
          <p:cNvPr id="32" name="Text 29"/>
          <p:cNvSpPr/>
          <p:nvPr/>
        </p:nvSpPr>
        <p:spPr>
          <a:xfrm>
            <a:off x="1842389" y="8575040"/>
            <a:ext cx="18870549" cy="2153920"/>
          </a:xfrm>
          <a:prstGeom prst="rect">
            <a:avLst/>
          </a:prstGeom>
          <a:noFill/>
          <a:ln/>
        </p:spPr>
        <p:txBody>
          <a:bodyPr wrap="square" lIns="0" tIns="0" rIns="0" bIns="0" rtlCol="0" anchor="t"/>
          <a:lstStyle/>
          <a:p>
            <a:pPr algn="l">
              <a:lnSpc>
                <a:spcPct val="160000"/>
              </a:lnSpc>
            </a:pPr>
            <a:r>
              <a:rPr lang="en-US" sz="2130" dirty="0">
                <a:solidFill>
                  <a:srgbClr val="2C2C2C"/>
                </a:solidFill>
                <a:latin typeface="Quattrocento Sans" pitchFamily="34" charset="0"/>
                <a:ea typeface="Quattrocento Sans" pitchFamily="34" charset="-122"/>
                <a:cs typeface="Quattrocento Sans" pitchFamily="34" charset="-120"/>
              </a:rPr>
              <a:t>根据偏差分析结果，采取调整成本预算、优化资源配置等措施。常用方法包括：</a:t>
            </a:r>
            <a:endParaRPr lang="en-US" sz="2130" dirty="0"/>
          </a:p>
          <a:p>
            <a:pPr algn="l">
              <a:lnSpc>
                <a:spcPct val="160000"/>
              </a:lnSpc>
            </a:pPr>
            <a:r>
              <a:rPr lang="en-US" sz="2130" dirty="0">
                <a:solidFill>
                  <a:srgbClr val="2C2C2C"/>
                </a:solidFill>
                <a:latin typeface="Quattrocento Sans" pitchFamily="34" charset="0"/>
                <a:ea typeface="Quattrocento Sans" pitchFamily="34" charset="-122"/>
                <a:cs typeface="Quattrocento Sans" pitchFamily="34" charset="-120"/>
              </a:rPr>
              <a:t>• </a:t>
            </a:r>
            <a:r>
              <a:rPr lang="en-US" sz="2130" b="1" dirty="0">
                <a:solidFill>
                  <a:srgbClr val="2C2C2C"/>
                </a:solidFill>
                <a:latin typeface="Quattrocento Sans" pitchFamily="34" charset="0"/>
                <a:ea typeface="Quattrocento Sans" pitchFamily="34" charset="-122"/>
                <a:cs typeface="Quattrocento Sans" pitchFamily="34" charset="-120"/>
              </a:rPr>
              <a:t>赶工：</a:t>
            </a:r>
            <a:r>
              <a:rPr lang="en-US" sz="2130" dirty="0">
                <a:solidFill>
                  <a:srgbClr val="2C2C2C"/>
                </a:solidFill>
                <a:latin typeface="Quattrocento Sans" pitchFamily="34" charset="0"/>
                <a:ea typeface="Quattrocento Sans" pitchFamily="34" charset="-122"/>
                <a:cs typeface="Quattrocento Sans" pitchFamily="34" charset="-120"/>
              </a:rPr>
              <a:t>增加资源缩短工期 | </a:t>
            </a:r>
            <a:r>
              <a:rPr lang="en-US" sz="2130" b="1" dirty="0">
                <a:solidFill>
                  <a:srgbClr val="2C2C2C"/>
                </a:solidFill>
                <a:latin typeface="Quattrocento Sans" pitchFamily="34" charset="0"/>
                <a:ea typeface="Quattrocento Sans" pitchFamily="34" charset="-122"/>
                <a:cs typeface="Quattrocento Sans" pitchFamily="34" charset="-120"/>
              </a:rPr>
              <a:t>快速跟进：</a:t>
            </a:r>
            <a:r>
              <a:rPr lang="en-US" sz="2130" dirty="0">
                <a:solidFill>
                  <a:srgbClr val="2C2C2C"/>
                </a:solidFill>
                <a:latin typeface="Quattrocento Sans" pitchFamily="34" charset="0"/>
                <a:ea typeface="Quattrocento Sans" pitchFamily="34" charset="-122"/>
                <a:cs typeface="Quattrocento Sans" pitchFamily="34" charset="-120"/>
              </a:rPr>
              <a:t>并行执行活动</a:t>
            </a:r>
            <a:endParaRPr lang="en-US" sz="2130" dirty="0"/>
          </a:p>
          <a:p>
            <a:pPr algn="l">
              <a:lnSpc>
                <a:spcPct val="160000"/>
              </a:lnSpc>
            </a:pPr>
            <a:r>
              <a:rPr lang="en-US" sz="2130" dirty="0">
                <a:solidFill>
                  <a:srgbClr val="2C2C2C"/>
                </a:solidFill>
                <a:latin typeface="Quattrocento Sans" pitchFamily="34" charset="0"/>
                <a:ea typeface="Quattrocento Sans" pitchFamily="34" charset="-122"/>
                <a:cs typeface="Quattrocento Sans" pitchFamily="34" charset="-120"/>
              </a:rPr>
              <a:t>• </a:t>
            </a:r>
            <a:r>
              <a:rPr lang="en-US" sz="2130" b="1" dirty="0">
                <a:solidFill>
                  <a:srgbClr val="2C2C2C"/>
                </a:solidFill>
                <a:latin typeface="Quattrocento Sans" pitchFamily="34" charset="0"/>
                <a:ea typeface="Quattrocento Sans" pitchFamily="34" charset="-122"/>
                <a:cs typeface="Quattrocento Sans" pitchFamily="34" charset="-120"/>
              </a:rPr>
              <a:t>价值工程：</a:t>
            </a:r>
            <a:r>
              <a:rPr lang="en-US" sz="2130" dirty="0">
                <a:solidFill>
                  <a:srgbClr val="2C2C2C"/>
                </a:solidFill>
                <a:latin typeface="Quattrocento Sans" pitchFamily="34" charset="0"/>
                <a:ea typeface="Quattrocento Sans" pitchFamily="34" charset="-122"/>
                <a:cs typeface="Quattrocento Sans" pitchFamily="34" charset="-120"/>
              </a:rPr>
              <a:t>以更低成本实现同等功能 | </a:t>
            </a:r>
            <a:r>
              <a:rPr lang="en-US" sz="2130" b="1" dirty="0">
                <a:solidFill>
                  <a:srgbClr val="2C2C2C"/>
                </a:solidFill>
                <a:latin typeface="Quattrocento Sans" pitchFamily="34" charset="0"/>
                <a:ea typeface="Quattrocento Sans" pitchFamily="34" charset="-122"/>
                <a:cs typeface="Quattrocento Sans" pitchFamily="34" charset="-120"/>
              </a:rPr>
              <a:t>资源平衡：</a:t>
            </a:r>
            <a:r>
              <a:rPr lang="en-US" sz="2130" dirty="0">
                <a:solidFill>
                  <a:srgbClr val="2C2C2C"/>
                </a:solidFill>
                <a:latin typeface="Quattrocento Sans" pitchFamily="34" charset="0"/>
                <a:ea typeface="Quattrocento Sans" pitchFamily="34" charset="-122"/>
                <a:cs typeface="Quattrocento Sans" pitchFamily="34" charset="-120"/>
              </a:rPr>
              <a:t>优化资源利用率</a:t>
            </a:r>
            <a:endParaRPr lang="en-US" sz="2130" dirty="0"/>
          </a:p>
        </p:txBody>
      </p:sp>
      <p:sp>
        <p:nvSpPr>
          <p:cNvPr id="33" name="Shape 30"/>
          <p:cNvSpPr/>
          <p:nvPr/>
        </p:nvSpPr>
        <p:spPr>
          <a:xfrm>
            <a:off x="20320000" y="11514709"/>
            <a:ext cx="846709" cy="406400"/>
          </a:xfrm>
          <a:prstGeom prst="rect">
            <a:avLst/>
          </a:prstGeom>
          <a:noFill/>
          <a:ln/>
        </p:spPr>
      </p:sp>
      <p:sp>
        <p:nvSpPr>
          <p:cNvPr id="34" name="Text 31"/>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14</a:t>
            </a:r>
            <a:endParaRPr lang="en-US" sz="187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05</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FIVE</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项目质量管理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Quality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5.1　质量管理过程与原则</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5.2　质量控制方法</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15</a:t>
            </a:r>
            <a:endParaRPr lang="en-US" sz="187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05 项目质量管理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质量管理过程与原则</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22400"/>
            <a:ext cx="6316091" cy="4064000"/>
          </a:xfrm>
          <a:prstGeom prst="roundRect">
            <a:avLst>
              <a:gd name="adj" fmla="val 4000"/>
            </a:avLst>
          </a:prstGeom>
          <a:solidFill>
            <a:srgbClr val="1A4A7A"/>
          </a:solidFill>
          <a:ln/>
        </p:spPr>
      </p:sp>
      <p:sp>
        <p:nvSpPr>
          <p:cNvPr id="11" name="Shape 8"/>
          <p:cNvSpPr/>
          <p:nvPr/>
        </p:nvSpPr>
        <p:spPr>
          <a:xfrm>
            <a:off x="948309" y="1625600"/>
            <a:ext cx="5774309" cy="508000"/>
          </a:xfrm>
          <a:prstGeom prst="rect">
            <a:avLst/>
          </a:prstGeom>
          <a:noFill/>
          <a:ln/>
        </p:spPr>
      </p:sp>
      <p:sp>
        <p:nvSpPr>
          <p:cNvPr id="12" name="Text 9"/>
          <p:cNvSpPr/>
          <p:nvPr/>
        </p:nvSpPr>
        <p:spPr>
          <a:xfrm>
            <a:off x="826389" y="1564640"/>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01</a:t>
            </a:r>
            <a:endParaRPr lang="en-US" sz="3200" dirty="0"/>
          </a:p>
        </p:txBody>
      </p:sp>
      <p:sp>
        <p:nvSpPr>
          <p:cNvPr id="13" name="Shape 10"/>
          <p:cNvSpPr/>
          <p:nvPr/>
        </p:nvSpPr>
        <p:spPr>
          <a:xfrm>
            <a:off x="948309" y="2235200"/>
            <a:ext cx="5774309" cy="440309"/>
          </a:xfrm>
          <a:prstGeom prst="rect">
            <a:avLst/>
          </a:prstGeom>
          <a:noFill/>
          <a:ln/>
        </p:spPr>
      </p:sp>
      <p:sp>
        <p:nvSpPr>
          <p:cNvPr id="14" name="Text 11"/>
          <p:cNvSpPr/>
          <p:nvPr/>
        </p:nvSpPr>
        <p:spPr>
          <a:xfrm>
            <a:off x="826389" y="2174240"/>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质量计划</a:t>
            </a:r>
            <a:endParaRPr lang="en-US" sz="2400" dirty="0"/>
          </a:p>
        </p:txBody>
      </p:sp>
      <p:sp>
        <p:nvSpPr>
          <p:cNvPr id="15" name="Shape 12"/>
          <p:cNvSpPr/>
          <p:nvPr/>
        </p:nvSpPr>
        <p:spPr>
          <a:xfrm>
            <a:off x="948309" y="2777109"/>
            <a:ext cx="5774309" cy="2438400"/>
          </a:xfrm>
          <a:prstGeom prst="rect">
            <a:avLst/>
          </a:prstGeom>
          <a:noFill/>
          <a:ln/>
        </p:spPr>
      </p:sp>
      <p:sp>
        <p:nvSpPr>
          <p:cNvPr id="16" name="Text 13"/>
          <p:cNvSpPr/>
          <p:nvPr/>
        </p:nvSpPr>
        <p:spPr>
          <a:xfrm>
            <a:off x="826389" y="2716149"/>
            <a:ext cx="6018149"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识别适用质量标准，确定如何满足标准要求的过程。明确项目质量目标和质量控制措施，为质量管理提供方向。</a:t>
            </a:r>
            <a:endParaRPr lang="en-US" sz="2000" dirty="0"/>
          </a:p>
        </p:txBody>
      </p:sp>
      <p:sp>
        <p:nvSpPr>
          <p:cNvPr id="17" name="Shape 14"/>
          <p:cNvSpPr/>
          <p:nvPr/>
        </p:nvSpPr>
        <p:spPr>
          <a:xfrm>
            <a:off x="7670800" y="1422400"/>
            <a:ext cx="6333109" cy="4064000"/>
          </a:xfrm>
          <a:prstGeom prst="roundRect">
            <a:avLst>
              <a:gd name="adj" fmla="val 4000"/>
            </a:avLst>
          </a:prstGeom>
          <a:solidFill>
            <a:srgbClr val="5B9BD5"/>
          </a:solidFill>
          <a:ln/>
        </p:spPr>
      </p:sp>
      <p:sp>
        <p:nvSpPr>
          <p:cNvPr id="18" name="Shape 15"/>
          <p:cNvSpPr/>
          <p:nvPr/>
        </p:nvSpPr>
        <p:spPr>
          <a:xfrm>
            <a:off x="7941691" y="1625600"/>
            <a:ext cx="5791200" cy="508000"/>
          </a:xfrm>
          <a:prstGeom prst="rect">
            <a:avLst/>
          </a:prstGeom>
          <a:noFill/>
          <a:ln/>
        </p:spPr>
      </p:sp>
      <p:sp>
        <p:nvSpPr>
          <p:cNvPr id="19" name="Text 16"/>
          <p:cNvSpPr/>
          <p:nvPr/>
        </p:nvSpPr>
        <p:spPr>
          <a:xfrm>
            <a:off x="7819771" y="1564640"/>
            <a:ext cx="6035040"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02</a:t>
            </a:r>
            <a:endParaRPr lang="en-US" sz="3200" dirty="0"/>
          </a:p>
        </p:txBody>
      </p:sp>
      <p:sp>
        <p:nvSpPr>
          <p:cNvPr id="20" name="Shape 17"/>
          <p:cNvSpPr/>
          <p:nvPr/>
        </p:nvSpPr>
        <p:spPr>
          <a:xfrm>
            <a:off x="7941691" y="2235200"/>
            <a:ext cx="5791200" cy="440309"/>
          </a:xfrm>
          <a:prstGeom prst="rect">
            <a:avLst/>
          </a:prstGeom>
          <a:noFill/>
          <a:ln/>
        </p:spPr>
      </p:sp>
      <p:sp>
        <p:nvSpPr>
          <p:cNvPr id="21" name="Text 18"/>
          <p:cNvSpPr/>
          <p:nvPr/>
        </p:nvSpPr>
        <p:spPr>
          <a:xfrm>
            <a:off x="7819771" y="2174240"/>
            <a:ext cx="6035040"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实施质量保证</a:t>
            </a:r>
            <a:endParaRPr lang="en-US" sz="2400" dirty="0"/>
          </a:p>
        </p:txBody>
      </p:sp>
      <p:sp>
        <p:nvSpPr>
          <p:cNvPr id="22" name="Shape 19"/>
          <p:cNvSpPr/>
          <p:nvPr/>
        </p:nvSpPr>
        <p:spPr>
          <a:xfrm>
            <a:off x="7941691" y="2777109"/>
            <a:ext cx="5791200" cy="2438400"/>
          </a:xfrm>
          <a:prstGeom prst="rect">
            <a:avLst/>
          </a:prstGeom>
          <a:noFill/>
          <a:ln/>
        </p:spPr>
      </p:sp>
      <p:sp>
        <p:nvSpPr>
          <p:cNvPr id="23" name="Text 20"/>
          <p:cNvSpPr/>
          <p:nvPr/>
        </p:nvSpPr>
        <p:spPr>
          <a:xfrm>
            <a:off x="7819771" y="2716149"/>
            <a:ext cx="6035040"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开展系统质量活动，确保项目实施满足质量要求。通过质量审核、过程分析等手段，持续改进项目质量。</a:t>
            </a:r>
            <a:endParaRPr lang="en-US" sz="2000" dirty="0"/>
          </a:p>
        </p:txBody>
      </p:sp>
      <p:sp>
        <p:nvSpPr>
          <p:cNvPr id="24" name="Shape 21"/>
          <p:cNvSpPr/>
          <p:nvPr/>
        </p:nvSpPr>
        <p:spPr>
          <a:xfrm>
            <a:off x="14681200" y="1422400"/>
            <a:ext cx="6316091" cy="4064000"/>
          </a:xfrm>
          <a:prstGeom prst="roundRect">
            <a:avLst>
              <a:gd name="adj" fmla="val 4000"/>
            </a:avLst>
          </a:prstGeom>
          <a:solidFill>
            <a:srgbClr val="2E86C1"/>
          </a:solidFill>
          <a:ln/>
        </p:spPr>
      </p:sp>
      <p:sp>
        <p:nvSpPr>
          <p:cNvPr id="25" name="Shape 22"/>
          <p:cNvSpPr/>
          <p:nvPr/>
        </p:nvSpPr>
        <p:spPr>
          <a:xfrm>
            <a:off x="14952091" y="1625600"/>
            <a:ext cx="5774309" cy="508000"/>
          </a:xfrm>
          <a:prstGeom prst="rect">
            <a:avLst/>
          </a:prstGeom>
          <a:noFill/>
          <a:ln/>
        </p:spPr>
      </p:sp>
      <p:sp>
        <p:nvSpPr>
          <p:cNvPr id="26" name="Text 23"/>
          <p:cNvSpPr/>
          <p:nvPr/>
        </p:nvSpPr>
        <p:spPr>
          <a:xfrm>
            <a:off x="14830171" y="1564640"/>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03</a:t>
            </a:r>
            <a:endParaRPr lang="en-US" sz="3200" dirty="0"/>
          </a:p>
        </p:txBody>
      </p:sp>
      <p:sp>
        <p:nvSpPr>
          <p:cNvPr id="27" name="Shape 24"/>
          <p:cNvSpPr/>
          <p:nvPr/>
        </p:nvSpPr>
        <p:spPr>
          <a:xfrm>
            <a:off x="14952091" y="2235200"/>
            <a:ext cx="5774309" cy="440309"/>
          </a:xfrm>
          <a:prstGeom prst="rect">
            <a:avLst/>
          </a:prstGeom>
          <a:noFill/>
          <a:ln/>
        </p:spPr>
      </p:sp>
      <p:sp>
        <p:nvSpPr>
          <p:cNvPr id="28" name="Text 25"/>
          <p:cNvSpPr/>
          <p:nvPr/>
        </p:nvSpPr>
        <p:spPr>
          <a:xfrm>
            <a:off x="14830171" y="2174240"/>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实施质量控制</a:t>
            </a:r>
            <a:endParaRPr lang="en-US" sz="2400" dirty="0"/>
          </a:p>
        </p:txBody>
      </p:sp>
      <p:sp>
        <p:nvSpPr>
          <p:cNvPr id="29" name="Shape 26"/>
          <p:cNvSpPr/>
          <p:nvPr/>
        </p:nvSpPr>
        <p:spPr>
          <a:xfrm>
            <a:off x="14952091" y="2777109"/>
            <a:ext cx="5774309" cy="2438400"/>
          </a:xfrm>
          <a:prstGeom prst="rect">
            <a:avLst/>
          </a:prstGeom>
          <a:noFill/>
          <a:ln/>
        </p:spPr>
      </p:sp>
      <p:sp>
        <p:nvSpPr>
          <p:cNvPr id="30" name="Text 27"/>
          <p:cNvSpPr/>
          <p:nvPr/>
        </p:nvSpPr>
        <p:spPr>
          <a:xfrm>
            <a:off x="14830171" y="2716149"/>
            <a:ext cx="6018149"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监测项目结果，判断是否符合质量标准，找出消除不合格绩效的方法，确保项目质量符合预期要求。</a:t>
            </a:r>
            <a:endParaRPr lang="en-US" sz="2000" dirty="0"/>
          </a:p>
        </p:txBody>
      </p:sp>
      <p:sp>
        <p:nvSpPr>
          <p:cNvPr id="31" name="Shape 28"/>
          <p:cNvSpPr/>
          <p:nvPr/>
        </p:nvSpPr>
        <p:spPr>
          <a:xfrm>
            <a:off x="677291" y="5825109"/>
            <a:ext cx="6773291" cy="474091"/>
          </a:xfrm>
          <a:prstGeom prst="rect">
            <a:avLst/>
          </a:prstGeom>
          <a:noFill/>
          <a:ln/>
        </p:spPr>
      </p:sp>
      <p:sp>
        <p:nvSpPr>
          <p:cNvPr id="32" name="Text 29"/>
          <p:cNvSpPr/>
          <p:nvPr/>
        </p:nvSpPr>
        <p:spPr>
          <a:xfrm>
            <a:off x="555371" y="5764149"/>
            <a:ext cx="7017131" cy="596011"/>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质量管理原则</a:t>
            </a:r>
            <a:endParaRPr lang="en-US" sz="2400" dirty="0"/>
          </a:p>
        </p:txBody>
      </p:sp>
      <p:sp>
        <p:nvSpPr>
          <p:cNvPr id="33" name="Shape 30"/>
          <p:cNvSpPr/>
          <p:nvPr/>
        </p:nvSpPr>
        <p:spPr>
          <a:xfrm>
            <a:off x="677291" y="6366891"/>
            <a:ext cx="20320000" cy="16891"/>
          </a:xfrm>
          <a:prstGeom prst="rect">
            <a:avLst/>
          </a:prstGeom>
          <a:solidFill>
            <a:srgbClr val="E0E0E0"/>
          </a:solidFill>
          <a:ln/>
        </p:spPr>
      </p:sp>
      <p:sp>
        <p:nvSpPr>
          <p:cNvPr id="34" name="Shape 31"/>
          <p:cNvSpPr/>
          <p:nvPr/>
        </p:nvSpPr>
        <p:spPr>
          <a:xfrm>
            <a:off x="677291" y="6637909"/>
            <a:ext cx="6316091" cy="4199509"/>
          </a:xfrm>
          <a:prstGeom prst="roundRect">
            <a:avLst>
              <a:gd name="adj" fmla="val 4000"/>
            </a:avLst>
          </a:prstGeom>
          <a:solidFill>
            <a:srgbClr val="F5F5F5"/>
          </a:solidFill>
          <a:ln/>
        </p:spPr>
      </p:sp>
      <p:sp>
        <p:nvSpPr>
          <p:cNvPr id="35" name="Shape 32"/>
          <p:cNvSpPr/>
          <p:nvPr/>
        </p:nvSpPr>
        <p:spPr>
          <a:xfrm>
            <a:off x="1016000" y="6908800"/>
            <a:ext cx="541909" cy="541909"/>
          </a:xfrm>
          <a:custGeom>
            <a:avLst/>
            <a:gdLst/>
            <a:ahLst/>
            <a:cxnLst/>
            <a:rect l="l" t="t" r="r" b="b"/>
            <a:pathLst>
              <a:path w="541909" h="541909">
                <a:moveTo>
                  <a:pt x="270955" y="262487"/>
                </a:moveTo>
                <a:cubicBezTo>
                  <a:pt x="190842" y="262487"/>
                  <a:pt x="125800" y="205576"/>
                  <a:pt x="125800" y="135477"/>
                </a:cubicBezTo>
                <a:cubicBezTo>
                  <a:pt x="125800" y="65378"/>
                  <a:pt x="190842" y="8467"/>
                  <a:pt x="270955" y="8467"/>
                </a:cubicBezTo>
                <a:cubicBezTo>
                  <a:pt x="351067" y="8467"/>
                  <a:pt x="416109" y="65378"/>
                  <a:pt x="416109" y="135477"/>
                </a:cubicBezTo>
                <a:cubicBezTo>
                  <a:pt x="416109" y="205576"/>
                  <a:pt x="351067" y="262487"/>
                  <a:pt x="270955" y="262487"/>
                </a:cubicBezTo>
                <a:close/>
                <a:moveTo>
                  <a:pt x="234061" y="321758"/>
                </a:moveTo>
                <a:lnTo>
                  <a:pt x="307848" y="321758"/>
                </a:lnTo>
                <a:cubicBezTo>
                  <a:pt x="319581" y="321758"/>
                  <a:pt x="329016" y="330014"/>
                  <a:pt x="329016" y="340281"/>
                </a:cubicBezTo>
                <a:cubicBezTo>
                  <a:pt x="329016" y="344726"/>
                  <a:pt x="327202" y="348959"/>
                  <a:pt x="323936" y="352346"/>
                </a:cubicBezTo>
                <a:lnTo>
                  <a:pt x="290792" y="386216"/>
                </a:lnTo>
                <a:lnTo>
                  <a:pt x="328291" y="508040"/>
                </a:lnTo>
                <a:lnTo>
                  <a:pt x="329016" y="508040"/>
                </a:lnTo>
                <a:lnTo>
                  <a:pt x="370869" y="361450"/>
                </a:lnTo>
                <a:cubicBezTo>
                  <a:pt x="373531" y="352241"/>
                  <a:pt x="384295" y="346631"/>
                  <a:pt x="394456" y="350018"/>
                </a:cubicBezTo>
                <a:cubicBezTo>
                  <a:pt x="469331" y="374997"/>
                  <a:pt x="522555" y="438502"/>
                  <a:pt x="522555" y="512803"/>
                </a:cubicBezTo>
                <a:cubicBezTo>
                  <a:pt x="522555" y="528785"/>
                  <a:pt x="507677" y="541804"/>
                  <a:pt x="489412" y="541804"/>
                </a:cubicBezTo>
                <a:lnTo>
                  <a:pt x="52497" y="541909"/>
                </a:lnTo>
                <a:cubicBezTo>
                  <a:pt x="34232" y="541909"/>
                  <a:pt x="19354" y="528891"/>
                  <a:pt x="19354" y="512908"/>
                </a:cubicBezTo>
                <a:cubicBezTo>
                  <a:pt x="19354" y="438608"/>
                  <a:pt x="72578" y="375103"/>
                  <a:pt x="147453" y="350125"/>
                </a:cubicBezTo>
                <a:cubicBezTo>
                  <a:pt x="157614" y="346738"/>
                  <a:pt x="168378" y="352346"/>
                  <a:pt x="171040" y="361555"/>
                </a:cubicBezTo>
                <a:lnTo>
                  <a:pt x="212893" y="508145"/>
                </a:lnTo>
                <a:lnTo>
                  <a:pt x="213618" y="508145"/>
                </a:lnTo>
                <a:lnTo>
                  <a:pt x="251117" y="386322"/>
                </a:lnTo>
                <a:lnTo>
                  <a:pt x="217973" y="352453"/>
                </a:lnTo>
                <a:cubicBezTo>
                  <a:pt x="214707" y="349066"/>
                  <a:pt x="212893" y="344832"/>
                  <a:pt x="212893" y="340387"/>
                </a:cubicBezTo>
                <a:cubicBezTo>
                  <a:pt x="212893" y="330120"/>
                  <a:pt x="222328" y="321864"/>
                  <a:pt x="234061" y="321864"/>
                </a:cubicBezTo>
                <a:close/>
              </a:path>
            </a:pathLst>
          </a:custGeom>
          <a:solidFill>
            <a:srgbClr val="1A4A7A"/>
          </a:solidFill>
          <a:ln/>
        </p:spPr>
      </p:sp>
      <p:sp>
        <p:nvSpPr>
          <p:cNvPr id="36" name="Shape 33"/>
          <p:cNvSpPr/>
          <p:nvPr/>
        </p:nvSpPr>
        <p:spPr>
          <a:xfrm>
            <a:off x="1727200" y="6942709"/>
            <a:ext cx="4910709" cy="474091"/>
          </a:xfrm>
          <a:prstGeom prst="rect">
            <a:avLst/>
          </a:prstGeom>
          <a:noFill/>
          <a:ln/>
        </p:spPr>
      </p:sp>
      <p:sp>
        <p:nvSpPr>
          <p:cNvPr id="37" name="Text 34"/>
          <p:cNvSpPr/>
          <p:nvPr/>
        </p:nvSpPr>
        <p:spPr>
          <a:xfrm>
            <a:off x="1605280" y="68817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管理层责任</a:t>
            </a:r>
            <a:endParaRPr lang="en-US" sz="2130" dirty="0"/>
          </a:p>
        </p:txBody>
      </p:sp>
      <p:sp>
        <p:nvSpPr>
          <p:cNvPr id="38" name="Shape 35"/>
          <p:cNvSpPr/>
          <p:nvPr/>
        </p:nvSpPr>
        <p:spPr>
          <a:xfrm>
            <a:off x="1016000" y="7620000"/>
            <a:ext cx="5706491" cy="2980309"/>
          </a:xfrm>
          <a:prstGeom prst="rect">
            <a:avLst/>
          </a:prstGeom>
          <a:noFill/>
          <a:ln/>
        </p:spPr>
      </p:sp>
      <p:sp>
        <p:nvSpPr>
          <p:cNvPr id="39" name="Text 36"/>
          <p:cNvSpPr/>
          <p:nvPr/>
        </p:nvSpPr>
        <p:spPr>
          <a:xfrm>
            <a:off x="894080" y="7559040"/>
            <a:ext cx="5950331" cy="3102229"/>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质量是管理层的责任。管理层需制定质量政策，提供资源支持，营造质量文化，推动项目质量持续提升。</a:t>
            </a:r>
            <a:endParaRPr lang="en-US" sz="2000" dirty="0"/>
          </a:p>
        </p:txBody>
      </p:sp>
      <p:sp>
        <p:nvSpPr>
          <p:cNvPr id="40" name="Shape 37"/>
          <p:cNvSpPr/>
          <p:nvPr/>
        </p:nvSpPr>
        <p:spPr>
          <a:xfrm>
            <a:off x="7670800" y="6637909"/>
            <a:ext cx="6333109" cy="4199509"/>
          </a:xfrm>
          <a:prstGeom prst="roundRect">
            <a:avLst>
              <a:gd name="adj" fmla="val 4000"/>
            </a:avLst>
          </a:prstGeom>
          <a:solidFill>
            <a:srgbClr val="F5F5F5"/>
          </a:solidFill>
          <a:ln/>
        </p:spPr>
      </p:sp>
      <p:sp>
        <p:nvSpPr>
          <p:cNvPr id="41" name="Shape 38"/>
          <p:cNvSpPr/>
          <p:nvPr/>
        </p:nvSpPr>
        <p:spPr>
          <a:xfrm>
            <a:off x="8009509" y="6908800"/>
            <a:ext cx="541909" cy="541909"/>
          </a:xfrm>
          <a:custGeom>
            <a:avLst/>
            <a:gdLst/>
            <a:ahLst/>
            <a:cxnLst/>
            <a:rect l="l" t="t" r="r" b="b"/>
            <a:pathLst>
              <a:path w="541909" h="541909">
                <a:moveTo>
                  <a:pt x="270955" y="0"/>
                </a:moveTo>
                <a:cubicBezTo>
                  <a:pt x="275823" y="0"/>
                  <a:pt x="280693" y="1059"/>
                  <a:pt x="285137" y="3070"/>
                </a:cubicBezTo>
                <a:lnTo>
                  <a:pt x="484543" y="87638"/>
                </a:lnTo>
                <a:cubicBezTo>
                  <a:pt x="507828" y="97480"/>
                  <a:pt x="525186" y="120448"/>
                  <a:pt x="525080" y="148178"/>
                </a:cubicBezTo>
                <a:cubicBezTo>
                  <a:pt x="524552" y="253173"/>
                  <a:pt x="481368" y="445276"/>
                  <a:pt x="299002" y="532595"/>
                </a:cubicBezTo>
                <a:cubicBezTo>
                  <a:pt x="281327" y="541062"/>
                  <a:pt x="260794" y="541062"/>
                  <a:pt x="243118" y="532595"/>
                </a:cubicBezTo>
                <a:cubicBezTo>
                  <a:pt x="60647" y="445276"/>
                  <a:pt x="17569" y="253173"/>
                  <a:pt x="17040" y="148178"/>
                </a:cubicBezTo>
                <a:cubicBezTo>
                  <a:pt x="16935" y="120448"/>
                  <a:pt x="34292" y="97480"/>
                  <a:pt x="57578" y="87638"/>
                </a:cubicBezTo>
                <a:lnTo>
                  <a:pt x="256877" y="3070"/>
                </a:lnTo>
                <a:cubicBezTo>
                  <a:pt x="261323" y="1059"/>
                  <a:pt x="266086" y="0"/>
                  <a:pt x="270955" y="0"/>
                </a:cubicBezTo>
                <a:close/>
                <a:moveTo>
                  <a:pt x="270955" y="70702"/>
                </a:moveTo>
                <a:lnTo>
                  <a:pt x="270955" y="470889"/>
                </a:lnTo>
                <a:cubicBezTo>
                  <a:pt x="417017" y="400187"/>
                  <a:pt x="456284" y="243542"/>
                  <a:pt x="457236" y="149766"/>
                </a:cubicBezTo>
                <a:lnTo>
                  <a:pt x="270955" y="70808"/>
                </a:lnTo>
                <a:lnTo>
                  <a:pt x="270955" y="70808"/>
                </a:lnTo>
                <a:close/>
              </a:path>
            </a:pathLst>
          </a:custGeom>
          <a:solidFill>
            <a:srgbClr val="5B9BD5"/>
          </a:solidFill>
          <a:ln/>
        </p:spPr>
      </p:sp>
      <p:sp>
        <p:nvSpPr>
          <p:cNvPr id="42" name="Shape 39"/>
          <p:cNvSpPr/>
          <p:nvPr/>
        </p:nvSpPr>
        <p:spPr>
          <a:xfrm>
            <a:off x="8720709" y="6942709"/>
            <a:ext cx="4910709" cy="474091"/>
          </a:xfrm>
          <a:prstGeom prst="rect">
            <a:avLst/>
          </a:prstGeom>
          <a:noFill/>
          <a:ln/>
        </p:spPr>
      </p:sp>
      <p:sp>
        <p:nvSpPr>
          <p:cNvPr id="43" name="Text 40"/>
          <p:cNvSpPr/>
          <p:nvPr/>
        </p:nvSpPr>
        <p:spPr>
          <a:xfrm>
            <a:off x="8598789" y="68817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预防为主</a:t>
            </a:r>
            <a:endParaRPr lang="en-US" sz="2130" dirty="0"/>
          </a:p>
        </p:txBody>
      </p:sp>
      <p:sp>
        <p:nvSpPr>
          <p:cNvPr id="44" name="Shape 41"/>
          <p:cNvSpPr/>
          <p:nvPr/>
        </p:nvSpPr>
        <p:spPr>
          <a:xfrm>
            <a:off x="8009509" y="7620000"/>
            <a:ext cx="5723509" cy="2980309"/>
          </a:xfrm>
          <a:prstGeom prst="rect">
            <a:avLst/>
          </a:prstGeom>
          <a:noFill/>
          <a:ln/>
        </p:spPr>
      </p:sp>
      <p:sp>
        <p:nvSpPr>
          <p:cNvPr id="45" name="Text 42"/>
          <p:cNvSpPr/>
          <p:nvPr/>
        </p:nvSpPr>
        <p:spPr>
          <a:xfrm>
            <a:off x="7887589" y="7559040"/>
            <a:ext cx="5967349" cy="3102229"/>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质量管理强调预防胜于检查。通过事前规划和过程控制，预防质量问题发生，减少质量成本，提高项目成功率。</a:t>
            </a:r>
            <a:endParaRPr lang="en-US" sz="2000" dirty="0"/>
          </a:p>
        </p:txBody>
      </p:sp>
      <p:sp>
        <p:nvSpPr>
          <p:cNvPr id="46" name="Shape 43"/>
          <p:cNvSpPr/>
          <p:nvPr/>
        </p:nvSpPr>
        <p:spPr>
          <a:xfrm>
            <a:off x="14681200" y="6637909"/>
            <a:ext cx="6316091" cy="4199509"/>
          </a:xfrm>
          <a:prstGeom prst="roundRect">
            <a:avLst>
              <a:gd name="adj" fmla="val 4000"/>
            </a:avLst>
          </a:prstGeom>
          <a:solidFill>
            <a:srgbClr val="F5F5F5"/>
          </a:solidFill>
          <a:ln/>
        </p:spPr>
      </p:sp>
      <p:sp>
        <p:nvSpPr>
          <p:cNvPr id="47" name="Shape 44"/>
          <p:cNvSpPr/>
          <p:nvPr/>
        </p:nvSpPr>
        <p:spPr>
          <a:xfrm>
            <a:off x="15019909" y="6908800"/>
            <a:ext cx="541909" cy="541909"/>
          </a:xfrm>
          <a:custGeom>
            <a:avLst/>
            <a:gdLst/>
            <a:ahLst/>
            <a:cxnLst/>
            <a:rect l="l" t="t" r="r" b="b"/>
            <a:pathLst>
              <a:path w="541909" h="541909">
                <a:moveTo>
                  <a:pt x="69749" y="241848"/>
                </a:moveTo>
                <a:cubicBezTo>
                  <a:pt x="83827" y="143415"/>
                  <a:pt x="168605" y="67739"/>
                  <a:pt x="270955" y="67739"/>
                </a:cubicBezTo>
                <a:cubicBezTo>
                  <a:pt x="327051" y="67739"/>
                  <a:pt x="377855" y="90495"/>
                  <a:pt x="414687" y="127222"/>
                </a:cubicBezTo>
                <a:cubicBezTo>
                  <a:pt x="414899" y="127434"/>
                  <a:pt x="415111" y="127645"/>
                  <a:pt x="415323" y="127857"/>
                </a:cubicBezTo>
                <a:lnTo>
                  <a:pt x="423366" y="135477"/>
                </a:lnTo>
                <a:lnTo>
                  <a:pt x="372668" y="135477"/>
                </a:lnTo>
                <a:cubicBezTo>
                  <a:pt x="353934" y="135477"/>
                  <a:pt x="338798" y="150613"/>
                  <a:pt x="338798" y="169347"/>
                </a:cubicBezTo>
                <a:cubicBezTo>
                  <a:pt x="338798" y="188080"/>
                  <a:pt x="353934" y="203216"/>
                  <a:pt x="372668" y="203216"/>
                </a:cubicBezTo>
                <a:lnTo>
                  <a:pt x="508145" y="203216"/>
                </a:lnTo>
                <a:cubicBezTo>
                  <a:pt x="526880" y="203216"/>
                  <a:pt x="542014" y="188080"/>
                  <a:pt x="542014" y="169347"/>
                </a:cubicBezTo>
                <a:lnTo>
                  <a:pt x="542014" y="33869"/>
                </a:lnTo>
                <a:cubicBezTo>
                  <a:pt x="542014" y="15136"/>
                  <a:pt x="526880" y="0"/>
                  <a:pt x="508145" y="0"/>
                </a:cubicBezTo>
                <a:cubicBezTo>
                  <a:pt x="489412" y="0"/>
                  <a:pt x="474276" y="15136"/>
                  <a:pt x="474276" y="33869"/>
                </a:cubicBezTo>
                <a:lnTo>
                  <a:pt x="474276" y="90388"/>
                </a:lnTo>
                <a:lnTo>
                  <a:pt x="462316" y="79064"/>
                </a:lnTo>
                <a:cubicBezTo>
                  <a:pt x="413311" y="30270"/>
                  <a:pt x="345572" y="0"/>
                  <a:pt x="270955" y="0"/>
                </a:cubicBezTo>
                <a:cubicBezTo>
                  <a:pt x="134419" y="0"/>
                  <a:pt x="21486" y="100973"/>
                  <a:pt x="2752" y="232322"/>
                </a:cubicBezTo>
                <a:cubicBezTo>
                  <a:pt x="105" y="250845"/>
                  <a:pt x="12913" y="267992"/>
                  <a:pt x="31434" y="270637"/>
                </a:cubicBezTo>
                <a:cubicBezTo>
                  <a:pt x="49957" y="273283"/>
                  <a:pt x="67104" y="260371"/>
                  <a:pt x="69749" y="241954"/>
                </a:cubicBezTo>
                <a:close/>
                <a:moveTo>
                  <a:pt x="539157" y="309587"/>
                </a:moveTo>
                <a:cubicBezTo>
                  <a:pt x="541804" y="291064"/>
                  <a:pt x="528891" y="273919"/>
                  <a:pt x="510475" y="271272"/>
                </a:cubicBezTo>
                <a:cubicBezTo>
                  <a:pt x="492057" y="268626"/>
                  <a:pt x="474805" y="281539"/>
                  <a:pt x="472160" y="299955"/>
                </a:cubicBezTo>
                <a:cubicBezTo>
                  <a:pt x="458082" y="398388"/>
                  <a:pt x="373304" y="474065"/>
                  <a:pt x="270955" y="474065"/>
                </a:cubicBezTo>
                <a:cubicBezTo>
                  <a:pt x="214858" y="474065"/>
                  <a:pt x="164054" y="451309"/>
                  <a:pt x="127222" y="414582"/>
                </a:cubicBezTo>
                <a:cubicBezTo>
                  <a:pt x="127010" y="414370"/>
                  <a:pt x="126798" y="414158"/>
                  <a:pt x="126586" y="413947"/>
                </a:cubicBezTo>
                <a:lnTo>
                  <a:pt x="118543" y="406326"/>
                </a:lnTo>
                <a:lnTo>
                  <a:pt x="169241" y="406326"/>
                </a:lnTo>
                <a:cubicBezTo>
                  <a:pt x="187975" y="406326"/>
                  <a:pt x="203111" y="391191"/>
                  <a:pt x="203111" y="372457"/>
                </a:cubicBezTo>
                <a:cubicBezTo>
                  <a:pt x="203111" y="353722"/>
                  <a:pt x="187975" y="338588"/>
                  <a:pt x="169241" y="338588"/>
                </a:cubicBezTo>
                <a:lnTo>
                  <a:pt x="33869" y="338693"/>
                </a:lnTo>
                <a:cubicBezTo>
                  <a:pt x="24873" y="338693"/>
                  <a:pt x="16193" y="342292"/>
                  <a:pt x="9843" y="348749"/>
                </a:cubicBezTo>
                <a:cubicBezTo>
                  <a:pt x="3492" y="355205"/>
                  <a:pt x="-105" y="363778"/>
                  <a:pt x="0" y="372880"/>
                </a:cubicBezTo>
                <a:lnTo>
                  <a:pt x="1059" y="507298"/>
                </a:lnTo>
                <a:cubicBezTo>
                  <a:pt x="1164" y="526033"/>
                  <a:pt x="16512" y="541062"/>
                  <a:pt x="35245" y="540850"/>
                </a:cubicBezTo>
                <a:cubicBezTo>
                  <a:pt x="53979" y="540640"/>
                  <a:pt x="69009" y="525397"/>
                  <a:pt x="68797" y="506664"/>
                </a:cubicBezTo>
                <a:lnTo>
                  <a:pt x="68373" y="452155"/>
                </a:lnTo>
                <a:lnTo>
                  <a:pt x="79698" y="462845"/>
                </a:lnTo>
                <a:cubicBezTo>
                  <a:pt x="128703" y="511639"/>
                  <a:pt x="196337" y="541909"/>
                  <a:pt x="270955" y="541909"/>
                </a:cubicBezTo>
                <a:cubicBezTo>
                  <a:pt x="407490" y="541909"/>
                  <a:pt x="520423" y="440936"/>
                  <a:pt x="539157" y="309587"/>
                </a:cubicBezTo>
                <a:close/>
              </a:path>
            </a:pathLst>
          </a:custGeom>
          <a:solidFill>
            <a:srgbClr val="2E86C1"/>
          </a:solidFill>
          <a:ln/>
        </p:spPr>
      </p:sp>
      <p:sp>
        <p:nvSpPr>
          <p:cNvPr id="48" name="Shape 45"/>
          <p:cNvSpPr/>
          <p:nvPr/>
        </p:nvSpPr>
        <p:spPr>
          <a:xfrm>
            <a:off x="15731109" y="6942709"/>
            <a:ext cx="4910709" cy="474091"/>
          </a:xfrm>
          <a:prstGeom prst="rect">
            <a:avLst/>
          </a:prstGeom>
          <a:noFill/>
          <a:ln/>
        </p:spPr>
      </p:sp>
      <p:sp>
        <p:nvSpPr>
          <p:cNvPr id="49" name="Text 46"/>
          <p:cNvSpPr/>
          <p:nvPr/>
        </p:nvSpPr>
        <p:spPr>
          <a:xfrm>
            <a:off x="15609189" y="68817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持续改进</a:t>
            </a:r>
            <a:endParaRPr lang="en-US" sz="2130" dirty="0"/>
          </a:p>
        </p:txBody>
      </p:sp>
      <p:sp>
        <p:nvSpPr>
          <p:cNvPr id="50" name="Shape 47"/>
          <p:cNvSpPr/>
          <p:nvPr/>
        </p:nvSpPr>
        <p:spPr>
          <a:xfrm>
            <a:off x="15019909" y="7620000"/>
            <a:ext cx="5706491" cy="2980309"/>
          </a:xfrm>
          <a:prstGeom prst="rect">
            <a:avLst/>
          </a:prstGeom>
          <a:noFill/>
          <a:ln/>
        </p:spPr>
      </p:sp>
      <p:sp>
        <p:nvSpPr>
          <p:cNvPr id="51" name="Text 48"/>
          <p:cNvSpPr/>
          <p:nvPr/>
        </p:nvSpPr>
        <p:spPr>
          <a:xfrm>
            <a:off x="14897989" y="7559040"/>
            <a:ext cx="5950331" cy="3102229"/>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质量管理追求持续改进。通过不断优化项目过程和产品，提高项目质量水平，满足客户日益增长的需求。</a:t>
            </a:r>
            <a:endParaRPr lang="en-US" sz="2000" dirty="0"/>
          </a:p>
        </p:txBody>
      </p:sp>
      <p:sp>
        <p:nvSpPr>
          <p:cNvPr id="52" name="Shape 49"/>
          <p:cNvSpPr/>
          <p:nvPr/>
        </p:nvSpPr>
        <p:spPr>
          <a:xfrm>
            <a:off x="20320000" y="11514709"/>
            <a:ext cx="846709" cy="406400"/>
          </a:xfrm>
          <a:prstGeom prst="rect">
            <a:avLst/>
          </a:prstGeom>
          <a:noFill/>
          <a:ln/>
        </p:spPr>
      </p:sp>
      <p:sp>
        <p:nvSpPr>
          <p:cNvPr id="53" name="Text 50"/>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16</a:t>
            </a:r>
            <a:endParaRPr lang="en-US" sz="187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05 项目质量管理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质量控制方法</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6316091" cy="5926709"/>
          </a:xfrm>
          <a:prstGeom prst="roundRect">
            <a:avLst>
              <a:gd name="adj" fmla="val 4000"/>
            </a:avLst>
          </a:prstGeom>
          <a:solidFill>
            <a:srgbClr val="1A4A7A"/>
          </a:solidFill>
          <a:ln/>
        </p:spPr>
      </p:sp>
      <p:sp>
        <p:nvSpPr>
          <p:cNvPr id="11" name="Shape 8"/>
          <p:cNvSpPr/>
          <p:nvPr/>
        </p:nvSpPr>
        <p:spPr>
          <a:xfrm>
            <a:off x="1016000" y="1794891"/>
            <a:ext cx="609600" cy="609600"/>
          </a:xfrm>
          <a:custGeom>
            <a:avLst/>
            <a:gdLst/>
            <a:ahLst/>
            <a:cxnLst/>
            <a:rect l="l" t="t" r="r" b="b"/>
            <a:pathLst>
              <a:path w="609600" h="609600">
                <a:moveTo>
                  <a:pt x="495300" y="247651"/>
                </a:moveTo>
                <a:cubicBezTo>
                  <a:pt x="495300" y="302300"/>
                  <a:pt x="477560" y="352783"/>
                  <a:pt x="447675" y="393740"/>
                </a:cubicBezTo>
                <a:lnTo>
                  <a:pt x="598408" y="544592"/>
                </a:lnTo>
                <a:cubicBezTo>
                  <a:pt x="613291" y="559475"/>
                  <a:pt x="613291" y="583644"/>
                  <a:pt x="598408" y="598527"/>
                </a:cubicBezTo>
                <a:cubicBezTo>
                  <a:pt x="583525" y="613411"/>
                  <a:pt x="559356" y="613411"/>
                  <a:pt x="544473" y="598527"/>
                </a:cubicBezTo>
                <a:lnTo>
                  <a:pt x="393740" y="447675"/>
                </a:lnTo>
                <a:cubicBezTo>
                  <a:pt x="352783" y="477560"/>
                  <a:pt x="302300" y="495300"/>
                  <a:pt x="247651" y="495300"/>
                </a:cubicBezTo>
                <a:cubicBezTo>
                  <a:pt x="110847" y="495300"/>
                  <a:pt x="0" y="384453"/>
                  <a:pt x="0" y="247651"/>
                </a:cubicBezTo>
                <a:cubicBezTo>
                  <a:pt x="0" y="110847"/>
                  <a:pt x="110847" y="0"/>
                  <a:pt x="247651" y="0"/>
                </a:cubicBezTo>
                <a:cubicBezTo>
                  <a:pt x="384453" y="0"/>
                  <a:pt x="495300" y="110847"/>
                  <a:pt x="495300" y="247651"/>
                </a:cubicBezTo>
                <a:close/>
                <a:moveTo>
                  <a:pt x="247651" y="419100"/>
                </a:moveTo>
                <a:cubicBezTo>
                  <a:pt x="342276" y="419100"/>
                  <a:pt x="419100" y="342276"/>
                  <a:pt x="419100" y="247651"/>
                </a:cubicBezTo>
                <a:cubicBezTo>
                  <a:pt x="419100" y="153024"/>
                  <a:pt x="342276" y="76200"/>
                  <a:pt x="247651" y="76200"/>
                </a:cubicBezTo>
                <a:cubicBezTo>
                  <a:pt x="153024" y="76200"/>
                  <a:pt x="76200" y="153024"/>
                  <a:pt x="76200" y="247649"/>
                </a:cubicBezTo>
                <a:cubicBezTo>
                  <a:pt x="76200" y="342276"/>
                  <a:pt x="153024" y="419100"/>
                  <a:pt x="247649" y="419100"/>
                </a:cubicBezTo>
                <a:close/>
              </a:path>
            </a:pathLst>
          </a:custGeom>
          <a:solidFill>
            <a:srgbClr val="FFFFFF">
              <a:alpha val="6176"/>
            </a:srgbClr>
          </a:solidFill>
          <a:ln/>
        </p:spPr>
      </p:sp>
      <p:sp>
        <p:nvSpPr>
          <p:cNvPr id="12" name="Shape 9"/>
          <p:cNvSpPr/>
          <p:nvPr/>
        </p:nvSpPr>
        <p:spPr>
          <a:xfrm>
            <a:off x="1016000" y="2641600"/>
            <a:ext cx="5706491" cy="474091"/>
          </a:xfrm>
          <a:prstGeom prst="rect">
            <a:avLst/>
          </a:prstGeom>
          <a:noFill/>
          <a:ln/>
        </p:spPr>
      </p:sp>
      <p:sp>
        <p:nvSpPr>
          <p:cNvPr id="13" name="Text 10"/>
          <p:cNvSpPr/>
          <p:nvPr/>
        </p:nvSpPr>
        <p:spPr>
          <a:xfrm>
            <a:off x="894080" y="2580640"/>
            <a:ext cx="5950331" cy="596011"/>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质量检查</a:t>
            </a:r>
            <a:endParaRPr lang="en-US" sz="2670" dirty="0"/>
          </a:p>
        </p:txBody>
      </p:sp>
      <p:sp>
        <p:nvSpPr>
          <p:cNvPr id="14" name="Shape 11"/>
          <p:cNvSpPr/>
          <p:nvPr/>
        </p:nvSpPr>
        <p:spPr>
          <a:xfrm>
            <a:off x="1016000" y="3251200"/>
            <a:ext cx="5706491" cy="16891"/>
          </a:xfrm>
          <a:prstGeom prst="rect">
            <a:avLst/>
          </a:prstGeom>
          <a:solidFill>
            <a:srgbClr val="FFFFFF">
              <a:alpha val="3576"/>
            </a:srgbClr>
          </a:solidFill>
          <a:ln/>
        </p:spPr>
      </p:sp>
      <p:sp>
        <p:nvSpPr>
          <p:cNvPr id="15" name="Shape 12"/>
          <p:cNvSpPr/>
          <p:nvPr/>
        </p:nvSpPr>
        <p:spPr>
          <a:xfrm>
            <a:off x="1016000" y="3488309"/>
            <a:ext cx="5706491" cy="3894709"/>
          </a:xfrm>
          <a:prstGeom prst="rect">
            <a:avLst/>
          </a:prstGeom>
          <a:noFill/>
          <a:ln/>
        </p:spPr>
      </p:sp>
      <p:sp>
        <p:nvSpPr>
          <p:cNvPr id="16" name="Text 13"/>
          <p:cNvSpPr/>
          <p:nvPr/>
        </p:nvSpPr>
        <p:spPr>
          <a:xfrm>
            <a:off x="894080" y="3427349"/>
            <a:ext cx="5950331" cy="4016629"/>
          </a:xfrm>
          <a:prstGeom prst="rect">
            <a:avLst/>
          </a:prstGeom>
          <a:noFill/>
          <a:ln/>
        </p:spPr>
        <p:txBody>
          <a:bodyPr wrap="square" lIns="0" tIns="0" rIns="0" bIns="0" rtlCol="0" anchor="t"/>
          <a:lstStyle/>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通过审查、测量、测试等手段，检查项目成果是否符合质量标准的过程。</a:t>
            </a:r>
            <a:endParaRPr lang="en-US" sz="2000" dirty="0"/>
          </a:p>
          <a:p>
            <a:pPr algn="l">
              <a:lnSpc>
                <a:spcPct val="170000"/>
              </a:lnSpc>
              <a:spcBef>
                <a:spcPts val="1333"/>
              </a:spcBef>
            </a:pPr>
            <a:r>
              <a:rPr lang="en-US" sz="2000" dirty="0">
                <a:solidFill>
                  <a:srgbClr val="FFFFFF"/>
                </a:solidFill>
                <a:latin typeface="Quattrocento Sans" pitchFamily="34" charset="0"/>
                <a:ea typeface="Quattrocento Sans" pitchFamily="34" charset="-122"/>
                <a:cs typeface="Quattrocento Sans" pitchFamily="34" charset="-120"/>
              </a:rPr>
              <a:t>常用工具：</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检查表</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核对单</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walkthrough（走查）</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inspection（审查）</a:t>
            </a:r>
            <a:endParaRPr lang="en-US" sz="2000" dirty="0"/>
          </a:p>
        </p:txBody>
      </p:sp>
      <p:sp>
        <p:nvSpPr>
          <p:cNvPr id="17" name="Shape 14"/>
          <p:cNvSpPr/>
          <p:nvPr/>
        </p:nvSpPr>
        <p:spPr>
          <a:xfrm>
            <a:off x="7670800" y="1456309"/>
            <a:ext cx="6333109" cy="5926709"/>
          </a:xfrm>
          <a:prstGeom prst="roundRect">
            <a:avLst>
              <a:gd name="adj" fmla="val 4000"/>
            </a:avLst>
          </a:prstGeom>
          <a:solidFill>
            <a:srgbClr val="5B9BD5"/>
          </a:solidFill>
          <a:ln/>
        </p:spPr>
      </p:sp>
      <p:sp>
        <p:nvSpPr>
          <p:cNvPr id="18" name="Shape 15"/>
          <p:cNvSpPr/>
          <p:nvPr/>
        </p:nvSpPr>
        <p:spPr>
          <a:xfrm>
            <a:off x="8009509" y="1794891"/>
            <a:ext cx="609600" cy="609600"/>
          </a:xfrm>
          <a:custGeom>
            <a:avLst/>
            <a:gdLst/>
            <a:ahLst/>
            <a:cxnLst/>
            <a:rect l="l" t="t" r="r" b="b"/>
            <a:pathLst>
              <a:path w="609600" h="609600">
                <a:moveTo>
                  <a:pt x="76200" y="76200"/>
                </a:moveTo>
                <a:cubicBezTo>
                  <a:pt x="76200" y="55125"/>
                  <a:pt x="59175" y="38100"/>
                  <a:pt x="38100" y="38100"/>
                </a:cubicBezTo>
                <a:cubicBezTo>
                  <a:pt x="17025" y="38100"/>
                  <a:pt x="0" y="55125"/>
                  <a:pt x="0" y="76200"/>
                </a:cubicBezTo>
                <a:lnTo>
                  <a:pt x="0" y="476251"/>
                </a:lnTo>
                <a:cubicBezTo>
                  <a:pt x="0" y="528876"/>
                  <a:pt x="42624" y="571500"/>
                  <a:pt x="95251" y="571500"/>
                </a:cubicBezTo>
                <a:lnTo>
                  <a:pt x="571500" y="571500"/>
                </a:lnTo>
                <a:cubicBezTo>
                  <a:pt x="592575" y="571500"/>
                  <a:pt x="609600" y="554475"/>
                  <a:pt x="609600" y="533400"/>
                </a:cubicBezTo>
                <a:cubicBezTo>
                  <a:pt x="609600" y="512325"/>
                  <a:pt x="592575" y="495300"/>
                  <a:pt x="571500" y="495300"/>
                </a:cubicBezTo>
                <a:lnTo>
                  <a:pt x="95251" y="495300"/>
                </a:lnTo>
                <a:cubicBezTo>
                  <a:pt x="84772" y="495300"/>
                  <a:pt x="76200" y="486728"/>
                  <a:pt x="76200" y="476251"/>
                </a:cubicBezTo>
                <a:lnTo>
                  <a:pt x="76200" y="76200"/>
                </a:lnTo>
                <a:close/>
                <a:moveTo>
                  <a:pt x="560308" y="179308"/>
                </a:moveTo>
                <a:cubicBezTo>
                  <a:pt x="575191" y="164425"/>
                  <a:pt x="575191" y="140256"/>
                  <a:pt x="560308" y="125373"/>
                </a:cubicBezTo>
                <a:cubicBezTo>
                  <a:pt x="545425" y="110489"/>
                  <a:pt x="521256" y="110489"/>
                  <a:pt x="506373" y="125373"/>
                </a:cubicBezTo>
                <a:lnTo>
                  <a:pt x="381000" y="250865"/>
                </a:lnTo>
                <a:lnTo>
                  <a:pt x="312659" y="182641"/>
                </a:lnTo>
                <a:cubicBezTo>
                  <a:pt x="297775" y="167759"/>
                  <a:pt x="273605" y="167759"/>
                  <a:pt x="258723" y="182641"/>
                </a:cubicBezTo>
                <a:lnTo>
                  <a:pt x="144423" y="296941"/>
                </a:lnTo>
                <a:cubicBezTo>
                  <a:pt x="129540" y="311825"/>
                  <a:pt x="129540" y="335995"/>
                  <a:pt x="144423" y="350877"/>
                </a:cubicBezTo>
                <a:cubicBezTo>
                  <a:pt x="159305" y="365760"/>
                  <a:pt x="183475" y="365760"/>
                  <a:pt x="198359" y="350877"/>
                </a:cubicBezTo>
                <a:lnTo>
                  <a:pt x="285751" y="263485"/>
                </a:lnTo>
                <a:lnTo>
                  <a:pt x="354092" y="331827"/>
                </a:lnTo>
                <a:cubicBezTo>
                  <a:pt x="368975" y="346711"/>
                  <a:pt x="393144" y="346711"/>
                  <a:pt x="408027" y="331827"/>
                </a:cubicBezTo>
                <a:lnTo>
                  <a:pt x="560427" y="179427"/>
                </a:lnTo>
                <a:close/>
              </a:path>
            </a:pathLst>
          </a:custGeom>
          <a:solidFill>
            <a:srgbClr val="FFFFFF">
              <a:alpha val="6176"/>
            </a:srgbClr>
          </a:solidFill>
          <a:ln/>
        </p:spPr>
      </p:sp>
      <p:sp>
        <p:nvSpPr>
          <p:cNvPr id="19" name="Shape 16"/>
          <p:cNvSpPr/>
          <p:nvPr/>
        </p:nvSpPr>
        <p:spPr>
          <a:xfrm>
            <a:off x="8009509" y="2641600"/>
            <a:ext cx="5723509" cy="474091"/>
          </a:xfrm>
          <a:prstGeom prst="rect">
            <a:avLst/>
          </a:prstGeom>
          <a:noFill/>
          <a:ln/>
        </p:spPr>
      </p:sp>
      <p:sp>
        <p:nvSpPr>
          <p:cNvPr id="20" name="Text 17"/>
          <p:cNvSpPr/>
          <p:nvPr/>
        </p:nvSpPr>
        <p:spPr>
          <a:xfrm>
            <a:off x="7887589" y="2580640"/>
            <a:ext cx="5967349" cy="596011"/>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质量统计分析</a:t>
            </a:r>
            <a:endParaRPr lang="en-US" sz="2670" dirty="0"/>
          </a:p>
        </p:txBody>
      </p:sp>
      <p:sp>
        <p:nvSpPr>
          <p:cNvPr id="21" name="Shape 18"/>
          <p:cNvSpPr/>
          <p:nvPr/>
        </p:nvSpPr>
        <p:spPr>
          <a:xfrm>
            <a:off x="8009509" y="3251200"/>
            <a:ext cx="5723509" cy="16891"/>
          </a:xfrm>
          <a:prstGeom prst="rect">
            <a:avLst/>
          </a:prstGeom>
          <a:solidFill>
            <a:srgbClr val="FFFFFF">
              <a:alpha val="3576"/>
            </a:srgbClr>
          </a:solidFill>
          <a:ln/>
        </p:spPr>
      </p:sp>
      <p:sp>
        <p:nvSpPr>
          <p:cNvPr id="22" name="Shape 19"/>
          <p:cNvSpPr/>
          <p:nvPr/>
        </p:nvSpPr>
        <p:spPr>
          <a:xfrm>
            <a:off x="8009509" y="3488309"/>
            <a:ext cx="5723509" cy="3894709"/>
          </a:xfrm>
          <a:prstGeom prst="rect">
            <a:avLst/>
          </a:prstGeom>
          <a:noFill/>
          <a:ln/>
        </p:spPr>
      </p:sp>
      <p:sp>
        <p:nvSpPr>
          <p:cNvPr id="23" name="Text 20"/>
          <p:cNvSpPr/>
          <p:nvPr/>
        </p:nvSpPr>
        <p:spPr>
          <a:xfrm>
            <a:off x="7887589" y="3427349"/>
            <a:ext cx="5967349" cy="4016629"/>
          </a:xfrm>
          <a:prstGeom prst="rect">
            <a:avLst/>
          </a:prstGeom>
          <a:noFill/>
          <a:ln/>
        </p:spPr>
        <p:txBody>
          <a:bodyPr wrap="square" lIns="0" tIns="0" rIns="0" bIns="0" rtlCol="0" anchor="t"/>
          <a:lstStyle/>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运用统计方法分析质量数据，找出质量问题根源，为质量改进提供依据。</a:t>
            </a:r>
            <a:endParaRPr lang="en-US" sz="2000" dirty="0"/>
          </a:p>
          <a:p>
            <a:pPr algn="l">
              <a:lnSpc>
                <a:spcPct val="170000"/>
              </a:lnSpc>
              <a:spcBef>
                <a:spcPts val="1333"/>
              </a:spcBef>
            </a:pPr>
            <a:r>
              <a:rPr lang="en-US" sz="2000" dirty="0">
                <a:solidFill>
                  <a:srgbClr val="FFFFFF"/>
                </a:solidFill>
                <a:latin typeface="Quattrocento Sans" pitchFamily="34" charset="0"/>
                <a:ea typeface="Quattrocento Sans" pitchFamily="34" charset="-122"/>
                <a:cs typeface="Quattrocento Sans" pitchFamily="34" charset="-120"/>
              </a:rPr>
              <a:t>常用工具：</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因果分析图（鱼骨图）</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排列图（帕累托图）</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控制图</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直方图</a:t>
            </a:r>
            <a:endParaRPr lang="en-US" sz="2000" dirty="0"/>
          </a:p>
        </p:txBody>
      </p:sp>
      <p:sp>
        <p:nvSpPr>
          <p:cNvPr id="24" name="Shape 21"/>
          <p:cNvSpPr/>
          <p:nvPr/>
        </p:nvSpPr>
        <p:spPr>
          <a:xfrm>
            <a:off x="14681200" y="1456309"/>
            <a:ext cx="6316091" cy="5926709"/>
          </a:xfrm>
          <a:prstGeom prst="roundRect">
            <a:avLst>
              <a:gd name="adj" fmla="val 4000"/>
            </a:avLst>
          </a:prstGeom>
          <a:solidFill>
            <a:srgbClr val="2E86C1"/>
          </a:solidFill>
          <a:ln/>
        </p:spPr>
      </p:sp>
      <p:sp>
        <p:nvSpPr>
          <p:cNvPr id="25" name="Shape 22"/>
          <p:cNvSpPr/>
          <p:nvPr/>
        </p:nvSpPr>
        <p:spPr>
          <a:xfrm>
            <a:off x="15019909" y="1794891"/>
            <a:ext cx="609600" cy="609600"/>
          </a:xfrm>
          <a:custGeom>
            <a:avLst/>
            <a:gdLst/>
            <a:ahLst/>
            <a:cxnLst/>
            <a:rect l="l" t="t" r="r" b="b"/>
            <a:pathLst>
              <a:path w="609600" h="609600">
                <a:moveTo>
                  <a:pt x="539115" y="117396"/>
                </a:moveTo>
                <a:cubicBezTo>
                  <a:pt x="547159" y="108347"/>
                  <a:pt x="560599" y="110609"/>
                  <a:pt x="564621" y="122515"/>
                </a:cubicBezTo>
                <a:cubicBezTo>
                  <a:pt x="571817" y="143589"/>
                  <a:pt x="575733" y="166568"/>
                  <a:pt x="575733" y="190500"/>
                </a:cubicBezTo>
                <a:cubicBezTo>
                  <a:pt x="575733" y="295751"/>
                  <a:pt x="499957" y="381000"/>
                  <a:pt x="406400" y="381000"/>
                </a:cubicBezTo>
                <a:cubicBezTo>
                  <a:pt x="387879" y="381000"/>
                  <a:pt x="369993" y="377667"/>
                  <a:pt x="353272" y="371475"/>
                </a:cubicBezTo>
                <a:lnTo>
                  <a:pt x="155469" y="594003"/>
                </a:lnTo>
                <a:cubicBezTo>
                  <a:pt x="125731" y="627460"/>
                  <a:pt x="77471" y="627460"/>
                  <a:pt x="47731" y="594003"/>
                </a:cubicBezTo>
                <a:cubicBezTo>
                  <a:pt x="17992" y="560547"/>
                  <a:pt x="17992" y="506253"/>
                  <a:pt x="47731" y="472797"/>
                </a:cubicBezTo>
                <a:lnTo>
                  <a:pt x="245533" y="250269"/>
                </a:lnTo>
                <a:cubicBezTo>
                  <a:pt x="240031" y="231457"/>
                  <a:pt x="237067" y="211455"/>
                  <a:pt x="237067" y="190500"/>
                </a:cubicBezTo>
                <a:cubicBezTo>
                  <a:pt x="237067" y="85249"/>
                  <a:pt x="312844" y="0"/>
                  <a:pt x="406400" y="0"/>
                </a:cubicBezTo>
                <a:cubicBezTo>
                  <a:pt x="427672" y="0"/>
                  <a:pt x="448099" y="4405"/>
                  <a:pt x="466831" y="12501"/>
                </a:cubicBezTo>
                <a:cubicBezTo>
                  <a:pt x="477415" y="17025"/>
                  <a:pt x="479319" y="32147"/>
                  <a:pt x="471381" y="41196"/>
                </a:cubicBezTo>
                <a:lnTo>
                  <a:pt x="377508" y="146804"/>
                </a:lnTo>
                <a:cubicBezTo>
                  <a:pt x="374332" y="150376"/>
                  <a:pt x="372533" y="155257"/>
                  <a:pt x="372533" y="160259"/>
                </a:cubicBezTo>
                <a:lnTo>
                  <a:pt x="372533" y="209551"/>
                </a:lnTo>
                <a:cubicBezTo>
                  <a:pt x="372533" y="220028"/>
                  <a:pt x="380153" y="228600"/>
                  <a:pt x="389467" y="228600"/>
                </a:cubicBezTo>
                <a:lnTo>
                  <a:pt x="433281" y="228600"/>
                </a:lnTo>
                <a:cubicBezTo>
                  <a:pt x="437727" y="228600"/>
                  <a:pt x="442065" y="226576"/>
                  <a:pt x="445241" y="223004"/>
                </a:cubicBezTo>
                <a:lnTo>
                  <a:pt x="539115" y="117396"/>
                </a:lnTo>
                <a:close/>
              </a:path>
            </a:pathLst>
          </a:custGeom>
          <a:solidFill>
            <a:srgbClr val="FFFFFF">
              <a:alpha val="6176"/>
            </a:srgbClr>
          </a:solidFill>
          <a:ln/>
        </p:spPr>
      </p:sp>
      <p:sp>
        <p:nvSpPr>
          <p:cNvPr id="26" name="Shape 23"/>
          <p:cNvSpPr/>
          <p:nvPr/>
        </p:nvSpPr>
        <p:spPr>
          <a:xfrm>
            <a:off x="15019909" y="2641600"/>
            <a:ext cx="5706491" cy="474091"/>
          </a:xfrm>
          <a:prstGeom prst="rect">
            <a:avLst/>
          </a:prstGeom>
          <a:noFill/>
          <a:ln/>
        </p:spPr>
      </p:sp>
      <p:sp>
        <p:nvSpPr>
          <p:cNvPr id="27" name="Text 24"/>
          <p:cNvSpPr/>
          <p:nvPr/>
        </p:nvSpPr>
        <p:spPr>
          <a:xfrm>
            <a:off x="14897989" y="2580640"/>
            <a:ext cx="5950331" cy="596011"/>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质量改进措施</a:t>
            </a:r>
            <a:endParaRPr lang="en-US" sz="2670" dirty="0"/>
          </a:p>
        </p:txBody>
      </p:sp>
      <p:sp>
        <p:nvSpPr>
          <p:cNvPr id="28" name="Shape 25"/>
          <p:cNvSpPr/>
          <p:nvPr/>
        </p:nvSpPr>
        <p:spPr>
          <a:xfrm>
            <a:off x="15019909" y="3251200"/>
            <a:ext cx="5706491" cy="16891"/>
          </a:xfrm>
          <a:prstGeom prst="rect">
            <a:avLst/>
          </a:prstGeom>
          <a:solidFill>
            <a:srgbClr val="FFFFFF">
              <a:alpha val="3576"/>
            </a:srgbClr>
          </a:solidFill>
          <a:ln/>
        </p:spPr>
      </p:sp>
      <p:sp>
        <p:nvSpPr>
          <p:cNvPr id="29" name="Shape 26"/>
          <p:cNvSpPr/>
          <p:nvPr/>
        </p:nvSpPr>
        <p:spPr>
          <a:xfrm>
            <a:off x="15019909" y="3488309"/>
            <a:ext cx="5706491" cy="3894709"/>
          </a:xfrm>
          <a:prstGeom prst="rect">
            <a:avLst/>
          </a:prstGeom>
          <a:noFill/>
          <a:ln/>
        </p:spPr>
      </p:sp>
      <p:sp>
        <p:nvSpPr>
          <p:cNvPr id="30" name="Text 27"/>
          <p:cNvSpPr/>
          <p:nvPr/>
        </p:nvSpPr>
        <p:spPr>
          <a:xfrm>
            <a:off x="14897989" y="3427349"/>
            <a:ext cx="5950331" cy="4016629"/>
          </a:xfrm>
          <a:prstGeom prst="rect">
            <a:avLst/>
          </a:prstGeom>
          <a:noFill/>
          <a:ln/>
        </p:spPr>
        <p:txBody>
          <a:bodyPr wrap="square" lIns="0" tIns="0" rIns="0" bIns="0" rtlCol="0" anchor="t"/>
          <a:lstStyle/>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针对质量问题采取纠正、预防和改进措施，消除质量问题，提高项目质量。</a:t>
            </a:r>
            <a:endParaRPr lang="en-US" sz="2000" dirty="0"/>
          </a:p>
          <a:p>
            <a:pPr algn="l">
              <a:lnSpc>
                <a:spcPct val="170000"/>
              </a:lnSpc>
              <a:spcBef>
                <a:spcPts val="1333"/>
              </a:spcBef>
            </a:pPr>
            <a:r>
              <a:rPr lang="en-US" sz="2000" dirty="0">
                <a:solidFill>
                  <a:srgbClr val="FFFFFF"/>
                </a:solidFill>
                <a:latin typeface="Quattrocento Sans" pitchFamily="34" charset="0"/>
                <a:ea typeface="Quattrocento Sans" pitchFamily="34" charset="-122"/>
                <a:cs typeface="Quattrocento Sans" pitchFamily="34" charset="-120"/>
              </a:rPr>
              <a:t>常用方法：</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PDCA循环</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六西格玛</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根本原因分析</a:t>
            </a:r>
            <a:endParaRPr lang="en-US" sz="2000" dirty="0"/>
          </a:p>
          <a:p>
            <a:pPr algn="l">
              <a:lnSpc>
                <a:spcPct val="170000"/>
              </a:lnSpc>
            </a:pPr>
            <a:r>
              <a:rPr lang="en-US" sz="2000" dirty="0">
                <a:solidFill>
                  <a:srgbClr val="FFFFFF"/>
                </a:solidFill>
                <a:latin typeface="Quattrocento Sans" pitchFamily="34" charset="0"/>
                <a:ea typeface="Quattrocento Sans" pitchFamily="34" charset="-122"/>
                <a:cs typeface="Quattrocento Sans" pitchFamily="34" charset="-120"/>
              </a:rPr>
              <a:t>• 标杆对照</a:t>
            </a:r>
            <a:endParaRPr lang="en-US" sz="2000" dirty="0"/>
          </a:p>
        </p:txBody>
      </p:sp>
      <p:sp>
        <p:nvSpPr>
          <p:cNvPr id="31" name="Shape 28"/>
          <p:cNvSpPr/>
          <p:nvPr/>
        </p:nvSpPr>
        <p:spPr>
          <a:xfrm>
            <a:off x="677291" y="7721600"/>
            <a:ext cx="20320000" cy="3217291"/>
          </a:xfrm>
          <a:prstGeom prst="roundRect">
            <a:avLst>
              <a:gd name="adj" fmla="val 4000"/>
            </a:avLst>
          </a:prstGeom>
          <a:solidFill>
            <a:srgbClr val="E3F0FA"/>
          </a:solidFill>
          <a:ln/>
        </p:spPr>
      </p:sp>
      <p:sp>
        <p:nvSpPr>
          <p:cNvPr id="32" name="Shape 29"/>
          <p:cNvSpPr/>
          <p:nvPr/>
        </p:nvSpPr>
        <p:spPr>
          <a:xfrm>
            <a:off x="1016000" y="7958709"/>
            <a:ext cx="6773291" cy="440309"/>
          </a:xfrm>
          <a:prstGeom prst="rect">
            <a:avLst/>
          </a:prstGeom>
          <a:noFill/>
          <a:ln/>
        </p:spPr>
      </p:sp>
      <p:sp>
        <p:nvSpPr>
          <p:cNvPr id="33" name="Text 30"/>
          <p:cNvSpPr/>
          <p:nvPr/>
        </p:nvSpPr>
        <p:spPr>
          <a:xfrm>
            <a:off x="894080" y="7897749"/>
            <a:ext cx="7017131"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质量成本（COQ）</a:t>
            </a:r>
            <a:endParaRPr lang="en-US" sz="2400" dirty="0"/>
          </a:p>
        </p:txBody>
      </p:sp>
      <p:sp>
        <p:nvSpPr>
          <p:cNvPr id="34" name="Shape 31"/>
          <p:cNvSpPr/>
          <p:nvPr/>
        </p:nvSpPr>
        <p:spPr>
          <a:xfrm>
            <a:off x="1016000" y="8500491"/>
            <a:ext cx="19642709" cy="2201291"/>
          </a:xfrm>
          <a:prstGeom prst="rect">
            <a:avLst/>
          </a:prstGeom>
          <a:noFill/>
          <a:ln/>
        </p:spPr>
      </p:sp>
      <p:sp>
        <p:nvSpPr>
          <p:cNvPr id="35" name="Text 32"/>
          <p:cNvSpPr/>
          <p:nvPr/>
        </p:nvSpPr>
        <p:spPr>
          <a:xfrm>
            <a:off x="894080" y="8439531"/>
            <a:ext cx="19886549" cy="2323211"/>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质量成本包括</a:t>
            </a:r>
            <a:r>
              <a:rPr lang="en-US" sz="2000" b="1" dirty="0">
                <a:solidFill>
                  <a:srgbClr val="2C2C2C"/>
                </a:solidFill>
                <a:latin typeface="Quattrocento Sans" pitchFamily="34" charset="0"/>
                <a:ea typeface="Quattrocento Sans" pitchFamily="34" charset="-122"/>
                <a:cs typeface="Quattrocento Sans" pitchFamily="34" charset="-120"/>
              </a:rPr>
              <a:t>一致性成本</a:t>
            </a:r>
            <a:r>
              <a:rPr lang="en-US" sz="2000" dirty="0">
                <a:solidFill>
                  <a:srgbClr val="2C2C2C"/>
                </a:solidFill>
                <a:latin typeface="Quattrocento Sans" pitchFamily="34" charset="0"/>
                <a:ea typeface="Quattrocento Sans" pitchFamily="34" charset="-122"/>
                <a:cs typeface="Quattrocento Sans" pitchFamily="34" charset="-120"/>
              </a:rPr>
              <a:t>（预防成本 + 评估成本）和</a:t>
            </a:r>
            <a:r>
              <a:rPr lang="en-US" sz="2000" b="1" dirty="0">
                <a:solidFill>
                  <a:srgbClr val="2C2C2C"/>
                </a:solidFill>
                <a:latin typeface="Quattrocento Sans" pitchFamily="34" charset="0"/>
                <a:ea typeface="Quattrocento Sans" pitchFamily="34" charset="-122"/>
                <a:cs typeface="Quattrocento Sans" pitchFamily="34" charset="-120"/>
              </a:rPr>
              <a:t>非一致性成本</a:t>
            </a:r>
            <a:r>
              <a:rPr lang="en-US" sz="2000" dirty="0">
                <a:solidFill>
                  <a:srgbClr val="2C2C2C"/>
                </a:solidFill>
                <a:latin typeface="Quattrocento Sans" pitchFamily="34" charset="0"/>
                <a:ea typeface="Quattrocento Sans" pitchFamily="34" charset="-122"/>
                <a:cs typeface="Quattrocento Sans" pitchFamily="34" charset="-120"/>
              </a:rPr>
              <a:t>（内部失败成本 + 外部失败成本）。</a:t>
            </a:r>
            <a:endParaRPr lang="en-US" sz="2000" dirty="0"/>
          </a:p>
          <a:p>
            <a:pPr algn="l">
              <a:lnSpc>
                <a:spcPct val="160000"/>
              </a:lnSpc>
              <a:spcBef>
                <a:spcPts val="800"/>
              </a:spcBef>
            </a:pPr>
            <a:r>
              <a:rPr lang="en-US" sz="2000" dirty="0">
                <a:solidFill>
                  <a:srgbClr val="2C2C2C"/>
                </a:solidFill>
                <a:latin typeface="Quattrocento Sans" pitchFamily="34" charset="0"/>
                <a:ea typeface="Quattrocento Sans" pitchFamily="34" charset="-122"/>
                <a:cs typeface="Quattrocento Sans" pitchFamily="34" charset="-120"/>
              </a:rPr>
              <a:t>预防成本：培训、流程文档化、设备维护 | 评估成本：测试、检查、评审</a:t>
            </a:r>
            <a:endParaRPr lang="en-US" sz="2000" dirty="0"/>
          </a:p>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内部失败：返工、废品 | 外部失败：保修、投诉处理、声誉损失</a:t>
            </a:r>
            <a:endParaRPr lang="en-US" sz="2000" dirty="0"/>
          </a:p>
        </p:txBody>
      </p:sp>
      <p:sp>
        <p:nvSpPr>
          <p:cNvPr id="36" name="Shape 33"/>
          <p:cNvSpPr/>
          <p:nvPr/>
        </p:nvSpPr>
        <p:spPr>
          <a:xfrm>
            <a:off x="20320000" y="11514709"/>
            <a:ext cx="846709" cy="406400"/>
          </a:xfrm>
          <a:prstGeom prst="rect">
            <a:avLst/>
          </a:prstGeom>
          <a:noFill/>
          <a:ln/>
        </p:spPr>
      </p:sp>
      <p:sp>
        <p:nvSpPr>
          <p:cNvPr id="37" name="Text 34"/>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17</a:t>
            </a:r>
            <a:endParaRPr lang="en-US" sz="187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06</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SIX</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项目人力资源管理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Human Resource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6.1　人力资源管理过程</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6.2　组织结构与岗位</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18</a:t>
            </a:r>
            <a:endParaRPr lang="en-US" sz="187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06 项目人力资源管理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人力资源管理过程</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6316091" cy="4064000"/>
          </a:xfrm>
          <a:prstGeom prst="roundRect">
            <a:avLst>
              <a:gd name="adj" fmla="val 4000"/>
            </a:avLst>
          </a:prstGeom>
          <a:solidFill>
            <a:srgbClr val="1A4A7A"/>
          </a:solidFill>
          <a:ln/>
        </p:spPr>
      </p:sp>
      <p:sp>
        <p:nvSpPr>
          <p:cNvPr id="11" name="Shape 8"/>
          <p:cNvSpPr/>
          <p:nvPr/>
        </p:nvSpPr>
        <p:spPr>
          <a:xfrm>
            <a:off x="948309" y="1659509"/>
            <a:ext cx="5774309" cy="508000"/>
          </a:xfrm>
          <a:prstGeom prst="rect">
            <a:avLst/>
          </a:prstGeom>
          <a:noFill/>
          <a:ln/>
        </p:spPr>
      </p:sp>
      <p:sp>
        <p:nvSpPr>
          <p:cNvPr id="12" name="Text 9"/>
          <p:cNvSpPr/>
          <p:nvPr/>
        </p:nvSpPr>
        <p:spPr>
          <a:xfrm>
            <a:off x="826389"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01</a:t>
            </a:r>
            <a:endParaRPr lang="en-US" sz="3200" dirty="0"/>
          </a:p>
        </p:txBody>
      </p:sp>
      <p:sp>
        <p:nvSpPr>
          <p:cNvPr id="13" name="Shape 10"/>
          <p:cNvSpPr/>
          <p:nvPr/>
        </p:nvSpPr>
        <p:spPr>
          <a:xfrm>
            <a:off x="948309" y="2269109"/>
            <a:ext cx="5774309" cy="440309"/>
          </a:xfrm>
          <a:prstGeom prst="rect">
            <a:avLst/>
          </a:prstGeom>
          <a:noFill/>
          <a:ln/>
        </p:spPr>
      </p:sp>
      <p:sp>
        <p:nvSpPr>
          <p:cNvPr id="14" name="Text 11"/>
          <p:cNvSpPr/>
          <p:nvPr/>
        </p:nvSpPr>
        <p:spPr>
          <a:xfrm>
            <a:off x="826389"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人力资源规划</a:t>
            </a:r>
            <a:endParaRPr lang="en-US" sz="2400" dirty="0"/>
          </a:p>
        </p:txBody>
      </p:sp>
      <p:sp>
        <p:nvSpPr>
          <p:cNvPr id="15" name="Shape 12"/>
          <p:cNvSpPr/>
          <p:nvPr/>
        </p:nvSpPr>
        <p:spPr>
          <a:xfrm>
            <a:off x="948309" y="2844800"/>
            <a:ext cx="5774309" cy="2438400"/>
          </a:xfrm>
          <a:prstGeom prst="rect">
            <a:avLst/>
          </a:prstGeom>
          <a:noFill/>
          <a:ln/>
        </p:spPr>
      </p:sp>
      <p:sp>
        <p:nvSpPr>
          <p:cNvPr id="16" name="Text 13"/>
          <p:cNvSpPr/>
          <p:nvPr/>
        </p:nvSpPr>
        <p:spPr>
          <a:xfrm>
            <a:off x="826389" y="2783840"/>
            <a:ext cx="6018149"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确定项目角色、职责、汇报关系，制定人员配备管理计划的过程。明确项目需要哪些技能、何时需要、需要多少人。</a:t>
            </a:r>
            <a:endParaRPr lang="en-US" sz="2000" dirty="0"/>
          </a:p>
        </p:txBody>
      </p:sp>
      <p:sp>
        <p:nvSpPr>
          <p:cNvPr id="17" name="Shape 14"/>
          <p:cNvSpPr/>
          <p:nvPr/>
        </p:nvSpPr>
        <p:spPr>
          <a:xfrm>
            <a:off x="7670800" y="1456309"/>
            <a:ext cx="6333109" cy="4064000"/>
          </a:xfrm>
          <a:prstGeom prst="roundRect">
            <a:avLst>
              <a:gd name="adj" fmla="val 4000"/>
            </a:avLst>
          </a:prstGeom>
          <a:solidFill>
            <a:srgbClr val="5B9BD5"/>
          </a:solidFill>
          <a:ln/>
        </p:spPr>
      </p:sp>
      <p:sp>
        <p:nvSpPr>
          <p:cNvPr id="18" name="Shape 15"/>
          <p:cNvSpPr/>
          <p:nvPr/>
        </p:nvSpPr>
        <p:spPr>
          <a:xfrm>
            <a:off x="7941691" y="1659509"/>
            <a:ext cx="5791200" cy="508000"/>
          </a:xfrm>
          <a:prstGeom prst="rect">
            <a:avLst/>
          </a:prstGeom>
          <a:noFill/>
          <a:ln/>
        </p:spPr>
      </p:sp>
      <p:sp>
        <p:nvSpPr>
          <p:cNvPr id="19" name="Text 16"/>
          <p:cNvSpPr/>
          <p:nvPr/>
        </p:nvSpPr>
        <p:spPr>
          <a:xfrm>
            <a:off x="7819771" y="1598549"/>
            <a:ext cx="6035040"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02</a:t>
            </a:r>
            <a:endParaRPr lang="en-US" sz="3200" dirty="0"/>
          </a:p>
        </p:txBody>
      </p:sp>
      <p:sp>
        <p:nvSpPr>
          <p:cNvPr id="20" name="Shape 17"/>
          <p:cNvSpPr/>
          <p:nvPr/>
        </p:nvSpPr>
        <p:spPr>
          <a:xfrm>
            <a:off x="7941691" y="2269109"/>
            <a:ext cx="5791200" cy="440309"/>
          </a:xfrm>
          <a:prstGeom prst="rect">
            <a:avLst/>
          </a:prstGeom>
          <a:noFill/>
          <a:ln/>
        </p:spPr>
      </p:sp>
      <p:sp>
        <p:nvSpPr>
          <p:cNvPr id="21" name="Text 18"/>
          <p:cNvSpPr/>
          <p:nvPr/>
        </p:nvSpPr>
        <p:spPr>
          <a:xfrm>
            <a:off x="7819771" y="2208149"/>
            <a:ext cx="6035040"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项目团队组建</a:t>
            </a:r>
            <a:endParaRPr lang="en-US" sz="2400" dirty="0"/>
          </a:p>
        </p:txBody>
      </p:sp>
      <p:sp>
        <p:nvSpPr>
          <p:cNvPr id="22" name="Shape 19"/>
          <p:cNvSpPr/>
          <p:nvPr/>
        </p:nvSpPr>
        <p:spPr>
          <a:xfrm>
            <a:off x="7941691" y="2844800"/>
            <a:ext cx="5791200" cy="2438400"/>
          </a:xfrm>
          <a:prstGeom prst="rect">
            <a:avLst/>
          </a:prstGeom>
          <a:noFill/>
          <a:ln/>
        </p:spPr>
      </p:sp>
      <p:sp>
        <p:nvSpPr>
          <p:cNvPr id="23" name="Text 20"/>
          <p:cNvSpPr/>
          <p:nvPr/>
        </p:nvSpPr>
        <p:spPr>
          <a:xfrm>
            <a:off x="7819771" y="2783840"/>
            <a:ext cx="6035040"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获得完成项目所需人力资源的过程。通过招聘、调配、借调等方式组建项目团队，确保团队具备完成项目所需的技能和能力。</a:t>
            </a:r>
            <a:endParaRPr lang="en-US" sz="2000" dirty="0"/>
          </a:p>
        </p:txBody>
      </p:sp>
      <p:sp>
        <p:nvSpPr>
          <p:cNvPr id="24" name="Shape 21"/>
          <p:cNvSpPr/>
          <p:nvPr/>
        </p:nvSpPr>
        <p:spPr>
          <a:xfrm>
            <a:off x="14681200" y="1456309"/>
            <a:ext cx="6316091" cy="4064000"/>
          </a:xfrm>
          <a:prstGeom prst="roundRect">
            <a:avLst>
              <a:gd name="adj" fmla="val 4000"/>
            </a:avLst>
          </a:prstGeom>
          <a:solidFill>
            <a:srgbClr val="2E86C1"/>
          </a:solidFill>
          <a:ln/>
        </p:spPr>
      </p:sp>
      <p:sp>
        <p:nvSpPr>
          <p:cNvPr id="25" name="Shape 22"/>
          <p:cNvSpPr/>
          <p:nvPr/>
        </p:nvSpPr>
        <p:spPr>
          <a:xfrm>
            <a:off x="14952091" y="1659509"/>
            <a:ext cx="5774309" cy="508000"/>
          </a:xfrm>
          <a:prstGeom prst="rect">
            <a:avLst/>
          </a:prstGeom>
          <a:noFill/>
          <a:ln/>
        </p:spPr>
      </p:sp>
      <p:sp>
        <p:nvSpPr>
          <p:cNvPr id="26" name="Text 23"/>
          <p:cNvSpPr/>
          <p:nvPr/>
        </p:nvSpPr>
        <p:spPr>
          <a:xfrm>
            <a:off x="14830171"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03</a:t>
            </a:r>
            <a:endParaRPr lang="en-US" sz="3200" dirty="0"/>
          </a:p>
        </p:txBody>
      </p:sp>
      <p:sp>
        <p:nvSpPr>
          <p:cNvPr id="27" name="Shape 24"/>
          <p:cNvSpPr/>
          <p:nvPr/>
        </p:nvSpPr>
        <p:spPr>
          <a:xfrm>
            <a:off x="14952091" y="2269109"/>
            <a:ext cx="5774309" cy="440309"/>
          </a:xfrm>
          <a:prstGeom prst="rect">
            <a:avLst/>
          </a:prstGeom>
          <a:noFill/>
          <a:ln/>
        </p:spPr>
      </p:sp>
      <p:sp>
        <p:nvSpPr>
          <p:cNvPr id="28" name="Text 25"/>
          <p:cNvSpPr/>
          <p:nvPr/>
        </p:nvSpPr>
        <p:spPr>
          <a:xfrm>
            <a:off x="14830171"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项目团队建设</a:t>
            </a:r>
            <a:endParaRPr lang="en-US" sz="2400" dirty="0"/>
          </a:p>
        </p:txBody>
      </p:sp>
      <p:sp>
        <p:nvSpPr>
          <p:cNvPr id="29" name="Shape 26"/>
          <p:cNvSpPr/>
          <p:nvPr/>
        </p:nvSpPr>
        <p:spPr>
          <a:xfrm>
            <a:off x="14952091" y="2844800"/>
            <a:ext cx="5774309" cy="2438400"/>
          </a:xfrm>
          <a:prstGeom prst="rect">
            <a:avLst/>
          </a:prstGeom>
          <a:noFill/>
          <a:ln/>
        </p:spPr>
      </p:sp>
      <p:sp>
        <p:nvSpPr>
          <p:cNvPr id="30" name="Text 27"/>
          <p:cNvSpPr/>
          <p:nvPr/>
        </p:nvSpPr>
        <p:spPr>
          <a:xfrm>
            <a:off x="14830171" y="2783840"/>
            <a:ext cx="6018149"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增强团队成员能力，提高团队相互作用，提升项目绩效的过程。通过培训、团建、激励等活动，打造高效协作团队。</a:t>
            </a:r>
            <a:endParaRPr lang="en-US" sz="2000" dirty="0"/>
          </a:p>
        </p:txBody>
      </p:sp>
      <p:sp>
        <p:nvSpPr>
          <p:cNvPr id="31" name="Shape 28"/>
          <p:cNvSpPr/>
          <p:nvPr/>
        </p:nvSpPr>
        <p:spPr>
          <a:xfrm>
            <a:off x="677291" y="5825109"/>
            <a:ext cx="6773291" cy="474091"/>
          </a:xfrm>
          <a:prstGeom prst="rect">
            <a:avLst/>
          </a:prstGeom>
          <a:noFill/>
          <a:ln/>
        </p:spPr>
      </p:sp>
      <p:sp>
        <p:nvSpPr>
          <p:cNvPr id="32" name="Text 29"/>
          <p:cNvSpPr/>
          <p:nvPr/>
        </p:nvSpPr>
        <p:spPr>
          <a:xfrm>
            <a:off x="555371" y="5764149"/>
            <a:ext cx="7017131" cy="596011"/>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高效团队特点</a:t>
            </a:r>
            <a:endParaRPr lang="en-US" sz="2400" dirty="0"/>
          </a:p>
        </p:txBody>
      </p:sp>
      <p:sp>
        <p:nvSpPr>
          <p:cNvPr id="33" name="Shape 30"/>
          <p:cNvSpPr/>
          <p:nvPr/>
        </p:nvSpPr>
        <p:spPr>
          <a:xfrm>
            <a:off x="677291" y="6366891"/>
            <a:ext cx="20320000" cy="16891"/>
          </a:xfrm>
          <a:prstGeom prst="rect">
            <a:avLst/>
          </a:prstGeom>
          <a:solidFill>
            <a:srgbClr val="E0E0E0"/>
          </a:solidFill>
          <a:ln/>
        </p:spPr>
      </p:sp>
      <p:sp>
        <p:nvSpPr>
          <p:cNvPr id="34" name="Shape 31"/>
          <p:cNvSpPr/>
          <p:nvPr/>
        </p:nvSpPr>
        <p:spPr>
          <a:xfrm>
            <a:off x="677291" y="6637909"/>
            <a:ext cx="6316091" cy="4199509"/>
          </a:xfrm>
          <a:prstGeom prst="roundRect">
            <a:avLst>
              <a:gd name="adj" fmla="val 4000"/>
            </a:avLst>
          </a:prstGeom>
          <a:solidFill>
            <a:srgbClr val="F5F5F5"/>
          </a:solidFill>
          <a:ln/>
        </p:spPr>
      </p:sp>
      <p:sp>
        <p:nvSpPr>
          <p:cNvPr id="35" name="Shape 32"/>
          <p:cNvSpPr/>
          <p:nvPr/>
        </p:nvSpPr>
        <p:spPr>
          <a:xfrm>
            <a:off x="1016000" y="6908800"/>
            <a:ext cx="541909" cy="541909"/>
          </a:xfrm>
          <a:custGeom>
            <a:avLst/>
            <a:gdLst/>
            <a:ahLst/>
            <a:cxnLst/>
            <a:rect l="l" t="t" r="r" b="b"/>
            <a:pathLst>
              <a:path w="541909" h="541909">
                <a:moveTo>
                  <a:pt x="474170" y="270955"/>
                </a:moveTo>
                <a:cubicBezTo>
                  <a:pt x="474170" y="158796"/>
                  <a:pt x="383113" y="67739"/>
                  <a:pt x="270955" y="67739"/>
                </a:cubicBezTo>
                <a:cubicBezTo>
                  <a:pt x="158796" y="67739"/>
                  <a:pt x="67739" y="158796"/>
                  <a:pt x="67739" y="270955"/>
                </a:cubicBezTo>
                <a:cubicBezTo>
                  <a:pt x="67739" y="383113"/>
                  <a:pt x="158796" y="474170"/>
                  <a:pt x="270955" y="474170"/>
                </a:cubicBezTo>
                <a:cubicBezTo>
                  <a:pt x="383113" y="474170"/>
                  <a:pt x="474170" y="383113"/>
                  <a:pt x="474170" y="270955"/>
                </a:cubicBezTo>
                <a:close/>
                <a:moveTo>
                  <a:pt x="0" y="270955"/>
                </a:moveTo>
                <a:cubicBezTo>
                  <a:pt x="0" y="121411"/>
                  <a:pt x="121411" y="0"/>
                  <a:pt x="270955" y="0"/>
                </a:cubicBezTo>
                <a:cubicBezTo>
                  <a:pt x="420498" y="0"/>
                  <a:pt x="541909" y="121411"/>
                  <a:pt x="541909" y="270955"/>
                </a:cubicBezTo>
                <a:cubicBezTo>
                  <a:pt x="541909" y="420498"/>
                  <a:pt x="420498" y="541909"/>
                  <a:pt x="270955" y="541909"/>
                </a:cubicBezTo>
                <a:cubicBezTo>
                  <a:pt x="121411" y="541909"/>
                  <a:pt x="0" y="420498"/>
                  <a:pt x="0" y="270955"/>
                </a:cubicBezTo>
                <a:close/>
                <a:moveTo>
                  <a:pt x="270955" y="355628"/>
                </a:moveTo>
                <a:cubicBezTo>
                  <a:pt x="317687" y="355628"/>
                  <a:pt x="355628" y="317687"/>
                  <a:pt x="355628" y="270955"/>
                </a:cubicBezTo>
                <a:cubicBezTo>
                  <a:pt x="355628" y="224222"/>
                  <a:pt x="317687" y="186281"/>
                  <a:pt x="270955" y="186281"/>
                </a:cubicBezTo>
                <a:cubicBezTo>
                  <a:pt x="224222" y="186281"/>
                  <a:pt x="186281" y="224222"/>
                  <a:pt x="186281" y="270955"/>
                </a:cubicBezTo>
                <a:cubicBezTo>
                  <a:pt x="186281" y="317687"/>
                  <a:pt x="224222" y="355628"/>
                  <a:pt x="270955" y="355628"/>
                </a:cubicBezTo>
                <a:close/>
                <a:moveTo>
                  <a:pt x="270955" y="118543"/>
                </a:moveTo>
                <a:cubicBezTo>
                  <a:pt x="355073" y="118543"/>
                  <a:pt x="423366" y="186836"/>
                  <a:pt x="423366" y="270955"/>
                </a:cubicBezTo>
                <a:cubicBezTo>
                  <a:pt x="423366" y="355073"/>
                  <a:pt x="355073" y="423366"/>
                  <a:pt x="270955" y="423366"/>
                </a:cubicBezTo>
                <a:cubicBezTo>
                  <a:pt x="186836" y="423366"/>
                  <a:pt x="118543" y="355073"/>
                  <a:pt x="118543" y="270955"/>
                </a:cubicBezTo>
                <a:cubicBezTo>
                  <a:pt x="118543" y="186836"/>
                  <a:pt x="186836" y="118543"/>
                  <a:pt x="270955" y="118543"/>
                </a:cubicBezTo>
                <a:close/>
                <a:moveTo>
                  <a:pt x="237085" y="270955"/>
                </a:moveTo>
                <a:cubicBezTo>
                  <a:pt x="237085" y="252261"/>
                  <a:pt x="252261" y="237085"/>
                  <a:pt x="270955" y="237085"/>
                </a:cubicBezTo>
                <a:cubicBezTo>
                  <a:pt x="289648" y="237085"/>
                  <a:pt x="304824" y="252261"/>
                  <a:pt x="304824" y="270955"/>
                </a:cubicBezTo>
                <a:cubicBezTo>
                  <a:pt x="304824" y="289648"/>
                  <a:pt x="289648" y="304824"/>
                  <a:pt x="270955" y="304824"/>
                </a:cubicBezTo>
                <a:cubicBezTo>
                  <a:pt x="252261" y="304824"/>
                  <a:pt x="237085" y="289648"/>
                  <a:pt x="237085" y="270955"/>
                </a:cubicBezTo>
                <a:close/>
              </a:path>
            </a:pathLst>
          </a:custGeom>
          <a:solidFill>
            <a:srgbClr val="1A4A7A"/>
          </a:solidFill>
          <a:ln/>
        </p:spPr>
      </p:sp>
      <p:sp>
        <p:nvSpPr>
          <p:cNvPr id="36" name="Shape 33"/>
          <p:cNvSpPr/>
          <p:nvPr/>
        </p:nvSpPr>
        <p:spPr>
          <a:xfrm>
            <a:off x="1727200" y="6942709"/>
            <a:ext cx="4910709" cy="474091"/>
          </a:xfrm>
          <a:prstGeom prst="rect">
            <a:avLst/>
          </a:prstGeom>
          <a:noFill/>
          <a:ln/>
        </p:spPr>
      </p:sp>
      <p:sp>
        <p:nvSpPr>
          <p:cNvPr id="37" name="Text 34"/>
          <p:cNvSpPr/>
          <p:nvPr/>
        </p:nvSpPr>
        <p:spPr>
          <a:xfrm>
            <a:off x="1605280" y="68817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明确目标</a:t>
            </a:r>
            <a:endParaRPr lang="en-US" sz="2130" dirty="0"/>
          </a:p>
        </p:txBody>
      </p:sp>
      <p:sp>
        <p:nvSpPr>
          <p:cNvPr id="38" name="Shape 35"/>
          <p:cNvSpPr/>
          <p:nvPr/>
        </p:nvSpPr>
        <p:spPr>
          <a:xfrm>
            <a:off x="1016000" y="7620000"/>
            <a:ext cx="5706491" cy="2980309"/>
          </a:xfrm>
          <a:prstGeom prst="rect">
            <a:avLst/>
          </a:prstGeom>
          <a:noFill/>
          <a:ln/>
        </p:spPr>
      </p:sp>
      <p:sp>
        <p:nvSpPr>
          <p:cNvPr id="39" name="Text 36"/>
          <p:cNvSpPr/>
          <p:nvPr/>
        </p:nvSpPr>
        <p:spPr>
          <a:xfrm>
            <a:off x="894080" y="7559040"/>
            <a:ext cx="5950331" cy="3102229"/>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团队有明确的目标，所有成员围绕目标共同努力。目标是团队行动的方向和动力，确保每个人都清楚项目的最终交付成果。</a:t>
            </a:r>
            <a:endParaRPr lang="en-US" sz="2000" dirty="0"/>
          </a:p>
        </p:txBody>
      </p:sp>
      <p:sp>
        <p:nvSpPr>
          <p:cNvPr id="40" name="Shape 37"/>
          <p:cNvSpPr/>
          <p:nvPr/>
        </p:nvSpPr>
        <p:spPr>
          <a:xfrm>
            <a:off x="7670800" y="6637909"/>
            <a:ext cx="6333109" cy="4199509"/>
          </a:xfrm>
          <a:prstGeom prst="roundRect">
            <a:avLst>
              <a:gd name="adj" fmla="val 4000"/>
            </a:avLst>
          </a:prstGeom>
          <a:solidFill>
            <a:srgbClr val="F5F5F5"/>
          </a:solidFill>
          <a:ln/>
        </p:spPr>
      </p:sp>
      <p:sp>
        <p:nvSpPr>
          <p:cNvPr id="41" name="Shape 38"/>
          <p:cNvSpPr/>
          <p:nvPr/>
        </p:nvSpPr>
        <p:spPr>
          <a:xfrm>
            <a:off x="8009509" y="6908800"/>
            <a:ext cx="541909" cy="541909"/>
          </a:xfrm>
          <a:custGeom>
            <a:avLst/>
            <a:gdLst/>
            <a:ahLst/>
            <a:cxnLst/>
            <a:rect l="l" t="t" r="r" b="b"/>
            <a:pathLst>
              <a:path w="541909" h="541909">
                <a:moveTo>
                  <a:pt x="270955" y="0"/>
                </a:moveTo>
                <a:cubicBezTo>
                  <a:pt x="308340" y="0"/>
                  <a:pt x="338693" y="30353"/>
                  <a:pt x="338693" y="67739"/>
                </a:cubicBezTo>
                <a:cubicBezTo>
                  <a:pt x="338693" y="105124"/>
                  <a:pt x="308340" y="135477"/>
                  <a:pt x="270955" y="135477"/>
                </a:cubicBezTo>
                <a:cubicBezTo>
                  <a:pt x="233569" y="135477"/>
                  <a:pt x="203216" y="105124"/>
                  <a:pt x="203216" y="67739"/>
                </a:cubicBezTo>
                <a:cubicBezTo>
                  <a:pt x="203216" y="30353"/>
                  <a:pt x="233569" y="0"/>
                  <a:pt x="270955" y="0"/>
                </a:cubicBezTo>
                <a:close/>
                <a:moveTo>
                  <a:pt x="372562" y="330226"/>
                </a:moveTo>
                <a:cubicBezTo>
                  <a:pt x="372562" y="356687"/>
                  <a:pt x="359120" y="379971"/>
                  <a:pt x="338693" y="393625"/>
                </a:cubicBezTo>
                <a:lnTo>
                  <a:pt x="338693" y="491105"/>
                </a:lnTo>
                <a:cubicBezTo>
                  <a:pt x="338693" y="519153"/>
                  <a:pt x="315937" y="541909"/>
                  <a:pt x="287889" y="541909"/>
                </a:cubicBezTo>
                <a:lnTo>
                  <a:pt x="254020" y="541909"/>
                </a:lnTo>
                <a:cubicBezTo>
                  <a:pt x="225972" y="541909"/>
                  <a:pt x="203216" y="519153"/>
                  <a:pt x="203216" y="491105"/>
                </a:cubicBezTo>
                <a:lnTo>
                  <a:pt x="203216" y="393625"/>
                </a:lnTo>
                <a:cubicBezTo>
                  <a:pt x="182789" y="379971"/>
                  <a:pt x="169347" y="356687"/>
                  <a:pt x="169347" y="330226"/>
                </a:cubicBezTo>
                <a:lnTo>
                  <a:pt x="169347" y="287889"/>
                </a:lnTo>
                <a:cubicBezTo>
                  <a:pt x="169347" y="231793"/>
                  <a:pt x="214858" y="186281"/>
                  <a:pt x="270955" y="186281"/>
                </a:cubicBezTo>
                <a:cubicBezTo>
                  <a:pt x="327051" y="186281"/>
                  <a:pt x="372562" y="231793"/>
                  <a:pt x="372562" y="287889"/>
                </a:cubicBezTo>
                <a:lnTo>
                  <a:pt x="372562" y="330226"/>
                </a:lnTo>
                <a:close/>
                <a:moveTo>
                  <a:pt x="101608" y="33869"/>
                </a:moveTo>
                <a:cubicBezTo>
                  <a:pt x="134321" y="33869"/>
                  <a:pt x="160879" y="60427"/>
                  <a:pt x="160879" y="93141"/>
                </a:cubicBezTo>
                <a:cubicBezTo>
                  <a:pt x="160879" y="125854"/>
                  <a:pt x="134321" y="152412"/>
                  <a:pt x="101608" y="152412"/>
                </a:cubicBezTo>
                <a:cubicBezTo>
                  <a:pt x="68895" y="152412"/>
                  <a:pt x="42337" y="125854"/>
                  <a:pt x="42337" y="93141"/>
                </a:cubicBezTo>
                <a:cubicBezTo>
                  <a:pt x="42337" y="60427"/>
                  <a:pt x="68895" y="33869"/>
                  <a:pt x="101608" y="33869"/>
                </a:cubicBezTo>
                <a:close/>
                <a:moveTo>
                  <a:pt x="118543" y="287889"/>
                </a:moveTo>
                <a:lnTo>
                  <a:pt x="118543" y="321758"/>
                </a:lnTo>
                <a:cubicBezTo>
                  <a:pt x="118543" y="356157"/>
                  <a:pt x="131349" y="387486"/>
                  <a:pt x="152412" y="411407"/>
                </a:cubicBezTo>
                <a:lnTo>
                  <a:pt x="152412" y="491105"/>
                </a:lnTo>
                <a:cubicBezTo>
                  <a:pt x="152412" y="492376"/>
                  <a:pt x="152412" y="493751"/>
                  <a:pt x="152517" y="495021"/>
                </a:cubicBezTo>
                <a:cubicBezTo>
                  <a:pt x="143522" y="503065"/>
                  <a:pt x="131666" y="508040"/>
                  <a:pt x="118543" y="508040"/>
                </a:cubicBezTo>
                <a:lnTo>
                  <a:pt x="84673" y="508040"/>
                </a:lnTo>
                <a:cubicBezTo>
                  <a:pt x="56626" y="508040"/>
                  <a:pt x="33869" y="485283"/>
                  <a:pt x="33869" y="457236"/>
                </a:cubicBezTo>
                <a:lnTo>
                  <a:pt x="33869" y="397330"/>
                </a:lnTo>
                <a:cubicBezTo>
                  <a:pt x="13653" y="385687"/>
                  <a:pt x="0" y="363778"/>
                  <a:pt x="0" y="338693"/>
                </a:cubicBezTo>
                <a:lnTo>
                  <a:pt x="0" y="304824"/>
                </a:lnTo>
                <a:cubicBezTo>
                  <a:pt x="0" y="248727"/>
                  <a:pt x="45512" y="203216"/>
                  <a:pt x="101608" y="203216"/>
                </a:cubicBezTo>
                <a:cubicBezTo>
                  <a:pt x="115050" y="203216"/>
                  <a:pt x="127857" y="205861"/>
                  <a:pt x="139606" y="210519"/>
                </a:cubicBezTo>
                <a:cubicBezTo>
                  <a:pt x="126269" y="233169"/>
                  <a:pt x="118543" y="259630"/>
                  <a:pt x="118543" y="287889"/>
                </a:cubicBezTo>
                <a:close/>
                <a:moveTo>
                  <a:pt x="389497" y="491105"/>
                </a:moveTo>
                <a:lnTo>
                  <a:pt x="389497" y="411407"/>
                </a:lnTo>
                <a:cubicBezTo>
                  <a:pt x="410560" y="387592"/>
                  <a:pt x="423366" y="356157"/>
                  <a:pt x="423366" y="321758"/>
                </a:cubicBezTo>
                <a:lnTo>
                  <a:pt x="423366" y="287889"/>
                </a:lnTo>
                <a:cubicBezTo>
                  <a:pt x="423366" y="259630"/>
                  <a:pt x="415640" y="233276"/>
                  <a:pt x="402303" y="210519"/>
                </a:cubicBezTo>
                <a:cubicBezTo>
                  <a:pt x="414052" y="205756"/>
                  <a:pt x="426859" y="203216"/>
                  <a:pt x="440301" y="203216"/>
                </a:cubicBezTo>
                <a:cubicBezTo>
                  <a:pt x="496397" y="203216"/>
                  <a:pt x="541909" y="248727"/>
                  <a:pt x="541909" y="304824"/>
                </a:cubicBezTo>
                <a:lnTo>
                  <a:pt x="541909" y="338693"/>
                </a:lnTo>
                <a:cubicBezTo>
                  <a:pt x="541909" y="363778"/>
                  <a:pt x="528256" y="385687"/>
                  <a:pt x="508040" y="397330"/>
                </a:cubicBezTo>
                <a:lnTo>
                  <a:pt x="508040" y="457236"/>
                </a:lnTo>
                <a:cubicBezTo>
                  <a:pt x="508040" y="485283"/>
                  <a:pt x="485283" y="508040"/>
                  <a:pt x="457236" y="508040"/>
                </a:cubicBezTo>
                <a:lnTo>
                  <a:pt x="423366" y="508040"/>
                </a:lnTo>
                <a:cubicBezTo>
                  <a:pt x="410348" y="508040"/>
                  <a:pt x="398388" y="503171"/>
                  <a:pt x="389392" y="495021"/>
                </a:cubicBezTo>
                <a:cubicBezTo>
                  <a:pt x="389392" y="493751"/>
                  <a:pt x="389497" y="492376"/>
                  <a:pt x="389497" y="491105"/>
                </a:cubicBezTo>
                <a:close/>
                <a:moveTo>
                  <a:pt x="440301" y="33869"/>
                </a:moveTo>
                <a:cubicBezTo>
                  <a:pt x="473014" y="33869"/>
                  <a:pt x="499572" y="60427"/>
                  <a:pt x="499572" y="93141"/>
                </a:cubicBezTo>
                <a:cubicBezTo>
                  <a:pt x="499572" y="125854"/>
                  <a:pt x="473014" y="152412"/>
                  <a:pt x="440301" y="152412"/>
                </a:cubicBezTo>
                <a:cubicBezTo>
                  <a:pt x="407588" y="152412"/>
                  <a:pt x="381030" y="125854"/>
                  <a:pt x="381030" y="93141"/>
                </a:cubicBezTo>
                <a:cubicBezTo>
                  <a:pt x="381030" y="60427"/>
                  <a:pt x="407588" y="33869"/>
                  <a:pt x="440301" y="33869"/>
                </a:cubicBezTo>
                <a:close/>
              </a:path>
            </a:pathLst>
          </a:custGeom>
          <a:solidFill>
            <a:srgbClr val="5B9BD5"/>
          </a:solidFill>
          <a:ln/>
        </p:spPr>
      </p:sp>
      <p:sp>
        <p:nvSpPr>
          <p:cNvPr id="42" name="Shape 39"/>
          <p:cNvSpPr/>
          <p:nvPr/>
        </p:nvSpPr>
        <p:spPr>
          <a:xfrm>
            <a:off x="8720709" y="6942709"/>
            <a:ext cx="4910709" cy="474091"/>
          </a:xfrm>
          <a:prstGeom prst="rect">
            <a:avLst/>
          </a:prstGeom>
          <a:noFill/>
          <a:ln/>
        </p:spPr>
      </p:sp>
      <p:sp>
        <p:nvSpPr>
          <p:cNvPr id="43" name="Text 40"/>
          <p:cNvSpPr/>
          <p:nvPr/>
        </p:nvSpPr>
        <p:spPr>
          <a:xfrm>
            <a:off x="8598789" y="68817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资源共享</a:t>
            </a:r>
            <a:endParaRPr lang="en-US" sz="2130" dirty="0"/>
          </a:p>
        </p:txBody>
      </p:sp>
      <p:sp>
        <p:nvSpPr>
          <p:cNvPr id="44" name="Shape 41"/>
          <p:cNvSpPr/>
          <p:nvPr/>
        </p:nvSpPr>
        <p:spPr>
          <a:xfrm>
            <a:off x="8009509" y="7620000"/>
            <a:ext cx="5723509" cy="2980309"/>
          </a:xfrm>
          <a:prstGeom prst="rect">
            <a:avLst/>
          </a:prstGeom>
          <a:noFill/>
          <a:ln/>
        </p:spPr>
      </p:sp>
      <p:sp>
        <p:nvSpPr>
          <p:cNvPr id="45" name="Text 42"/>
          <p:cNvSpPr/>
          <p:nvPr/>
        </p:nvSpPr>
        <p:spPr>
          <a:xfrm>
            <a:off x="7887589" y="7559040"/>
            <a:ext cx="5967349" cy="3102229"/>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团队成员共享知识、技能、信息和资源，通过协作提高工作效率，实现团队目标。良好的协作氛围是项目成功的关键。</a:t>
            </a:r>
            <a:endParaRPr lang="en-US" sz="2000" dirty="0"/>
          </a:p>
        </p:txBody>
      </p:sp>
      <p:sp>
        <p:nvSpPr>
          <p:cNvPr id="46" name="Shape 43"/>
          <p:cNvSpPr/>
          <p:nvPr/>
        </p:nvSpPr>
        <p:spPr>
          <a:xfrm>
            <a:off x="14681200" y="6637909"/>
            <a:ext cx="6316091" cy="4199509"/>
          </a:xfrm>
          <a:prstGeom prst="roundRect">
            <a:avLst>
              <a:gd name="adj" fmla="val 4000"/>
            </a:avLst>
          </a:prstGeom>
          <a:solidFill>
            <a:srgbClr val="F5F5F5"/>
          </a:solidFill>
          <a:ln/>
        </p:spPr>
      </p:sp>
      <p:sp>
        <p:nvSpPr>
          <p:cNvPr id="47" name="Shape 44"/>
          <p:cNvSpPr/>
          <p:nvPr/>
        </p:nvSpPr>
        <p:spPr>
          <a:xfrm>
            <a:off x="15019909" y="6908800"/>
            <a:ext cx="541909" cy="541909"/>
          </a:xfrm>
          <a:custGeom>
            <a:avLst/>
            <a:gdLst/>
            <a:ahLst/>
            <a:cxnLst/>
            <a:rect l="l" t="t" r="r" b="b"/>
            <a:pathLst>
              <a:path w="541909" h="541909">
                <a:moveTo>
                  <a:pt x="270955" y="16935"/>
                </a:moveTo>
                <a:cubicBezTo>
                  <a:pt x="319556" y="16935"/>
                  <a:pt x="359015" y="66257"/>
                  <a:pt x="359015" y="127010"/>
                </a:cubicBezTo>
                <a:cubicBezTo>
                  <a:pt x="359015" y="187763"/>
                  <a:pt x="319556" y="237085"/>
                  <a:pt x="270955" y="237085"/>
                </a:cubicBezTo>
                <a:cubicBezTo>
                  <a:pt x="222353" y="237085"/>
                  <a:pt x="182894" y="187763"/>
                  <a:pt x="182894" y="127010"/>
                </a:cubicBezTo>
                <a:cubicBezTo>
                  <a:pt x="182894" y="66257"/>
                  <a:pt x="222353" y="16935"/>
                  <a:pt x="270955" y="16935"/>
                </a:cubicBezTo>
                <a:close/>
                <a:moveTo>
                  <a:pt x="81286" y="93141"/>
                </a:moveTo>
                <a:cubicBezTo>
                  <a:pt x="114934" y="93141"/>
                  <a:pt x="142251" y="127287"/>
                  <a:pt x="142251" y="169347"/>
                </a:cubicBezTo>
                <a:cubicBezTo>
                  <a:pt x="142251" y="211406"/>
                  <a:pt x="114934" y="245553"/>
                  <a:pt x="81286" y="245553"/>
                </a:cubicBezTo>
                <a:cubicBezTo>
                  <a:pt x="47638" y="245553"/>
                  <a:pt x="20322" y="211406"/>
                  <a:pt x="20322" y="169347"/>
                </a:cubicBezTo>
                <a:cubicBezTo>
                  <a:pt x="20322" y="127287"/>
                  <a:pt x="47638" y="93141"/>
                  <a:pt x="81286" y="93141"/>
                </a:cubicBezTo>
                <a:close/>
                <a:moveTo>
                  <a:pt x="0" y="440301"/>
                </a:moveTo>
                <a:cubicBezTo>
                  <a:pt x="0" y="365471"/>
                  <a:pt x="48518" y="304824"/>
                  <a:pt x="108382" y="304824"/>
                </a:cubicBezTo>
                <a:cubicBezTo>
                  <a:pt x="119220" y="304824"/>
                  <a:pt x="129719" y="306835"/>
                  <a:pt x="139627" y="310539"/>
                </a:cubicBezTo>
                <a:cubicBezTo>
                  <a:pt x="111769" y="349489"/>
                  <a:pt x="94834" y="400927"/>
                  <a:pt x="94834" y="457236"/>
                </a:cubicBezTo>
                <a:lnTo>
                  <a:pt x="94834" y="474170"/>
                </a:lnTo>
                <a:cubicBezTo>
                  <a:pt x="94834" y="486237"/>
                  <a:pt x="96866" y="497667"/>
                  <a:pt x="100508" y="508040"/>
                </a:cubicBezTo>
                <a:lnTo>
                  <a:pt x="27095" y="508040"/>
                </a:lnTo>
                <a:cubicBezTo>
                  <a:pt x="12109" y="508040"/>
                  <a:pt x="0" y="492904"/>
                  <a:pt x="0" y="474170"/>
                </a:cubicBezTo>
                <a:lnTo>
                  <a:pt x="0" y="440301"/>
                </a:lnTo>
                <a:close/>
                <a:moveTo>
                  <a:pt x="441402" y="508040"/>
                </a:moveTo>
                <a:cubicBezTo>
                  <a:pt x="445043" y="497667"/>
                  <a:pt x="447075" y="486237"/>
                  <a:pt x="447075" y="474170"/>
                </a:cubicBezTo>
                <a:lnTo>
                  <a:pt x="447075" y="457236"/>
                </a:lnTo>
                <a:cubicBezTo>
                  <a:pt x="447075" y="400929"/>
                  <a:pt x="430140" y="349489"/>
                  <a:pt x="402283" y="310539"/>
                </a:cubicBezTo>
                <a:cubicBezTo>
                  <a:pt x="412190" y="306835"/>
                  <a:pt x="422689" y="304824"/>
                  <a:pt x="433527" y="304824"/>
                </a:cubicBezTo>
                <a:cubicBezTo>
                  <a:pt x="493392" y="304824"/>
                  <a:pt x="541909" y="365471"/>
                  <a:pt x="541909" y="440301"/>
                </a:cubicBezTo>
                <a:lnTo>
                  <a:pt x="541909" y="474170"/>
                </a:lnTo>
                <a:cubicBezTo>
                  <a:pt x="541909" y="492904"/>
                  <a:pt x="529801" y="508040"/>
                  <a:pt x="514814" y="508040"/>
                </a:cubicBezTo>
                <a:lnTo>
                  <a:pt x="441402" y="508040"/>
                </a:lnTo>
                <a:close/>
                <a:moveTo>
                  <a:pt x="399658" y="169347"/>
                </a:moveTo>
                <a:cubicBezTo>
                  <a:pt x="399658" y="127287"/>
                  <a:pt x="426975" y="93141"/>
                  <a:pt x="460623" y="93141"/>
                </a:cubicBezTo>
                <a:cubicBezTo>
                  <a:pt x="494271" y="93141"/>
                  <a:pt x="521587" y="127287"/>
                  <a:pt x="521587" y="169347"/>
                </a:cubicBezTo>
                <a:cubicBezTo>
                  <a:pt x="521587" y="211406"/>
                  <a:pt x="494271" y="245553"/>
                  <a:pt x="460623" y="245553"/>
                </a:cubicBezTo>
                <a:cubicBezTo>
                  <a:pt x="426975" y="245553"/>
                  <a:pt x="399658" y="211406"/>
                  <a:pt x="399658" y="169347"/>
                </a:cubicBezTo>
                <a:close/>
                <a:moveTo>
                  <a:pt x="135477" y="457236"/>
                </a:moveTo>
                <a:cubicBezTo>
                  <a:pt x="135477" y="363672"/>
                  <a:pt x="196103" y="287889"/>
                  <a:pt x="270955" y="287889"/>
                </a:cubicBezTo>
                <a:cubicBezTo>
                  <a:pt x="345806" y="287889"/>
                  <a:pt x="406432" y="363672"/>
                  <a:pt x="406432" y="457236"/>
                </a:cubicBezTo>
                <a:lnTo>
                  <a:pt x="406432" y="474170"/>
                </a:lnTo>
                <a:cubicBezTo>
                  <a:pt x="406432" y="492904"/>
                  <a:pt x="394324" y="508040"/>
                  <a:pt x="379336" y="508040"/>
                </a:cubicBezTo>
                <a:lnTo>
                  <a:pt x="162573" y="508040"/>
                </a:lnTo>
                <a:cubicBezTo>
                  <a:pt x="147586" y="508040"/>
                  <a:pt x="135477" y="492904"/>
                  <a:pt x="135477" y="474170"/>
                </a:cubicBezTo>
                <a:lnTo>
                  <a:pt x="135477" y="457236"/>
                </a:lnTo>
                <a:close/>
              </a:path>
            </a:pathLst>
          </a:custGeom>
          <a:solidFill>
            <a:srgbClr val="2E86C1"/>
          </a:solidFill>
          <a:ln/>
        </p:spPr>
      </p:sp>
      <p:sp>
        <p:nvSpPr>
          <p:cNvPr id="48" name="Shape 45"/>
          <p:cNvSpPr/>
          <p:nvPr/>
        </p:nvSpPr>
        <p:spPr>
          <a:xfrm>
            <a:off x="15731109" y="6942709"/>
            <a:ext cx="4910709" cy="474091"/>
          </a:xfrm>
          <a:prstGeom prst="rect">
            <a:avLst/>
          </a:prstGeom>
          <a:noFill/>
          <a:ln/>
        </p:spPr>
      </p:sp>
      <p:sp>
        <p:nvSpPr>
          <p:cNvPr id="49" name="Text 46"/>
          <p:cNvSpPr/>
          <p:nvPr/>
        </p:nvSpPr>
        <p:spPr>
          <a:xfrm>
            <a:off x="15609189" y="6881749"/>
            <a:ext cx="5154549" cy="596011"/>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个体差异</a:t>
            </a:r>
            <a:endParaRPr lang="en-US" sz="2130" dirty="0"/>
          </a:p>
        </p:txBody>
      </p:sp>
      <p:sp>
        <p:nvSpPr>
          <p:cNvPr id="50" name="Shape 47"/>
          <p:cNvSpPr/>
          <p:nvPr/>
        </p:nvSpPr>
        <p:spPr>
          <a:xfrm>
            <a:off x="15019909" y="7620000"/>
            <a:ext cx="5706491" cy="2980309"/>
          </a:xfrm>
          <a:prstGeom prst="rect">
            <a:avLst/>
          </a:prstGeom>
          <a:noFill/>
          <a:ln/>
        </p:spPr>
      </p:sp>
      <p:sp>
        <p:nvSpPr>
          <p:cNvPr id="51" name="Text 48"/>
          <p:cNvSpPr/>
          <p:nvPr/>
        </p:nvSpPr>
        <p:spPr>
          <a:xfrm>
            <a:off x="14897989" y="7559040"/>
            <a:ext cx="5950331" cy="3102229"/>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团队成员具有个体差异，包括性格、能力、经验等。差异可带来不同视角和创新思维，促进团队发展和问题解决。</a:t>
            </a:r>
            <a:endParaRPr lang="en-US" sz="2000" dirty="0"/>
          </a:p>
        </p:txBody>
      </p:sp>
      <p:sp>
        <p:nvSpPr>
          <p:cNvPr id="52" name="Shape 49"/>
          <p:cNvSpPr/>
          <p:nvPr/>
        </p:nvSpPr>
        <p:spPr>
          <a:xfrm>
            <a:off x="20320000" y="11514709"/>
            <a:ext cx="846709" cy="406400"/>
          </a:xfrm>
          <a:prstGeom prst="rect">
            <a:avLst/>
          </a:prstGeom>
          <a:noFill/>
          <a:ln/>
        </p:spPr>
      </p:sp>
      <p:sp>
        <p:nvSpPr>
          <p:cNvPr id="53" name="Text 50"/>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19</a:t>
            </a:r>
            <a:endParaRPr lang="en-US" sz="187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06 项目人力资源管理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组织结构与岗位</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6316091" cy="4741291"/>
          </a:xfrm>
          <a:prstGeom prst="roundRect">
            <a:avLst>
              <a:gd name="adj" fmla="val 4000"/>
            </a:avLst>
          </a:prstGeom>
          <a:solidFill>
            <a:srgbClr val="1A4A7A"/>
          </a:solidFill>
          <a:ln/>
        </p:spPr>
      </p:sp>
      <p:sp>
        <p:nvSpPr>
          <p:cNvPr id="11" name="Shape 8"/>
          <p:cNvSpPr/>
          <p:nvPr/>
        </p:nvSpPr>
        <p:spPr>
          <a:xfrm>
            <a:off x="948309" y="1659509"/>
            <a:ext cx="5774309" cy="508000"/>
          </a:xfrm>
          <a:prstGeom prst="rect">
            <a:avLst/>
          </a:prstGeom>
          <a:noFill/>
          <a:ln/>
        </p:spPr>
      </p:sp>
      <p:sp>
        <p:nvSpPr>
          <p:cNvPr id="12" name="Text 9"/>
          <p:cNvSpPr/>
          <p:nvPr/>
        </p:nvSpPr>
        <p:spPr>
          <a:xfrm>
            <a:off x="826389"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01</a:t>
            </a:r>
            <a:endParaRPr lang="en-US" sz="3200" dirty="0"/>
          </a:p>
        </p:txBody>
      </p:sp>
      <p:sp>
        <p:nvSpPr>
          <p:cNvPr id="13" name="Shape 10"/>
          <p:cNvSpPr/>
          <p:nvPr/>
        </p:nvSpPr>
        <p:spPr>
          <a:xfrm>
            <a:off x="948309" y="2269109"/>
            <a:ext cx="5774309" cy="440309"/>
          </a:xfrm>
          <a:prstGeom prst="rect">
            <a:avLst/>
          </a:prstGeom>
          <a:noFill/>
          <a:ln/>
        </p:spPr>
      </p:sp>
      <p:sp>
        <p:nvSpPr>
          <p:cNvPr id="14" name="Text 11"/>
          <p:cNvSpPr/>
          <p:nvPr/>
        </p:nvSpPr>
        <p:spPr>
          <a:xfrm>
            <a:off x="826389"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层级结构图</a:t>
            </a:r>
            <a:endParaRPr lang="en-US" sz="2400" dirty="0"/>
          </a:p>
        </p:txBody>
      </p:sp>
      <p:sp>
        <p:nvSpPr>
          <p:cNvPr id="15" name="Shape 12"/>
          <p:cNvSpPr/>
          <p:nvPr/>
        </p:nvSpPr>
        <p:spPr>
          <a:xfrm>
            <a:off x="948309" y="2844800"/>
            <a:ext cx="5774309" cy="3048000"/>
          </a:xfrm>
          <a:prstGeom prst="rect">
            <a:avLst/>
          </a:prstGeom>
          <a:noFill/>
          <a:ln/>
        </p:spPr>
      </p:sp>
      <p:sp>
        <p:nvSpPr>
          <p:cNvPr id="16" name="Text 13"/>
          <p:cNvSpPr/>
          <p:nvPr/>
        </p:nvSpPr>
        <p:spPr>
          <a:xfrm>
            <a:off x="826389" y="2783840"/>
            <a:ext cx="6018149" cy="31699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以组织层级为基础的岗位结构图，明确各岗位上下级关系。适用于传统职能型组织结构，权责清晰、命令统一。</a:t>
            </a:r>
            <a:endParaRPr lang="en-US" sz="2000" dirty="0"/>
          </a:p>
        </p:txBody>
      </p:sp>
      <p:sp>
        <p:nvSpPr>
          <p:cNvPr id="17" name="Shape 14"/>
          <p:cNvSpPr/>
          <p:nvPr/>
        </p:nvSpPr>
        <p:spPr>
          <a:xfrm>
            <a:off x="7670800" y="1456309"/>
            <a:ext cx="6333109" cy="4741291"/>
          </a:xfrm>
          <a:prstGeom prst="roundRect">
            <a:avLst>
              <a:gd name="adj" fmla="val 4000"/>
            </a:avLst>
          </a:prstGeom>
          <a:solidFill>
            <a:srgbClr val="5B9BD5"/>
          </a:solidFill>
          <a:ln/>
        </p:spPr>
      </p:sp>
      <p:sp>
        <p:nvSpPr>
          <p:cNvPr id="18" name="Shape 15"/>
          <p:cNvSpPr/>
          <p:nvPr/>
        </p:nvSpPr>
        <p:spPr>
          <a:xfrm>
            <a:off x="7941691" y="1659509"/>
            <a:ext cx="5791200" cy="508000"/>
          </a:xfrm>
          <a:prstGeom prst="rect">
            <a:avLst/>
          </a:prstGeom>
          <a:noFill/>
          <a:ln/>
        </p:spPr>
      </p:sp>
      <p:sp>
        <p:nvSpPr>
          <p:cNvPr id="19" name="Text 16"/>
          <p:cNvSpPr/>
          <p:nvPr/>
        </p:nvSpPr>
        <p:spPr>
          <a:xfrm>
            <a:off x="7819771" y="1598549"/>
            <a:ext cx="6035040"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02</a:t>
            </a:r>
            <a:endParaRPr lang="en-US" sz="3200" dirty="0"/>
          </a:p>
        </p:txBody>
      </p:sp>
      <p:sp>
        <p:nvSpPr>
          <p:cNvPr id="20" name="Shape 17"/>
          <p:cNvSpPr/>
          <p:nvPr/>
        </p:nvSpPr>
        <p:spPr>
          <a:xfrm>
            <a:off x="7941691" y="2269109"/>
            <a:ext cx="5791200" cy="440309"/>
          </a:xfrm>
          <a:prstGeom prst="rect">
            <a:avLst/>
          </a:prstGeom>
          <a:noFill/>
          <a:ln/>
        </p:spPr>
      </p:sp>
      <p:sp>
        <p:nvSpPr>
          <p:cNvPr id="21" name="Text 18"/>
          <p:cNvSpPr/>
          <p:nvPr/>
        </p:nvSpPr>
        <p:spPr>
          <a:xfrm>
            <a:off x="7819771" y="2208149"/>
            <a:ext cx="6035040"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矩阵结构图</a:t>
            </a:r>
            <a:endParaRPr lang="en-US" sz="2400" dirty="0"/>
          </a:p>
        </p:txBody>
      </p:sp>
      <p:sp>
        <p:nvSpPr>
          <p:cNvPr id="22" name="Shape 19"/>
          <p:cNvSpPr/>
          <p:nvPr/>
        </p:nvSpPr>
        <p:spPr>
          <a:xfrm>
            <a:off x="7941691" y="2844800"/>
            <a:ext cx="5791200" cy="3048000"/>
          </a:xfrm>
          <a:prstGeom prst="rect">
            <a:avLst/>
          </a:prstGeom>
          <a:noFill/>
          <a:ln/>
        </p:spPr>
      </p:sp>
      <p:sp>
        <p:nvSpPr>
          <p:cNvPr id="23" name="Text 20"/>
          <p:cNvSpPr/>
          <p:nvPr/>
        </p:nvSpPr>
        <p:spPr>
          <a:xfrm>
            <a:off x="7819771" y="2783840"/>
            <a:ext cx="6035040" cy="31699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将项目团队成员按职能和项目双重管理的结构图。兼顾职能和项目需求，适用于复杂项目，但可能存在多头领导问题。</a:t>
            </a:r>
            <a:endParaRPr lang="en-US" sz="2000" dirty="0"/>
          </a:p>
        </p:txBody>
      </p:sp>
      <p:sp>
        <p:nvSpPr>
          <p:cNvPr id="24" name="Shape 21"/>
          <p:cNvSpPr/>
          <p:nvPr/>
        </p:nvSpPr>
        <p:spPr>
          <a:xfrm>
            <a:off x="14681200" y="1456309"/>
            <a:ext cx="6316091" cy="4741291"/>
          </a:xfrm>
          <a:prstGeom prst="roundRect">
            <a:avLst>
              <a:gd name="adj" fmla="val 4000"/>
            </a:avLst>
          </a:prstGeom>
          <a:solidFill>
            <a:srgbClr val="2E86C1"/>
          </a:solidFill>
          <a:ln/>
        </p:spPr>
      </p:sp>
      <p:sp>
        <p:nvSpPr>
          <p:cNvPr id="25" name="Shape 22"/>
          <p:cNvSpPr/>
          <p:nvPr/>
        </p:nvSpPr>
        <p:spPr>
          <a:xfrm>
            <a:off x="14952091" y="1659509"/>
            <a:ext cx="5774309" cy="508000"/>
          </a:xfrm>
          <a:prstGeom prst="rect">
            <a:avLst/>
          </a:prstGeom>
          <a:noFill/>
          <a:ln/>
        </p:spPr>
      </p:sp>
      <p:sp>
        <p:nvSpPr>
          <p:cNvPr id="26" name="Text 23"/>
          <p:cNvSpPr/>
          <p:nvPr/>
        </p:nvSpPr>
        <p:spPr>
          <a:xfrm>
            <a:off x="14830171"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03</a:t>
            </a:r>
            <a:endParaRPr lang="en-US" sz="3200" dirty="0"/>
          </a:p>
        </p:txBody>
      </p:sp>
      <p:sp>
        <p:nvSpPr>
          <p:cNvPr id="27" name="Shape 24"/>
          <p:cNvSpPr/>
          <p:nvPr/>
        </p:nvSpPr>
        <p:spPr>
          <a:xfrm>
            <a:off x="14952091" y="2269109"/>
            <a:ext cx="5774309" cy="440309"/>
          </a:xfrm>
          <a:prstGeom prst="rect">
            <a:avLst/>
          </a:prstGeom>
          <a:noFill/>
          <a:ln/>
        </p:spPr>
      </p:sp>
      <p:sp>
        <p:nvSpPr>
          <p:cNvPr id="28" name="Text 25"/>
          <p:cNvSpPr/>
          <p:nvPr/>
        </p:nvSpPr>
        <p:spPr>
          <a:xfrm>
            <a:off x="14830171"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文字描述形式</a:t>
            </a:r>
            <a:endParaRPr lang="en-US" sz="2400" dirty="0"/>
          </a:p>
        </p:txBody>
      </p:sp>
      <p:sp>
        <p:nvSpPr>
          <p:cNvPr id="29" name="Shape 26"/>
          <p:cNvSpPr/>
          <p:nvPr/>
        </p:nvSpPr>
        <p:spPr>
          <a:xfrm>
            <a:off x="14952091" y="2844800"/>
            <a:ext cx="5774309" cy="3048000"/>
          </a:xfrm>
          <a:prstGeom prst="rect">
            <a:avLst/>
          </a:prstGeom>
          <a:noFill/>
          <a:ln/>
        </p:spPr>
      </p:sp>
      <p:sp>
        <p:nvSpPr>
          <p:cNvPr id="30" name="Text 27"/>
          <p:cNvSpPr/>
          <p:nvPr/>
        </p:nvSpPr>
        <p:spPr>
          <a:xfrm>
            <a:off x="14830171" y="2783840"/>
            <a:ext cx="6018149" cy="31699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用文字详细描述岗位职责、角色和汇报关系的形式。适用于复杂或特殊岗位，可补充结构图无法表达的详细信息。</a:t>
            </a:r>
            <a:endParaRPr lang="en-US" sz="2000" dirty="0"/>
          </a:p>
        </p:txBody>
      </p:sp>
      <p:sp>
        <p:nvSpPr>
          <p:cNvPr id="31" name="Shape 28"/>
          <p:cNvSpPr/>
          <p:nvPr/>
        </p:nvSpPr>
        <p:spPr>
          <a:xfrm>
            <a:off x="677291" y="6536309"/>
            <a:ext cx="20320000" cy="4402709"/>
          </a:xfrm>
          <a:prstGeom prst="roundRect">
            <a:avLst>
              <a:gd name="adj" fmla="val 4000"/>
            </a:avLst>
          </a:prstGeom>
          <a:solidFill>
            <a:srgbClr val="E3F0FA"/>
          </a:solidFill>
          <a:ln/>
        </p:spPr>
      </p:sp>
      <p:sp>
        <p:nvSpPr>
          <p:cNvPr id="32" name="Shape 29"/>
          <p:cNvSpPr/>
          <p:nvPr/>
        </p:nvSpPr>
        <p:spPr>
          <a:xfrm>
            <a:off x="1016000" y="6773291"/>
            <a:ext cx="6773291" cy="440309"/>
          </a:xfrm>
          <a:prstGeom prst="rect">
            <a:avLst/>
          </a:prstGeom>
          <a:noFill/>
          <a:ln/>
        </p:spPr>
      </p:sp>
      <p:sp>
        <p:nvSpPr>
          <p:cNvPr id="33" name="Text 30"/>
          <p:cNvSpPr/>
          <p:nvPr/>
        </p:nvSpPr>
        <p:spPr>
          <a:xfrm>
            <a:off x="894080" y="6712331"/>
            <a:ext cx="7017131"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三种组织形式对比</a:t>
            </a:r>
            <a:endParaRPr lang="en-US" sz="2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016000" y="7349109"/>
          <a:ext cx="19642708" cy="3318892"/>
        </p:xfrm>
        <a:graphic>
          <a:graphicData uri="http://schemas.openxmlformats.org/drawingml/2006/table">
            <a:tbl>
              <a:tblPr/>
              <a:tblGrid>
                <a:gridCol w="3928542">
                  <a:extLst>
                    <a:ext uri="{9D8B030D-6E8A-4147-A177-3AD203B41FA5}">
                      <a16:colId xmlns:a16="http://schemas.microsoft.com/office/drawing/2014/main" val="20000"/>
                    </a:ext>
                  </a:extLst>
                </a:gridCol>
                <a:gridCol w="5303531">
                  <a:extLst>
                    <a:ext uri="{9D8B030D-6E8A-4147-A177-3AD203B41FA5}">
                      <a16:colId xmlns:a16="http://schemas.microsoft.com/office/drawing/2014/main" val="20001"/>
                    </a:ext>
                  </a:extLst>
                </a:gridCol>
                <a:gridCol w="5303531">
                  <a:extLst>
                    <a:ext uri="{9D8B030D-6E8A-4147-A177-3AD203B41FA5}">
                      <a16:colId xmlns:a16="http://schemas.microsoft.com/office/drawing/2014/main" val="20002"/>
                    </a:ext>
                  </a:extLst>
                </a:gridCol>
                <a:gridCol w="5107104">
                  <a:extLst>
                    <a:ext uri="{9D8B030D-6E8A-4147-A177-3AD203B41FA5}">
                      <a16:colId xmlns:a16="http://schemas.microsoft.com/office/drawing/2014/main" val="20003"/>
                    </a:ext>
                  </a:extLst>
                </a:gridCol>
              </a:tblGrid>
              <a:tr h="730156">
                <a:tc>
                  <a:txBody>
                    <a:bodyPr/>
                    <a:lstStyle/>
                    <a:p>
                      <a:pPr algn="ctr"/>
                      <a:r>
                        <a:rPr lang="en-US" sz="2130" b="1" dirty="0">
                          <a:solidFill>
                            <a:srgbClr val="FFFFFF"/>
                          </a:solidFill>
                          <a:latin typeface="Calibri" pitchFamily="34" charset="0"/>
                          <a:ea typeface="Calibri" pitchFamily="34" charset="-122"/>
                          <a:cs typeface="Calibri" pitchFamily="34" charset="-120"/>
                        </a:rPr>
                        <a:t>对比维度</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ctr"/>
                      <a:r>
                        <a:rPr lang="en-US" sz="2130" b="1" dirty="0">
                          <a:solidFill>
                            <a:srgbClr val="FFFFFF"/>
                          </a:solidFill>
                          <a:latin typeface="Calibri" pitchFamily="34" charset="0"/>
                          <a:ea typeface="Calibri" pitchFamily="34" charset="-122"/>
                          <a:cs typeface="Calibri" pitchFamily="34" charset="-120"/>
                        </a:rPr>
                        <a:t>职能型</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ctr"/>
                      <a:r>
                        <a:rPr lang="en-US" sz="2130" b="1" dirty="0">
                          <a:solidFill>
                            <a:srgbClr val="FFFFFF"/>
                          </a:solidFill>
                          <a:latin typeface="Calibri" pitchFamily="34" charset="0"/>
                          <a:ea typeface="Calibri" pitchFamily="34" charset="-122"/>
                          <a:cs typeface="Calibri" pitchFamily="34" charset="-120"/>
                        </a:rPr>
                        <a:t>项目型</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ctr"/>
                      <a:r>
                        <a:rPr lang="en-US" sz="2130" b="1" dirty="0">
                          <a:solidFill>
                            <a:srgbClr val="FFFFFF"/>
                          </a:solidFill>
                          <a:latin typeface="Calibri" pitchFamily="34" charset="0"/>
                          <a:ea typeface="Calibri" pitchFamily="34" charset="-122"/>
                          <a:cs typeface="Calibri" pitchFamily="34" charset="-120"/>
                        </a:rPr>
                        <a:t>矩阵型</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862912">
                <a:tc>
                  <a:txBody>
                    <a:bodyPr/>
                    <a:lstStyle/>
                    <a:p>
                      <a:pPr algn="ctr"/>
                      <a:r>
                        <a:rPr lang="en-US" sz="2130" dirty="0">
                          <a:solidFill>
                            <a:srgbClr val="2C2C2C"/>
                          </a:solidFill>
                          <a:latin typeface="Calibri" pitchFamily="34" charset="0"/>
                          <a:ea typeface="Calibri" pitchFamily="34" charset="-122"/>
                          <a:cs typeface="Calibri" pitchFamily="34" charset="-120"/>
                        </a:rPr>
                        <a:t>项目经理权限</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很小或没有</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很高到全权</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中等到大</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2912">
                <a:tc>
                  <a:txBody>
                    <a:bodyPr/>
                    <a:lstStyle/>
                    <a:p>
                      <a:pPr algn="ctr"/>
                      <a:r>
                        <a:rPr lang="en-US" sz="2130" dirty="0">
                          <a:solidFill>
                            <a:srgbClr val="2C2C2C"/>
                          </a:solidFill>
                          <a:latin typeface="Calibri" pitchFamily="34" charset="0"/>
                          <a:ea typeface="Calibri" pitchFamily="34" charset="-122"/>
                          <a:cs typeface="Calibri" pitchFamily="34" charset="-120"/>
                        </a:rPr>
                        <a:t>资源可用性</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很小或没有</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很高到全权</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中等到大</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862912">
                <a:tc>
                  <a:txBody>
                    <a:bodyPr/>
                    <a:lstStyle/>
                    <a:p>
                      <a:pPr algn="ctr"/>
                      <a:r>
                        <a:rPr lang="en-US" sz="2130" dirty="0">
                          <a:solidFill>
                            <a:srgbClr val="2C2C2C"/>
                          </a:solidFill>
                          <a:latin typeface="Calibri" pitchFamily="34" charset="0"/>
                          <a:ea typeface="Calibri" pitchFamily="34" charset="-122"/>
                          <a:cs typeface="Calibri" pitchFamily="34" charset="-120"/>
                        </a:rPr>
                        <a:t>适用场景</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传统稳定环境</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大型复杂项目</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跨职能协作</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5" name="Shape 31"/>
          <p:cNvSpPr/>
          <p:nvPr/>
        </p:nvSpPr>
        <p:spPr>
          <a:xfrm>
            <a:off x="20320000" y="11514709"/>
            <a:ext cx="846709" cy="406400"/>
          </a:xfrm>
          <a:prstGeom prst="rect">
            <a:avLst/>
          </a:prstGeom>
          <a:noFill/>
          <a:ln/>
        </p:spPr>
      </p:sp>
      <p:sp>
        <p:nvSpPr>
          <p:cNvPr id="36" name="Text 32"/>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20</a:t>
            </a:r>
            <a:endParaRPr lang="en-US" sz="187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07</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SEVEN</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项目沟通管理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Communications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7.1　沟通管理过程</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7.2　沟通方式与要点</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21</a:t>
            </a:r>
            <a:endParaRPr lang="en-US" sz="187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07 项目沟通管理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沟通管理过程</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6316091" cy="4402709"/>
          </a:xfrm>
          <a:prstGeom prst="roundRect">
            <a:avLst>
              <a:gd name="adj" fmla="val 4000"/>
            </a:avLst>
          </a:prstGeom>
          <a:solidFill>
            <a:srgbClr val="1A4A7A"/>
          </a:solidFill>
          <a:ln/>
        </p:spPr>
      </p:sp>
      <p:sp>
        <p:nvSpPr>
          <p:cNvPr id="11" name="Shape 8"/>
          <p:cNvSpPr/>
          <p:nvPr/>
        </p:nvSpPr>
        <p:spPr>
          <a:xfrm>
            <a:off x="948309" y="1659509"/>
            <a:ext cx="5774309" cy="508000"/>
          </a:xfrm>
          <a:prstGeom prst="rect">
            <a:avLst/>
          </a:prstGeom>
          <a:noFill/>
          <a:ln/>
        </p:spPr>
      </p:sp>
      <p:sp>
        <p:nvSpPr>
          <p:cNvPr id="12" name="Text 9"/>
          <p:cNvSpPr/>
          <p:nvPr/>
        </p:nvSpPr>
        <p:spPr>
          <a:xfrm>
            <a:off x="826389"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01</a:t>
            </a:r>
            <a:endParaRPr lang="en-US" sz="3200" dirty="0"/>
          </a:p>
        </p:txBody>
      </p:sp>
      <p:sp>
        <p:nvSpPr>
          <p:cNvPr id="13" name="Shape 10"/>
          <p:cNvSpPr/>
          <p:nvPr/>
        </p:nvSpPr>
        <p:spPr>
          <a:xfrm>
            <a:off x="948309" y="2269109"/>
            <a:ext cx="5774309" cy="440309"/>
          </a:xfrm>
          <a:prstGeom prst="rect">
            <a:avLst/>
          </a:prstGeom>
          <a:noFill/>
          <a:ln/>
        </p:spPr>
      </p:sp>
      <p:sp>
        <p:nvSpPr>
          <p:cNvPr id="14" name="Text 11"/>
          <p:cNvSpPr/>
          <p:nvPr/>
        </p:nvSpPr>
        <p:spPr>
          <a:xfrm>
            <a:off x="826389"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沟通计划</a:t>
            </a:r>
            <a:endParaRPr lang="en-US" sz="2400" dirty="0"/>
          </a:p>
        </p:txBody>
      </p:sp>
      <p:sp>
        <p:nvSpPr>
          <p:cNvPr id="15" name="Shape 12"/>
          <p:cNvSpPr/>
          <p:nvPr/>
        </p:nvSpPr>
        <p:spPr>
          <a:xfrm>
            <a:off x="948309" y="2844800"/>
            <a:ext cx="5774309" cy="2709291"/>
          </a:xfrm>
          <a:prstGeom prst="rect">
            <a:avLst/>
          </a:prstGeom>
          <a:noFill/>
          <a:ln/>
        </p:spPr>
      </p:sp>
      <p:sp>
        <p:nvSpPr>
          <p:cNvPr id="16" name="Text 13"/>
          <p:cNvSpPr/>
          <p:nvPr/>
        </p:nvSpPr>
        <p:spPr>
          <a:xfrm>
            <a:off x="826389" y="2783840"/>
            <a:ext cx="6018149" cy="28312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确定项目干系人的信息与沟通需求的过程。明确谁需要什么信息、何时需要、如何传递，为项目沟通提供指导。</a:t>
            </a:r>
            <a:endParaRPr lang="en-US" sz="2000" dirty="0"/>
          </a:p>
        </p:txBody>
      </p:sp>
      <p:sp>
        <p:nvSpPr>
          <p:cNvPr id="17" name="Shape 14"/>
          <p:cNvSpPr/>
          <p:nvPr/>
        </p:nvSpPr>
        <p:spPr>
          <a:xfrm>
            <a:off x="7670800" y="1456309"/>
            <a:ext cx="6333109" cy="4402709"/>
          </a:xfrm>
          <a:prstGeom prst="roundRect">
            <a:avLst>
              <a:gd name="adj" fmla="val 4000"/>
            </a:avLst>
          </a:prstGeom>
          <a:solidFill>
            <a:srgbClr val="5B9BD5"/>
          </a:solidFill>
          <a:ln/>
        </p:spPr>
      </p:sp>
      <p:sp>
        <p:nvSpPr>
          <p:cNvPr id="18" name="Shape 15"/>
          <p:cNvSpPr/>
          <p:nvPr/>
        </p:nvSpPr>
        <p:spPr>
          <a:xfrm>
            <a:off x="7941691" y="1659509"/>
            <a:ext cx="5791200" cy="508000"/>
          </a:xfrm>
          <a:prstGeom prst="rect">
            <a:avLst/>
          </a:prstGeom>
          <a:noFill/>
          <a:ln/>
        </p:spPr>
      </p:sp>
      <p:sp>
        <p:nvSpPr>
          <p:cNvPr id="19" name="Text 16"/>
          <p:cNvSpPr/>
          <p:nvPr/>
        </p:nvSpPr>
        <p:spPr>
          <a:xfrm>
            <a:off x="7819771" y="1598549"/>
            <a:ext cx="6035040"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02</a:t>
            </a:r>
            <a:endParaRPr lang="en-US" sz="3200" dirty="0"/>
          </a:p>
        </p:txBody>
      </p:sp>
      <p:sp>
        <p:nvSpPr>
          <p:cNvPr id="20" name="Shape 17"/>
          <p:cNvSpPr/>
          <p:nvPr/>
        </p:nvSpPr>
        <p:spPr>
          <a:xfrm>
            <a:off x="7941691" y="2269109"/>
            <a:ext cx="5791200" cy="440309"/>
          </a:xfrm>
          <a:prstGeom prst="rect">
            <a:avLst/>
          </a:prstGeom>
          <a:noFill/>
          <a:ln/>
        </p:spPr>
      </p:sp>
      <p:sp>
        <p:nvSpPr>
          <p:cNvPr id="21" name="Text 18"/>
          <p:cNvSpPr/>
          <p:nvPr/>
        </p:nvSpPr>
        <p:spPr>
          <a:xfrm>
            <a:off x="7819771" y="2208149"/>
            <a:ext cx="6035040"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信息发布</a:t>
            </a:r>
            <a:endParaRPr lang="en-US" sz="2400" dirty="0"/>
          </a:p>
        </p:txBody>
      </p:sp>
      <p:sp>
        <p:nvSpPr>
          <p:cNvPr id="22" name="Shape 19"/>
          <p:cNvSpPr/>
          <p:nvPr/>
        </p:nvSpPr>
        <p:spPr>
          <a:xfrm>
            <a:off x="7941691" y="2844800"/>
            <a:ext cx="5791200" cy="2709291"/>
          </a:xfrm>
          <a:prstGeom prst="rect">
            <a:avLst/>
          </a:prstGeom>
          <a:noFill/>
          <a:ln/>
        </p:spPr>
      </p:sp>
      <p:sp>
        <p:nvSpPr>
          <p:cNvPr id="23" name="Text 20"/>
          <p:cNvSpPr/>
          <p:nvPr/>
        </p:nvSpPr>
        <p:spPr>
          <a:xfrm>
            <a:off x="7819771" y="2783840"/>
            <a:ext cx="6035040" cy="28312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按照沟通计划，及时向项目干系人提供所需信息的过程。确保信息准确、及时、完整地传递给目标受众。</a:t>
            </a:r>
            <a:endParaRPr lang="en-US" sz="2000" dirty="0"/>
          </a:p>
        </p:txBody>
      </p:sp>
      <p:sp>
        <p:nvSpPr>
          <p:cNvPr id="24" name="Shape 21"/>
          <p:cNvSpPr/>
          <p:nvPr/>
        </p:nvSpPr>
        <p:spPr>
          <a:xfrm>
            <a:off x="14681200" y="1456309"/>
            <a:ext cx="6316091" cy="4402709"/>
          </a:xfrm>
          <a:prstGeom prst="roundRect">
            <a:avLst>
              <a:gd name="adj" fmla="val 4000"/>
            </a:avLst>
          </a:prstGeom>
          <a:solidFill>
            <a:srgbClr val="2E86C1"/>
          </a:solidFill>
          <a:ln/>
        </p:spPr>
      </p:sp>
      <p:sp>
        <p:nvSpPr>
          <p:cNvPr id="25" name="Shape 22"/>
          <p:cNvSpPr/>
          <p:nvPr/>
        </p:nvSpPr>
        <p:spPr>
          <a:xfrm>
            <a:off x="14952091" y="1659509"/>
            <a:ext cx="5774309" cy="508000"/>
          </a:xfrm>
          <a:prstGeom prst="rect">
            <a:avLst/>
          </a:prstGeom>
          <a:noFill/>
          <a:ln/>
        </p:spPr>
      </p:sp>
      <p:sp>
        <p:nvSpPr>
          <p:cNvPr id="26" name="Text 23"/>
          <p:cNvSpPr/>
          <p:nvPr/>
        </p:nvSpPr>
        <p:spPr>
          <a:xfrm>
            <a:off x="14830171"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03</a:t>
            </a:r>
            <a:endParaRPr lang="en-US" sz="3200" dirty="0"/>
          </a:p>
        </p:txBody>
      </p:sp>
      <p:sp>
        <p:nvSpPr>
          <p:cNvPr id="27" name="Shape 24"/>
          <p:cNvSpPr/>
          <p:nvPr/>
        </p:nvSpPr>
        <p:spPr>
          <a:xfrm>
            <a:off x="14952091" y="2269109"/>
            <a:ext cx="5774309" cy="440309"/>
          </a:xfrm>
          <a:prstGeom prst="rect">
            <a:avLst/>
          </a:prstGeom>
          <a:noFill/>
          <a:ln/>
        </p:spPr>
      </p:sp>
      <p:sp>
        <p:nvSpPr>
          <p:cNvPr id="28" name="Text 25"/>
          <p:cNvSpPr/>
          <p:nvPr/>
        </p:nvSpPr>
        <p:spPr>
          <a:xfrm>
            <a:off x="14830171"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绩效报告</a:t>
            </a:r>
            <a:endParaRPr lang="en-US" sz="2400" dirty="0"/>
          </a:p>
        </p:txBody>
      </p:sp>
      <p:sp>
        <p:nvSpPr>
          <p:cNvPr id="29" name="Shape 26"/>
          <p:cNvSpPr/>
          <p:nvPr/>
        </p:nvSpPr>
        <p:spPr>
          <a:xfrm>
            <a:off x="14952091" y="2844800"/>
            <a:ext cx="5774309" cy="2709291"/>
          </a:xfrm>
          <a:prstGeom prst="rect">
            <a:avLst/>
          </a:prstGeom>
          <a:noFill/>
          <a:ln/>
        </p:spPr>
      </p:sp>
      <p:sp>
        <p:nvSpPr>
          <p:cNvPr id="30" name="Text 27"/>
          <p:cNvSpPr/>
          <p:nvPr/>
        </p:nvSpPr>
        <p:spPr>
          <a:xfrm>
            <a:off x="14830171" y="2783840"/>
            <a:ext cx="6018149" cy="28312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收集和传播项目绩效信息的过程，包括状况报告、进展量度结果和预测结果，帮助干系人了解项目状态。</a:t>
            </a:r>
            <a:endParaRPr lang="en-US" sz="2000" dirty="0"/>
          </a:p>
        </p:txBody>
      </p:sp>
      <p:sp>
        <p:nvSpPr>
          <p:cNvPr id="31" name="Shape 28"/>
          <p:cNvSpPr/>
          <p:nvPr/>
        </p:nvSpPr>
        <p:spPr>
          <a:xfrm>
            <a:off x="677291" y="6265291"/>
            <a:ext cx="20320000" cy="4673600"/>
          </a:xfrm>
          <a:prstGeom prst="roundRect">
            <a:avLst>
              <a:gd name="adj" fmla="val 4000"/>
            </a:avLst>
          </a:prstGeom>
          <a:solidFill>
            <a:srgbClr val="E3F0FA"/>
          </a:solidFill>
          <a:ln/>
        </p:spPr>
      </p:sp>
      <p:sp>
        <p:nvSpPr>
          <p:cNvPr id="32" name="Shape 29"/>
          <p:cNvSpPr/>
          <p:nvPr/>
        </p:nvSpPr>
        <p:spPr>
          <a:xfrm>
            <a:off x="1016000" y="6536309"/>
            <a:ext cx="6773291" cy="440309"/>
          </a:xfrm>
          <a:prstGeom prst="rect">
            <a:avLst/>
          </a:prstGeom>
          <a:noFill/>
          <a:ln/>
        </p:spPr>
      </p:sp>
      <p:sp>
        <p:nvSpPr>
          <p:cNvPr id="33" name="Text 30"/>
          <p:cNvSpPr/>
          <p:nvPr/>
        </p:nvSpPr>
        <p:spPr>
          <a:xfrm>
            <a:off x="894080" y="6475349"/>
            <a:ext cx="7017131"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沟通管理要点</a:t>
            </a:r>
            <a:endParaRPr lang="en-US" sz="2400" dirty="0"/>
          </a:p>
        </p:txBody>
      </p:sp>
      <p:sp>
        <p:nvSpPr>
          <p:cNvPr id="34" name="Shape 31"/>
          <p:cNvSpPr/>
          <p:nvPr/>
        </p:nvSpPr>
        <p:spPr>
          <a:xfrm>
            <a:off x="1016000" y="7078091"/>
            <a:ext cx="19642709" cy="3623691"/>
          </a:xfrm>
          <a:prstGeom prst="rect">
            <a:avLst/>
          </a:prstGeom>
          <a:noFill/>
          <a:ln/>
        </p:spPr>
      </p:sp>
      <p:sp>
        <p:nvSpPr>
          <p:cNvPr id="35" name="Text 32"/>
          <p:cNvSpPr/>
          <p:nvPr/>
        </p:nvSpPr>
        <p:spPr>
          <a:xfrm>
            <a:off x="894080" y="7017131"/>
            <a:ext cx="19886549" cy="3745611"/>
          </a:xfrm>
          <a:prstGeom prst="rect">
            <a:avLst/>
          </a:prstGeom>
          <a:noFill/>
          <a:ln/>
        </p:spPr>
        <p:txBody>
          <a:bodyPr wrap="square" lIns="0" tIns="0" rIns="0" bIns="0" rtlCol="0" anchor="t"/>
          <a:lstStyle/>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选择合适的沟通方式：</a:t>
            </a:r>
            <a:r>
              <a:rPr lang="en-US" sz="2000" dirty="0">
                <a:solidFill>
                  <a:srgbClr val="2C2C2C"/>
                </a:solidFill>
                <a:latin typeface="Quattrocento Sans" pitchFamily="34" charset="0"/>
                <a:ea typeface="Quattrocento Sans" pitchFamily="34" charset="-122"/>
                <a:cs typeface="Quattrocento Sans" pitchFamily="34" charset="-120"/>
              </a:rPr>
              <a:t>根据信息性质、紧急程度和干系人特点，选择书面、口头或非语言沟通方式</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明确沟通目标：</a:t>
            </a:r>
            <a:r>
              <a:rPr lang="en-US" sz="2000" dirty="0">
                <a:solidFill>
                  <a:srgbClr val="2C2C2C"/>
                </a:solidFill>
                <a:latin typeface="Quattrocento Sans" pitchFamily="34" charset="0"/>
                <a:ea typeface="Quattrocento Sans" pitchFamily="34" charset="-122"/>
                <a:cs typeface="Quattrocento Sans" pitchFamily="34" charset="-120"/>
              </a:rPr>
              <a:t>每次沟通前明确目标，确保信息传递有效，避免信息过载</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及时反馈：</a:t>
            </a:r>
            <a:r>
              <a:rPr lang="en-US" sz="2000" dirty="0">
                <a:solidFill>
                  <a:srgbClr val="2C2C2C"/>
                </a:solidFill>
                <a:latin typeface="Quattrocento Sans" pitchFamily="34" charset="0"/>
                <a:ea typeface="Quattrocento Sans" pitchFamily="34" charset="-122"/>
                <a:cs typeface="Quattrocento Sans" pitchFamily="34" charset="-120"/>
              </a:rPr>
              <a:t>建立反馈机制，确保信息被正确理解，及时解决沟通中的误解和偏差</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管理冲突：</a:t>
            </a:r>
            <a:r>
              <a:rPr lang="en-US" sz="2000" dirty="0">
                <a:solidFill>
                  <a:srgbClr val="2C2C2C"/>
                </a:solidFill>
                <a:latin typeface="Quattrocento Sans" pitchFamily="34" charset="0"/>
                <a:ea typeface="Quattrocento Sans" pitchFamily="34" charset="-122"/>
                <a:cs typeface="Quattrocento Sans" pitchFamily="34" charset="-120"/>
              </a:rPr>
              <a:t>通过有效沟通管理项目冲突，促进团队协作，维护良好工作关系</a:t>
            </a:r>
            <a:endParaRPr lang="en-US" sz="2000" dirty="0"/>
          </a:p>
          <a:p>
            <a:pPr algn="l">
              <a:lnSpc>
                <a:spcPct val="170000"/>
              </a:lnSpc>
            </a:pPr>
            <a:r>
              <a:rPr lang="en-US" sz="2000" dirty="0">
                <a:solidFill>
                  <a:srgbClr val="2C2C2C"/>
                </a:solidFill>
                <a:latin typeface="Quattrocento Sans" pitchFamily="34" charset="0"/>
                <a:ea typeface="Quattrocento Sans" pitchFamily="34" charset="-122"/>
                <a:cs typeface="Quattrocento Sans" pitchFamily="34" charset="-120"/>
              </a:rPr>
              <a:t>• </a:t>
            </a:r>
            <a:r>
              <a:rPr lang="en-US" sz="2000" b="1" dirty="0">
                <a:solidFill>
                  <a:srgbClr val="2C2C2C"/>
                </a:solidFill>
                <a:latin typeface="Quattrocento Sans" pitchFamily="34" charset="0"/>
                <a:ea typeface="Quattrocento Sans" pitchFamily="34" charset="-122"/>
                <a:cs typeface="Quattrocento Sans" pitchFamily="34" charset="-120"/>
              </a:rPr>
              <a:t>文档管理：</a:t>
            </a:r>
            <a:r>
              <a:rPr lang="en-US" sz="2000" dirty="0">
                <a:solidFill>
                  <a:srgbClr val="2C2C2C"/>
                </a:solidFill>
                <a:latin typeface="Quattrocento Sans" pitchFamily="34" charset="0"/>
                <a:ea typeface="Quattrocento Sans" pitchFamily="34" charset="-122"/>
                <a:cs typeface="Quattrocento Sans" pitchFamily="34" charset="-120"/>
              </a:rPr>
              <a:t>重要沟通内容应形成书面记录，便于追溯和查阅</a:t>
            </a:r>
            <a:endParaRPr lang="en-US" sz="2000" dirty="0"/>
          </a:p>
        </p:txBody>
      </p:sp>
      <p:sp>
        <p:nvSpPr>
          <p:cNvPr id="36" name="Shape 33"/>
          <p:cNvSpPr/>
          <p:nvPr/>
        </p:nvSpPr>
        <p:spPr>
          <a:xfrm>
            <a:off x="20320000" y="11514709"/>
            <a:ext cx="846709" cy="406400"/>
          </a:xfrm>
          <a:prstGeom prst="rect">
            <a:avLst/>
          </a:prstGeom>
          <a:noFill/>
          <a:ln/>
        </p:spPr>
      </p:sp>
      <p:sp>
        <p:nvSpPr>
          <p:cNvPr id="37" name="Text 34"/>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22</a:t>
            </a:r>
            <a:endParaRPr lang="en-US" sz="187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07 项目沟通管理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沟通方式与要点</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6316091" cy="4741291"/>
          </a:xfrm>
          <a:prstGeom prst="roundRect">
            <a:avLst>
              <a:gd name="adj" fmla="val 4000"/>
            </a:avLst>
          </a:prstGeom>
          <a:solidFill>
            <a:srgbClr val="1A4A7A"/>
          </a:solidFill>
          <a:ln/>
        </p:spPr>
      </p:sp>
      <p:sp>
        <p:nvSpPr>
          <p:cNvPr id="11" name="Shape 8"/>
          <p:cNvSpPr/>
          <p:nvPr/>
        </p:nvSpPr>
        <p:spPr>
          <a:xfrm>
            <a:off x="1016000" y="1794891"/>
            <a:ext cx="609600" cy="609600"/>
          </a:xfrm>
          <a:custGeom>
            <a:avLst/>
            <a:gdLst/>
            <a:ahLst/>
            <a:cxnLst/>
            <a:rect l="l" t="t" r="r" b="b"/>
            <a:pathLst>
              <a:path w="609600" h="609600">
                <a:moveTo>
                  <a:pt x="122015" y="0"/>
                </a:moveTo>
                <a:cubicBezTo>
                  <a:pt x="88392" y="0"/>
                  <a:pt x="61055" y="34171"/>
                  <a:pt x="61055" y="76200"/>
                </a:cubicBezTo>
                <a:lnTo>
                  <a:pt x="61055" y="533400"/>
                </a:lnTo>
                <a:cubicBezTo>
                  <a:pt x="61055" y="575429"/>
                  <a:pt x="88392" y="609600"/>
                  <a:pt x="122015" y="609600"/>
                </a:cubicBezTo>
                <a:lnTo>
                  <a:pt x="261271" y="609600"/>
                </a:lnTo>
                <a:lnTo>
                  <a:pt x="271653" y="544711"/>
                </a:lnTo>
                <a:cubicBezTo>
                  <a:pt x="275749" y="518875"/>
                  <a:pt x="285940" y="495181"/>
                  <a:pt x="300800" y="476607"/>
                </a:cubicBezTo>
                <a:lnTo>
                  <a:pt x="426720" y="319207"/>
                </a:lnTo>
                <a:lnTo>
                  <a:pt x="426720" y="203120"/>
                </a:lnTo>
                <a:cubicBezTo>
                  <a:pt x="426720" y="182880"/>
                  <a:pt x="420339" y="163473"/>
                  <a:pt x="408908" y="149185"/>
                </a:cubicBezTo>
                <a:lnTo>
                  <a:pt x="307467" y="22265"/>
                </a:lnTo>
                <a:cubicBezTo>
                  <a:pt x="296037" y="7977"/>
                  <a:pt x="280511" y="0"/>
                  <a:pt x="264415" y="0"/>
                </a:cubicBezTo>
                <a:lnTo>
                  <a:pt x="122015" y="0"/>
                </a:lnTo>
                <a:close/>
                <a:moveTo>
                  <a:pt x="371095" y="209551"/>
                </a:moveTo>
                <a:lnTo>
                  <a:pt x="282035" y="209551"/>
                </a:lnTo>
                <a:cubicBezTo>
                  <a:pt x="269367" y="209551"/>
                  <a:pt x="259175" y="196811"/>
                  <a:pt x="259175" y="180975"/>
                </a:cubicBezTo>
                <a:lnTo>
                  <a:pt x="259175" y="69652"/>
                </a:lnTo>
                <a:lnTo>
                  <a:pt x="371095" y="209551"/>
                </a:lnTo>
                <a:close/>
                <a:moveTo>
                  <a:pt x="316516" y="555903"/>
                </a:moveTo>
                <a:lnTo>
                  <a:pt x="305181" y="626864"/>
                </a:lnTo>
                <a:cubicBezTo>
                  <a:pt x="304991" y="627936"/>
                  <a:pt x="304895" y="629127"/>
                  <a:pt x="304895" y="630317"/>
                </a:cubicBezTo>
                <a:cubicBezTo>
                  <a:pt x="304895" y="639841"/>
                  <a:pt x="311087" y="647700"/>
                  <a:pt x="318801" y="647700"/>
                </a:cubicBezTo>
                <a:cubicBezTo>
                  <a:pt x="319755" y="647700"/>
                  <a:pt x="320612" y="647581"/>
                  <a:pt x="321564" y="647343"/>
                </a:cubicBezTo>
                <a:lnTo>
                  <a:pt x="378333" y="633175"/>
                </a:lnTo>
                <a:cubicBezTo>
                  <a:pt x="390144" y="630197"/>
                  <a:pt x="401003" y="622935"/>
                  <a:pt x="409480" y="612339"/>
                </a:cubicBezTo>
                <a:lnTo>
                  <a:pt x="522732" y="470773"/>
                </a:lnTo>
                <a:lnTo>
                  <a:pt x="446532" y="375523"/>
                </a:lnTo>
                <a:lnTo>
                  <a:pt x="333280" y="517088"/>
                </a:lnTo>
                <a:cubicBezTo>
                  <a:pt x="324803" y="527685"/>
                  <a:pt x="318992" y="541259"/>
                  <a:pt x="316611" y="556021"/>
                </a:cubicBezTo>
                <a:close/>
                <a:moveTo>
                  <a:pt x="571595" y="409456"/>
                </a:moveTo>
                <a:cubicBezTo>
                  <a:pt x="592645" y="383143"/>
                  <a:pt x="592645" y="340519"/>
                  <a:pt x="571595" y="314205"/>
                </a:cubicBezTo>
                <a:cubicBezTo>
                  <a:pt x="550545" y="287893"/>
                  <a:pt x="516445" y="287893"/>
                  <a:pt x="495395" y="314205"/>
                </a:cubicBezTo>
                <a:lnTo>
                  <a:pt x="467963" y="348496"/>
                </a:lnTo>
                <a:lnTo>
                  <a:pt x="544163" y="443745"/>
                </a:lnTo>
                <a:lnTo>
                  <a:pt x="571595" y="409456"/>
                </a:lnTo>
                <a:close/>
              </a:path>
            </a:pathLst>
          </a:custGeom>
          <a:solidFill>
            <a:srgbClr val="FFFFFF">
              <a:alpha val="6176"/>
            </a:srgbClr>
          </a:solidFill>
          <a:ln/>
        </p:spPr>
      </p:sp>
      <p:sp>
        <p:nvSpPr>
          <p:cNvPr id="12" name="Shape 9"/>
          <p:cNvSpPr/>
          <p:nvPr/>
        </p:nvSpPr>
        <p:spPr>
          <a:xfrm>
            <a:off x="1016000" y="2641600"/>
            <a:ext cx="5706491" cy="440309"/>
          </a:xfrm>
          <a:prstGeom prst="rect">
            <a:avLst/>
          </a:prstGeom>
          <a:noFill/>
          <a:ln/>
        </p:spPr>
      </p:sp>
      <p:sp>
        <p:nvSpPr>
          <p:cNvPr id="13" name="Text 10"/>
          <p:cNvSpPr/>
          <p:nvPr/>
        </p:nvSpPr>
        <p:spPr>
          <a:xfrm>
            <a:off x="894080" y="2580640"/>
            <a:ext cx="5950331" cy="562229"/>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书面沟通</a:t>
            </a:r>
            <a:endParaRPr lang="en-US" sz="2670" dirty="0"/>
          </a:p>
        </p:txBody>
      </p:sp>
      <p:sp>
        <p:nvSpPr>
          <p:cNvPr id="14" name="Shape 11"/>
          <p:cNvSpPr/>
          <p:nvPr/>
        </p:nvSpPr>
        <p:spPr>
          <a:xfrm>
            <a:off x="1016000" y="3217291"/>
            <a:ext cx="5706491" cy="16891"/>
          </a:xfrm>
          <a:prstGeom prst="rect">
            <a:avLst/>
          </a:prstGeom>
          <a:solidFill>
            <a:srgbClr val="FFFFFF">
              <a:alpha val="3576"/>
            </a:srgbClr>
          </a:solidFill>
          <a:ln/>
        </p:spPr>
      </p:sp>
      <p:sp>
        <p:nvSpPr>
          <p:cNvPr id="15" name="Shape 12"/>
          <p:cNvSpPr/>
          <p:nvPr/>
        </p:nvSpPr>
        <p:spPr>
          <a:xfrm>
            <a:off x="1016000" y="3454400"/>
            <a:ext cx="5706491" cy="2472309"/>
          </a:xfrm>
          <a:prstGeom prst="rect">
            <a:avLst/>
          </a:prstGeom>
          <a:noFill/>
          <a:ln/>
        </p:spPr>
      </p:sp>
      <p:sp>
        <p:nvSpPr>
          <p:cNvPr id="16" name="Text 13"/>
          <p:cNvSpPr/>
          <p:nvPr/>
        </p:nvSpPr>
        <p:spPr>
          <a:xfrm>
            <a:off x="894080" y="3393440"/>
            <a:ext cx="5950331" cy="25942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包括报告、任务书、记录、备忘录等。具有记录性和可追溯性，适用于正式、重要信息的传递。</a:t>
            </a:r>
            <a:endParaRPr lang="en-US" sz="2000" dirty="0"/>
          </a:p>
        </p:txBody>
      </p:sp>
      <p:sp>
        <p:nvSpPr>
          <p:cNvPr id="17" name="Shape 14"/>
          <p:cNvSpPr/>
          <p:nvPr/>
        </p:nvSpPr>
        <p:spPr>
          <a:xfrm>
            <a:off x="7670800" y="1456309"/>
            <a:ext cx="6333109" cy="4741291"/>
          </a:xfrm>
          <a:prstGeom prst="roundRect">
            <a:avLst>
              <a:gd name="adj" fmla="val 4000"/>
            </a:avLst>
          </a:prstGeom>
          <a:solidFill>
            <a:srgbClr val="5B9BD5"/>
          </a:solidFill>
          <a:ln/>
        </p:spPr>
      </p:sp>
      <p:sp>
        <p:nvSpPr>
          <p:cNvPr id="18" name="Shape 15"/>
          <p:cNvSpPr/>
          <p:nvPr/>
        </p:nvSpPr>
        <p:spPr>
          <a:xfrm>
            <a:off x="8009509" y="1794891"/>
            <a:ext cx="609600" cy="609600"/>
          </a:xfrm>
          <a:custGeom>
            <a:avLst/>
            <a:gdLst/>
            <a:ahLst/>
            <a:cxnLst/>
            <a:rect l="l" t="t" r="r" b="b"/>
            <a:pathLst>
              <a:path w="609600" h="609600">
                <a:moveTo>
                  <a:pt x="406400" y="171451"/>
                </a:moveTo>
                <a:cubicBezTo>
                  <a:pt x="406400" y="287179"/>
                  <a:pt x="315384" y="381000"/>
                  <a:pt x="203200" y="381000"/>
                </a:cubicBezTo>
                <a:cubicBezTo>
                  <a:pt x="174943" y="381000"/>
                  <a:pt x="148061" y="375047"/>
                  <a:pt x="123613" y="364331"/>
                </a:cubicBezTo>
                <a:lnTo>
                  <a:pt x="37253" y="415767"/>
                </a:lnTo>
                <a:cubicBezTo>
                  <a:pt x="27411" y="421600"/>
                  <a:pt x="15345" y="419576"/>
                  <a:pt x="7408" y="410765"/>
                </a:cubicBezTo>
                <a:cubicBezTo>
                  <a:pt x="-529" y="401955"/>
                  <a:pt x="-2328" y="388263"/>
                  <a:pt x="2964" y="377191"/>
                </a:cubicBezTo>
                <a:lnTo>
                  <a:pt x="40640" y="297180"/>
                </a:lnTo>
                <a:cubicBezTo>
                  <a:pt x="15135" y="262176"/>
                  <a:pt x="0" y="218599"/>
                  <a:pt x="0" y="171451"/>
                </a:cubicBezTo>
                <a:cubicBezTo>
                  <a:pt x="0" y="55721"/>
                  <a:pt x="91017" y="-38100"/>
                  <a:pt x="203200" y="-38100"/>
                </a:cubicBezTo>
                <a:cubicBezTo>
                  <a:pt x="315384" y="-38100"/>
                  <a:pt x="406400" y="55721"/>
                  <a:pt x="406400" y="171451"/>
                </a:cubicBezTo>
                <a:close/>
                <a:moveTo>
                  <a:pt x="406400" y="609600"/>
                </a:moveTo>
                <a:cubicBezTo>
                  <a:pt x="306811" y="609600"/>
                  <a:pt x="223944" y="535663"/>
                  <a:pt x="206587" y="438151"/>
                </a:cubicBezTo>
                <a:cubicBezTo>
                  <a:pt x="333587" y="436364"/>
                  <a:pt x="443971" y="334685"/>
                  <a:pt x="456141" y="196811"/>
                </a:cubicBezTo>
                <a:cubicBezTo>
                  <a:pt x="544301" y="219671"/>
                  <a:pt x="609600" y="301943"/>
                  <a:pt x="609600" y="400051"/>
                </a:cubicBezTo>
                <a:cubicBezTo>
                  <a:pt x="609600" y="447199"/>
                  <a:pt x="594465" y="490776"/>
                  <a:pt x="568960" y="525780"/>
                </a:cubicBezTo>
                <a:lnTo>
                  <a:pt x="606637" y="605789"/>
                </a:lnTo>
                <a:cubicBezTo>
                  <a:pt x="611823" y="616863"/>
                  <a:pt x="610024" y="630436"/>
                  <a:pt x="602192" y="639365"/>
                </a:cubicBezTo>
                <a:cubicBezTo>
                  <a:pt x="594360" y="648295"/>
                  <a:pt x="582189" y="650320"/>
                  <a:pt x="572347" y="644367"/>
                </a:cubicBezTo>
                <a:lnTo>
                  <a:pt x="485987" y="592931"/>
                </a:lnTo>
                <a:cubicBezTo>
                  <a:pt x="461539" y="603647"/>
                  <a:pt x="434657" y="609600"/>
                  <a:pt x="406400" y="609600"/>
                </a:cubicBezTo>
                <a:close/>
              </a:path>
            </a:pathLst>
          </a:custGeom>
          <a:solidFill>
            <a:srgbClr val="FFFFFF">
              <a:alpha val="6176"/>
            </a:srgbClr>
          </a:solidFill>
          <a:ln/>
        </p:spPr>
      </p:sp>
      <p:sp>
        <p:nvSpPr>
          <p:cNvPr id="19" name="Shape 16"/>
          <p:cNvSpPr/>
          <p:nvPr/>
        </p:nvSpPr>
        <p:spPr>
          <a:xfrm>
            <a:off x="8009509" y="2641600"/>
            <a:ext cx="5723509" cy="440309"/>
          </a:xfrm>
          <a:prstGeom prst="rect">
            <a:avLst/>
          </a:prstGeom>
          <a:noFill/>
          <a:ln/>
        </p:spPr>
      </p:sp>
      <p:sp>
        <p:nvSpPr>
          <p:cNvPr id="20" name="Text 17"/>
          <p:cNvSpPr/>
          <p:nvPr/>
        </p:nvSpPr>
        <p:spPr>
          <a:xfrm>
            <a:off x="7887589" y="2580640"/>
            <a:ext cx="5967349" cy="562229"/>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语言沟通</a:t>
            </a:r>
            <a:endParaRPr lang="en-US" sz="2670" dirty="0"/>
          </a:p>
        </p:txBody>
      </p:sp>
      <p:sp>
        <p:nvSpPr>
          <p:cNvPr id="21" name="Shape 18"/>
          <p:cNvSpPr/>
          <p:nvPr/>
        </p:nvSpPr>
        <p:spPr>
          <a:xfrm>
            <a:off x="8009509" y="3217291"/>
            <a:ext cx="5723509" cy="16891"/>
          </a:xfrm>
          <a:prstGeom prst="rect">
            <a:avLst/>
          </a:prstGeom>
          <a:solidFill>
            <a:srgbClr val="FFFFFF">
              <a:alpha val="3576"/>
            </a:srgbClr>
          </a:solidFill>
          <a:ln/>
        </p:spPr>
      </p:sp>
      <p:sp>
        <p:nvSpPr>
          <p:cNvPr id="22" name="Shape 19"/>
          <p:cNvSpPr/>
          <p:nvPr/>
        </p:nvSpPr>
        <p:spPr>
          <a:xfrm>
            <a:off x="8009509" y="3454400"/>
            <a:ext cx="5723509" cy="2472309"/>
          </a:xfrm>
          <a:prstGeom prst="rect">
            <a:avLst/>
          </a:prstGeom>
          <a:noFill/>
          <a:ln/>
        </p:spPr>
      </p:sp>
      <p:sp>
        <p:nvSpPr>
          <p:cNvPr id="23" name="Text 20"/>
          <p:cNvSpPr/>
          <p:nvPr/>
        </p:nvSpPr>
        <p:spPr>
          <a:xfrm>
            <a:off x="7887589" y="3393440"/>
            <a:ext cx="5967349" cy="25942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包括会议、评审、个人联系等。可即时反馈，适用于需要讨论、协商和快速决策的场景。</a:t>
            </a:r>
            <a:endParaRPr lang="en-US" sz="2000" dirty="0"/>
          </a:p>
        </p:txBody>
      </p:sp>
      <p:sp>
        <p:nvSpPr>
          <p:cNvPr id="24" name="Shape 21"/>
          <p:cNvSpPr/>
          <p:nvPr/>
        </p:nvSpPr>
        <p:spPr>
          <a:xfrm>
            <a:off x="14681200" y="1456309"/>
            <a:ext cx="6316091" cy="4741291"/>
          </a:xfrm>
          <a:prstGeom prst="roundRect">
            <a:avLst>
              <a:gd name="adj" fmla="val 4000"/>
            </a:avLst>
          </a:prstGeom>
          <a:solidFill>
            <a:srgbClr val="2E86C1"/>
          </a:solidFill>
          <a:ln/>
        </p:spPr>
      </p:sp>
      <p:sp>
        <p:nvSpPr>
          <p:cNvPr id="25" name="Shape 22"/>
          <p:cNvSpPr/>
          <p:nvPr/>
        </p:nvSpPr>
        <p:spPr>
          <a:xfrm>
            <a:off x="15019909" y="1794891"/>
            <a:ext cx="609600" cy="609600"/>
          </a:xfrm>
          <a:custGeom>
            <a:avLst/>
            <a:gdLst/>
            <a:ahLst/>
            <a:cxnLst/>
            <a:rect l="l" t="t" r="r" b="b"/>
            <a:pathLst>
              <a:path w="609600" h="609600">
                <a:moveTo>
                  <a:pt x="304800" y="38100"/>
                </a:moveTo>
                <a:cubicBezTo>
                  <a:pt x="219287" y="38100"/>
                  <a:pt x="150812" y="81915"/>
                  <a:pt x="100965" y="134064"/>
                </a:cubicBezTo>
                <a:cubicBezTo>
                  <a:pt x="51435" y="185856"/>
                  <a:pt x="18309" y="247651"/>
                  <a:pt x="2540" y="290155"/>
                </a:cubicBezTo>
                <a:cubicBezTo>
                  <a:pt x="-952" y="299561"/>
                  <a:pt x="-952" y="310039"/>
                  <a:pt x="2540" y="319445"/>
                </a:cubicBezTo>
                <a:cubicBezTo>
                  <a:pt x="18309" y="361951"/>
                  <a:pt x="51435" y="423863"/>
                  <a:pt x="100965" y="475536"/>
                </a:cubicBezTo>
                <a:cubicBezTo>
                  <a:pt x="150812" y="527565"/>
                  <a:pt x="219287" y="571500"/>
                  <a:pt x="304800" y="571500"/>
                </a:cubicBezTo>
                <a:cubicBezTo>
                  <a:pt x="390313" y="571500"/>
                  <a:pt x="458788" y="527685"/>
                  <a:pt x="508635" y="475536"/>
                </a:cubicBezTo>
                <a:cubicBezTo>
                  <a:pt x="558165" y="423744"/>
                  <a:pt x="591291" y="361951"/>
                  <a:pt x="607060" y="319445"/>
                </a:cubicBezTo>
                <a:cubicBezTo>
                  <a:pt x="610552" y="310039"/>
                  <a:pt x="610552" y="299561"/>
                  <a:pt x="607060" y="290155"/>
                </a:cubicBezTo>
                <a:cubicBezTo>
                  <a:pt x="591291" y="247649"/>
                  <a:pt x="558165" y="185737"/>
                  <a:pt x="508635" y="134064"/>
                </a:cubicBezTo>
                <a:cubicBezTo>
                  <a:pt x="458788" y="82035"/>
                  <a:pt x="390313" y="38100"/>
                  <a:pt x="304800" y="38100"/>
                </a:cubicBezTo>
                <a:close/>
                <a:moveTo>
                  <a:pt x="152400" y="304800"/>
                </a:moveTo>
                <a:cubicBezTo>
                  <a:pt x="152400" y="210175"/>
                  <a:pt x="220688" y="133351"/>
                  <a:pt x="304800" y="133351"/>
                </a:cubicBezTo>
                <a:cubicBezTo>
                  <a:pt x="388912" y="133351"/>
                  <a:pt x="457200" y="210175"/>
                  <a:pt x="457200" y="304800"/>
                </a:cubicBezTo>
                <a:cubicBezTo>
                  <a:pt x="457200" y="399425"/>
                  <a:pt x="388912" y="476251"/>
                  <a:pt x="304800" y="476251"/>
                </a:cubicBezTo>
                <a:cubicBezTo>
                  <a:pt x="220688" y="476251"/>
                  <a:pt x="152400" y="399425"/>
                  <a:pt x="152400" y="304800"/>
                </a:cubicBezTo>
                <a:close/>
                <a:moveTo>
                  <a:pt x="304800" y="228600"/>
                </a:moveTo>
                <a:cubicBezTo>
                  <a:pt x="304800" y="270629"/>
                  <a:pt x="274425" y="304800"/>
                  <a:pt x="237067" y="304800"/>
                </a:cubicBezTo>
                <a:cubicBezTo>
                  <a:pt x="224896" y="304800"/>
                  <a:pt x="213465" y="301228"/>
                  <a:pt x="203517" y="294799"/>
                </a:cubicBezTo>
                <a:cubicBezTo>
                  <a:pt x="202459" y="307776"/>
                  <a:pt x="203412" y="321112"/>
                  <a:pt x="206587" y="334328"/>
                </a:cubicBezTo>
                <a:cubicBezTo>
                  <a:pt x="221085" y="395288"/>
                  <a:pt x="276860" y="431483"/>
                  <a:pt x="331047" y="415171"/>
                </a:cubicBezTo>
                <a:cubicBezTo>
                  <a:pt x="385233" y="398860"/>
                  <a:pt x="417407" y="336113"/>
                  <a:pt x="402908" y="275153"/>
                </a:cubicBezTo>
                <a:cubicBezTo>
                  <a:pt x="389996" y="220741"/>
                  <a:pt x="344171" y="186095"/>
                  <a:pt x="295911" y="190857"/>
                </a:cubicBezTo>
                <a:cubicBezTo>
                  <a:pt x="301519" y="201931"/>
                  <a:pt x="304800" y="214789"/>
                  <a:pt x="304800" y="228600"/>
                </a:cubicBezTo>
                <a:close/>
              </a:path>
            </a:pathLst>
          </a:custGeom>
          <a:solidFill>
            <a:srgbClr val="FFFFFF">
              <a:alpha val="6176"/>
            </a:srgbClr>
          </a:solidFill>
          <a:ln/>
        </p:spPr>
      </p:sp>
      <p:sp>
        <p:nvSpPr>
          <p:cNvPr id="26" name="Shape 23"/>
          <p:cNvSpPr/>
          <p:nvPr/>
        </p:nvSpPr>
        <p:spPr>
          <a:xfrm>
            <a:off x="15019909" y="2641600"/>
            <a:ext cx="5706491" cy="440309"/>
          </a:xfrm>
          <a:prstGeom prst="rect">
            <a:avLst/>
          </a:prstGeom>
          <a:noFill/>
          <a:ln/>
        </p:spPr>
      </p:sp>
      <p:sp>
        <p:nvSpPr>
          <p:cNvPr id="27" name="Text 24"/>
          <p:cNvSpPr/>
          <p:nvPr/>
        </p:nvSpPr>
        <p:spPr>
          <a:xfrm>
            <a:off x="14897989" y="2580640"/>
            <a:ext cx="5950331" cy="562229"/>
          </a:xfrm>
          <a:prstGeom prst="rect">
            <a:avLst/>
          </a:prstGeom>
          <a:noFill/>
          <a:ln/>
        </p:spPr>
        <p:txBody>
          <a:bodyPr wrap="none" lIns="0" tIns="0" rIns="0" bIns="0" rtlCol="0" anchor="t"/>
          <a:lstStyle/>
          <a:p>
            <a:pPr algn="l">
              <a:lnSpc>
                <a:spcPct val="120000"/>
              </a:lnSpc>
            </a:pPr>
            <a:r>
              <a:rPr lang="en-US" sz="2670" b="1" dirty="0">
                <a:solidFill>
                  <a:srgbClr val="FFFFFF"/>
                </a:solidFill>
                <a:latin typeface="Quattrocento Sans" pitchFamily="34" charset="0"/>
                <a:ea typeface="Quattrocento Sans" pitchFamily="34" charset="-122"/>
                <a:cs typeface="Quattrocento Sans" pitchFamily="34" charset="-120"/>
              </a:rPr>
              <a:t>非语言沟通</a:t>
            </a:r>
            <a:endParaRPr lang="en-US" sz="2670" dirty="0"/>
          </a:p>
        </p:txBody>
      </p:sp>
      <p:sp>
        <p:nvSpPr>
          <p:cNvPr id="28" name="Shape 25"/>
          <p:cNvSpPr/>
          <p:nvPr/>
        </p:nvSpPr>
        <p:spPr>
          <a:xfrm>
            <a:off x="15019909" y="3217291"/>
            <a:ext cx="5706491" cy="16891"/>
          </a:xfrm>
          <a:prstGeom prst="rect">
            <a:avLst/>
          </a:prstGeom>
          <a:solidFill>
            <a:srgbClr val="FFFFFF">
              <a:alpha val="3576"/>
            </a:srgbClr>
          </a:solidFill>
          <a:ln/>
        </p:spPr>
      </p:sp>
      <p:sp>
        <p:nvSpPr>
          <p:cNvPr id="29" name="Shape 26"/>
          <p:cNvSpPr/>
          <p:nvPr/>
        </p:nvSpPr>
        <p:spPr>
          <a:xfrm>
            <a:off x="15019909" y="3454400"/>
            <a:ext cx="5706491" cy="2472309"/>
          </a:xfrm>
          <a:prstGeom prst="rect">
            <a:avLst/>
          </a:prstGeom>
          <a:noFill/>
          <a:ln/>
        </p:spPr>
      </p:sp>
      <p:sp>
        <p:nvSpPr>
          <p:cNvPr id="30" name="Text 27"/>
          <p:cNvSpPr/>
          <p:nvPr/>
        </p:nvSpPr>
        <p:spPr>
          <a:xfrm>
            <a:off x="14897989" y="3393440"/>
            <a:ext cx="5950331" cy="2594229"/>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包括文字陈述、动画、视频、肢体语言、眼神等。辅助语言表达，增强沟通效果。</a:t>
            </a:r>
            <a:endParaRPr lang="en-US" sz="2000" dirty="0"/>
          </a:p>
        </p:txBody>
      </p:sp>
      <p:sp>
        <p:nvSpPr>
          <p:cNvPr id="31" name="Shape 28"/>
          <p:cNvSpPr/>
          <p:nvPr/>
        </p:nvSpPr>
        <p:spPr>
          <a:xfrm>
            <a:off x="677291" y="6536309"/>
            <a:ext cx="20320000" cy="4402709"/>
          </a:xfrm>
          <a:prstGeom prst="roundRect">
            <a:avLst>
              <a:gd name="adj" fmla="val 4000"/>
            </a:avLst>
          </a:prstGeom>
          <a:solidFill>
            <a:srgbClr val="E3F0FA"/>
          </a:solidFill>
          <a:ln/>
        </p:spPr>
      </p:sp>
      <p:sp>
        <p:nvSpPr>
          <p:cNvPr id="32" name="Shape 29"/>
          <p:cNvSpPr/>
          <p:nvPr/>
        </p:nvSpPr>
        <p:spPr>
          <a:xfrm>
            <a:off x="1016000" y="6773291"/>
            <a:ext cx="6773291" cy="440309"/>
          </a:xfrm>
          <a:prstGeom prst="rect">
            <a:avLst/>
          </a:prstGeom>
          <a:noFill/>
          <a:ln/>
        </p:spPr>
      </p:sp>
      <p:sp>
        <p:nvSpPr>
          <p:cNvPr id="33" name="Text 30"/>
          <p:cNvSpPr/>
          <p:nvPr/>
        </p:nvSpPr>
        <p:spPr>
          <a:xfrm>
            <a:off x="894080" y="6712331"/>
            <a:ext cx="7017131" cy="562229"/>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沟通方式选择指南</a:t>
            </a:r>
            <a:endParaRPr lang="en-US" sz="2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016000" y="7349109"/>
          <a:ext cx="19642708" cy="3318892"/>
        </p:xfrm>
        <a:graphic>
          <a:graphicData uri="http://schemas.openxmlformats.org/drawingml/2006/table">
            <a:tbl>
              <a:tblPr/>
              <a:tblGrid>
                <a:gridCol w="4910677">
                  <a:extLst>
                    <a:ext uri="{9D8B030D-6E8A-4147-A177-3AD203B41FA5}">
                      <a16:colId xmlns:a16="http://schemas.microsoft.com/office/drawing/2014/main" val="20000"/>
                    </a:ext>
                  </a:extLst>
                </a:gridCol>
                <a:gridCol w="4910677">
                  <a:extLst>
                    <a:ext uri="{9D8B030D-6E8A-4147-A177-3AD203B41FA5}">
                      <a16:colId xmlns:a16="http://schemas.microsoft.com/office/drawing/2014/main" val="20001"/>
                    </a:ext>
                  </a:extLst>
                </a:gridCol>
                <a:gridCol w="4910677">
                  <a:extLst>
                    <a:ext uri="{9D8B030D-6E8A-4147-A177-3AD203B41FA5}">
                      <a16:colId xmlns:a16="http://schemas.microsoft.com/office/drawing/2014/main" val="20002"/>
                    </a:ext>
                  </a:extLst>
                </a:gridCol>
                <a:gridCol w="4910677">
                  <a:extLst>
                    <a:ext uri="{9D8B030D-6E8A-4147-A177-3AD203B41FA5}">
                      <a16:colId xmlns:a16="http://schemas.microsoft.com/office/drawing/2014/main" val="20003"/>
                    </a:ext>
                  </a:extLst>
                </a:gridCol>
              </a:tblGrid>
              <a:tr h="730156">
                <a:tc>
                  <a:txBody>
                    <a:bodyPr/>
                    <a:lstStyle/>
                    <a:p>
                      <a:pPr algn="ctr"/>
                      <a:r>
                        <a:rPr lang="en-US" sz="2130" b="1" dirty="0">
                          <a:solidFill>
                            <a:srgbClr val="FFFFFF"/>
                          </a:solidFill>
                          <a:latin typeface="Calibri" pitchFamily="34" charset="0"/>
                          <a:ea typeface="Calibri" pitchFamily="34" charset="-122"/>
                          <a:cs typeface="Calibri" pitchFamily="34" charset="-120"/>
                        </a:rPr>
                        <a:t>场景</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ctr"/>
                      <a:r>
                        <a:rPr lang="en-US" sz="2130" b="1" dirty="0">
                          <a:solidFill>
                            <a:srgbClr val="FFFFFF"/>
                          </a:solidFill>
                          <a:latin typeface="Calibri" pitchFamily="34" charset="0"/>
                          <a:ea typeface="Calibri" pitchFamily="34" charset="-122"/>
                          <a:cs typeface="Calibri" pitchFamily="34" charset="-120"/>
                        </a:rPr>
                        <a:t>推荐方式</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ctr"/>
                      <a:r>
                        <a:rPr lang="en-US" sz="2130" b="1" dirty="0">
                          <a:solidFill>
                            <a:srgbClr val="FFFFFF"/>
                          </a:solidFill>
                          <a:latin typeface="Calibri" pitchFamily="34" charset="0"/>
                          <a:ea typeface="Calibri" pitchFamily="34" charset="-122"/>
                          <a:cs typeface="Calibri" pitchFamily="34" charset="-120"/>
                        </a:rPr>
                        <a:t>优点</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tc>
                  <a:txBody>
                    <a:bodyPr/>
                    <a:lstStyle/>
                    <a:p>
                      <a:pPr algn="ctr"/>
                      <a:r>
                        <a:rPr lang="en-US" sz="2130" b="1" dirty="0">
                          <a:solidFill>
                            <a:srgbClr val="FFFFFF"/>
                          </a:solidFill>
                          <a:latin typeface="Calibri" pitchFamily="34" charset="0"/>
                          <a:ea typeface="Calibri" pitchFamily="34" charset="-122"/>
                          <a:cs typeface="Calibri" pitchFamily="34" charset="-120"/>
                        </a:rPr>
                        <a:t>注意事项</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4A7A"/>
                    </a:solidFill>
                  </a:tcPr>
                </a:tc>
                <a:extLst>
                  <a:ext uri="{0D108BD9-81ED-4DB2-BD59-A6C34878D82A}">
                    <a16:rowId xmlns:a16="http://schemas.microsoft.com/office/drawing/2014/main" val="10000"/>
                  </a:ext>
                </a:extLst>
              </a:tr>
              <a:tr h="862912">
                <a:tc>
                  <a:txBody>
                    <a:bodyPr/>
                    <a:lstStyle/>
                    <a:p>
                      <a:pPr algn="ctr"/>
                      <a:r>
                        <a:rPr lang="en-US" sz="2130" dirty="0">
                          <a:solidFill>
                            <a:srgbClr val="2C2C2C"/>
                          </a:solidFill>
                          <a:latin typeface="Calibri" pitchFamily="34" charset="0"/>
                          <a:ea typeface="Calibri" pitchFamily="34" charset="-122"/>
                          <a:cs typeface="Calibri" pitchFamily="34" charset="-120"/>
                        </a:rPr>
                        <a:t>正式决策/变更</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书面沟通</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可追溯、有依据</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需审批流程</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2912">
                <a:tc>
                  <a:txBody>
                    <a:bodyPr/>
                    <a:lstStyle/>
                    <a:p>
                      <a:pPr algn="ctr"/>
                      <a:r>
                        <a:rPr lang="en-US" sz="2130" dirty="0">
                          <a:solidFill>
                            <a:srgbClr val="2C2C2C"/>
                          </a:solidFill>
                          <a:latin typeface="Calibri" pitchFamily="34" charset="0"/>
                          <a:ea typeface="Calibri" pitchFamily="34" charset="-122"/>
                          <a:cs typeface="Calibri" pitchFamily="34" charset="-120"/>
                        </a:rPr>
                        <a:t>问题讨论/协商</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语言沟通</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即时反馈、效率高</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需形成纪要</a:t>
                      </a:r>
                      <a:endParaRPr lang="en-US" sz="2130" dirty="0">
                        <a:latin typeface="Calibri" charset="0"/>
                        <a:ea typeface="Calibri" charset="0"/>
                        <a:cs typeface="Calibri"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862912">
                <a:tc>
                  <a:txBody>
                    <a:bodyPr/>
                    <a:lstStyle/>
                    <a:p>
                      <a:pPr algn="ctr"/>
                      <a:r>
                        <a:rPr lang="en-US" sz="2130" dirty="0">
                          <a:solidFill>
                            <a:srgbClr val="2C2C2C"/>
                          </a:solidFill>
                          <a:latin typeface="Calibri" pitchFamily="34" charset="0"/>
                          <a:ea typeface="Calibri" pitchFamily="34" charset="-122"/>
                          <a:cs typeface="Calibri" pitchFamily="34" charset="-120"/>
                        </a:rPr>
                        <a:t>培训/演示</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非语言+语言</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直观、印象深刻</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130" dirty="0">
                          <a:solidFill>
                            <a:srgbClr val="2C2C2C"/>
                          </a:solidFill>
                          <a:latin typeface="Calibri" pitchFamily="34" charset="0"/>
                          <a:ea typeface="Calibri" pitchFamily="34" charset="-122"/>
                          <a:cs typeface="Calibri" pitchFamily="34" charset="-120"/>
                        </a:rPr>
                        <a:t>需提前准备</a:t>
                      </a:r>
                      <a:endParaRPr lang="en-US" sz="2130" dirty="0">
                        <a:latin typeface="Calibri" charset="0"/>
                        <a:ea typeface="Calibri" charset="0"/>
                        <a:cs typeface="Calibri"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5" name="Shape 31"/>
          <p:cNvSpPr/>
          <p:nvPr/>
        </p:nvSpPr>
        <p:spPr>
          <a:xfrm>
            <a:off x="20320000" y="11514709"/>
            <a:ext cx="846709" cy="406400"/>
          </a:xfrm>
          <a:prstGeom prst="rect">
            <a:avLst/>
          </a:prstGeom>
          <a:noFill/>
          <a:ln/>
        </p:spPr>
      </p:sp>
      <p:sp>
        <p:nvSpPr>
          <p:cNvPr id="36" name="Text 32"/>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23</a:t>
            </a:r>
            <a:endParaRPr lang="en-US" sz="187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8128000" y="2370709"/>
            <a:ext cx="16891" cy="7450709"/>
          </a:xfrm>
          <a:prstGeom prst="rect">
            <a:avLst/>
          </a:prstGeom>
          <a:solidFill>
            <a:srgbClr val="E0E0E0"/>
          </a:solidFill>
          <a:ln/>
        </p:spPr>
      </p:sp>
      <p:sp>
        <p:nvSpPr>
          <p:cNvPr id="5" name="Shape 2"/>
          <p:cNvSpPr/>
          <p:nvPr/>
        </p:nvSpPr>
        <p:spPr>
          <a:xfrm>
            <a:off x="1016000" y="3386709"/>
            <a:ext cx="6434709" cy="3386709"/>
          </a:xfrm>
          <a:prstGeom prst="rect">
            <a:avLst/>
          </a:prstGeom>
          <a:noFill/>
          <a:ln/>
        </p:spPr>
      </p:sp>
      <p:sp>
        <p:nvSpPr>
          <p:cNvPr id="6" name="Text 3"/>
          <p:cNvSpPr/>
          <p:nvPr/>
        </p:nvSpPr>
        <p:spPr>
          <a:xfrm>
            <a:off x="894080" y="3325749"/>
            <a:ext cx="6678549" cy="3508629"/>
          </a:xfrm>
          <a:prstGeom prst="rect">
            <a:avLst/>
          </a:prstGeom>
          <a:noFill/>
          <a:ln/>
        </p:spPr>
        <p:txBody>
          <a:bodyPr wrap="none" lIns="0" tIns="0" rIns="0" bIns="0" rtlCol="0" anchor="ctr"/>
          <a:lstStyle/>
          <a:p>
            <a:pPr algn="ctr">
              <a:lnSpc>
                <a:spcPct val="120000"/>
              </a:lnSpc>
            </a:pPr>
            <a:r>
              <a:rPr lang="en-US" sz="16000" dirty="0">
                <a:solidFill>
                  <a:srgbClr val="5B9BD5"/>
                </a:solidFill>
                <a:latin typeface="Quattrocento Sans" pitchFamily="34" charset="0"/>
                <a:ea typeface="Quattrocento Sans" pitchFamily="34" charset="-122"/>
                <a:cs typeface="Quattrocento Sans" pitchFamily="34" charset="-120"/>
              </a:rPr>
              <a:t>08</a:t>
            </a:r>
            <a:endParaRPr lang="en-US" sz="16000" dirty="0"/>
          </a:p>
        </p:txBody>
      </p:sp>
      <p:sp>
        <p:nvSpPr>
          <p:cNvPr id="7" name="Shape 4"/>
          <p:cNvSpPr/>
          <p:nvPr/>
        </p:nvSpPr>
        <p:spPr>
          <a:xfrm>
            <a:off x="1016000" y="6773291"/>
            <a:ext cx="6434709" cy="474091"/>
          </a:xfrm>
          <a:prstGeom prst="rect">
            <a:avLst/>
          </a:prstGeom>
          <a:noFill/>
          <a:ln/>
        </p:spPr>
      </p:sp>
      <p:sp>
        <p:nvSpPr>
          <p:cNvPr id="8" name="Text 5"/>
          <p:cNvSpPr/>
          <p:nvPr/>
        </p:nvSpPr>
        <p:spPr>
          <a:xfrm>
            <a:off x="894080" y="6712331"/>
            <a:ext cx="6678549" cy="596011"/>
          </a:xfrm>
          <a:prstGeom prst="rect">
            <a:avLst/>
          </a:prstGeom>
          <a:noFill/>
          <a:ln/>
        </p:spPr>
        <p:txBody>
          <a:bodyPr wrap="none" lIns="0" tIns="0" rIns="0" bIns="0" rtlCol="0" anchor="ctr"/>
          <a:lstStyle/>
          <a:p>
            <a:pPr algn="ctr">
              <a:lnSpc>
                <a:spcPct val="120000"/>
              </a:lnSpc>
            </a:pPr>
            <a:r>
              <a:rPr lang="en-US" sz="2130" kern="0" spc="533" dirty="0">
                <a:solidFill>
                  <a:srgbClr val="5B9BD5"/>
                </a:solidFill>
                <a:latin typeface="Quattrocento Sans" pitchFamily="34" charset="0"/>
                <a:ea typeface="Quattrocento Sans" pitchFamily="34" charset="-122"/>
                <a:cs typeface="Quattrocento Sans" pitchFamily="34" charset="-120"/>
              </a:rPr>
              <a:t>CHAPTER EIGHT</a:t>
            </a:r>
            <a:endParaRPr lang="en-US" sz="2130" dirty="0"/>
          </a:p>
        </p:txBody>
      </p:sp>
      <p:sp>
        <p:nvSpPr>
          <p:cNvPr id="9" name="Shape 6"/>
          <p:cNvSpPr/>
          <p:nvPr/>
        </p:nvSpPr>
        <p:spPr>
          <a:xfrm>
            <a:off x="8805291" y="3996309"/>
            <a:ext cx="11853291" cy="948309"/>
          </a:xfrm>
          <a:prstGeom prst="rect">
            <a:avLst/>
          </a:prstGeom>
          <a:noFill/>
          <a:ln/>
        </p:spPr>
      </p:sp>
      <p:sp>
        <p:nvSpPr>
          <p:cNvPr id="10" name="Text 7"/>
          <p:cNvSpPr/>
          <p:nvPr/>
        </p:nvSpPr>
        <p:spPr>
          <a:xfrm>
            <a:off x="8683371" y="3935349"/>
            <a:ext cx="12097131" cy="1070229"/>
          </a:xfrm>
          <a:prstGeom prst="rect">
            <a:avLst/>
          </a:prstGeom>
          <a:noFill/>
          <a:ln/>
        </p:spPr>
        <p:txBody>
          <a:bodyPr wrap="none" lIns="0" tIns="0" rIns="0" bIns="0" rtlCol="0" anchor="ctr"/>
          <a:lstStyle/>
          <a:p>
            <a:pPr algn="l">
              <a:lnSpc>
                <a:spcPct val="120000"/>
              </a:lnSpc>
            </a:pPr>
            <a:r>
              <a:rPr lang="en-US" sz="4800" b="1" dirty="0">
                <a:solidFill>
                  <a:srgbClr val="1A4A7A"/>
                </a:solidFill>
                <a:latin typeface="Quattrocento Sans" pitchFamily="34" charset="0"/>
                <a:ea typeface="Quattrocento Sans" pitchFamily="34" charset="-122"/>
                <a:cs typeface="Quattrocento Sans" pitchFamily="34" charset="-120"/>
              </a:rPr>
              <a:t>项目风险管理</a:t>
            </a:r>
            <a:endParaRPr lang="en-US" sz="4800" dirty="0"/>
          </a:p>
        </p:txBody>
      </p:sp>
      <p:sp>
        <p:nvSpPr>
          <p:cNvPr id="11" name="Shape 8"/>
          <p:cNvSpPr/>
          <p:nvPr/>
        </p:nvSpPr>
        <p:spPr>
          <a:xfrm>
            <a:off x="8805291" y="5113909"/>
            <a:ext cx="11853291" cy="474091"/>
          </a:xfrm>
          <a:prstGeom prst="rect">
            <a:avLst/>
          </a:prstGeom>
          <a:noFill/>
          <a:ln/>
        </p:spPr>
      </p:sp>
      <p:sp>
        <p:nvSpPr>
          <p:cNvPr id="12" name="Text 9"/>
          <p:cNvSpPr/>
          <p:nvPr/>
        </p:nvSpPr>
        <p:spPr>
          <a:xfrm>
            <a:off x="8683371" y="5052949"/>
            <a:ext cx="12097131" cy="596011"/>
          </a:xfrm>
          <a:prstGeom prst="rect">
            <a:avLst/>
          </a:prstGeom>
          <a:noFill/>
          <a:ln/>
        </p:spPr>
        <p:txBody>
          <a:bodyPr wrap="none" lIns="0" tIns="0" rIns="0" bIns="0" rtlCol="0" anchor="t"/>
          <a:lstStyle/>
          <a:p>
            <a:pPr algn="l">
              <a:lnSpc>
                <a:spcPct val="120000"/>
              </a:lnSpc>
            </a:pPr>
            <a:r>
              <a:rPr lang="en-US" sz="2400" dirty="0">
                <a:solidFill>
                  <a:srgbClr val="AAAAAA"/>
                </a:solidFill>
                <a:latin typeface="Quattrocento Sans" pitchFamily="34" charset="0"/>
                <a:ea typeface="Quattrocento Sans" pitchFamily="34" charset="-122"/>
                <a:cs typeface="Quattrocento Sans" pitchFamily="34" charset="-120"/>
              </a:rPr>
              <a:t>Project Risk Management</a:t>
            </a:r>
            <a:endParaRPr lang="en-US" sz="2400" dirty="0"/>
          </a:p>
        </p:txBody>
      </p:sp>
      <p:sp>
        <p:nvSpPr>
          <p:cNvPr id="13" name="Shape 10"/>
          <p:cNvSpPr/>
          <p:nvPr/>
        </p:nvSpPr>
        <p:spPr>
          <a:xfrm>
            <a:off x="8805291" y="6096000"/>
            <a:ext cx="5418709" cy="16891"/>
          </a:xfrm>
          <a:prstGeom prst="rect">
            <a:avLst/>
          </a:prstGeom>
          <a:solidFill>
            <a:srgbClr val="E0E0E0"/>
          </a:solidFill>
          <a:ln/>
        </p:spPr>
      </p:sp>
      <p:sp>
        <p:nvSpPr>
          <p:cNvPr id="14" name="Shape 11"/>
          <p:cNvSpPr/>
          <p:nvPr/>
        </p:nvSpPr>
        <p:spPr>
          <a:xfrm>
            <a:off x="8805291" y="6434709"/>
            <a:ext cx="11853291" cy="474091"/>
          </a:xfrm>
          <a:prstGeom prst="rect">
            <a:avLst/>
          </a:prstGeom>
          <a:noFill/>
          <a:ln/>
        </p:spPr>
      </p:sp>
      <p:sp>
        <p:nvSpPr>
          <p:cNvPr id="15" name="Text 12"/>
          <p:cNvSpPr/>
          <p:nvPr/>
        </p:nvSpPr>
        <p:spPr>
          <a:xfrm>
            <a:off x="8683371" y="63737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8.1　风险管理过程与特点</a:t>
            </a:r>
            <a:endParaRPr lang="en-US" sz="2130" dirty="0"/>
          </a:p>
        </p:txBody>
      </p:sp>
      <p:sp>
        <p:nvSpPr>
          <p:cNvPr id="16" name="Shape 13"/>
          <p:cNvSpPr/>
          <p:nvPr/>
        </p:nvSpPr>
        <p:spPr>
          <a:xfrm>
            <a:off x="8805291" y="7044309"/>
            <a:ext cx="11853291" cy="474091"/>
          </a:xfrm>
          <a:prstGeom prst="rect">
            <a:avLst/>
          </a:prstGeom>
          <a:noFill/>
          <a:ln/>
        </p:spPr>
      </p:sp>
      <p:sp>
        <p:nvSpPr>
          <p:cNvPr id="17" name="Text 14"/>
          <p:cNvSpPr/>
          <p:nvPr/>
        </p:nvSpPr>
        <p:spPr>
          <a:xfrm>
            <a:off x="8683371" y="6983349"/>
            <a:ext cx="12097131" cy="596011"/>
          </a:xfrm>
          <a:prstGeom prst="rect">
            <a:avLst/>
          </a:prstGeom>
          <a:noFill/>
          <a:ln/>
        </p:spPr>
        <p:txBody>
          <a:bodyPr wrap="none" lIns="0" tIns="0" rIns="0" bIns="0" rtlCol="0" anchor="t"/>
          <a:lstStyle/>
          <a:p>
            <a:pPr algn="l">
              <a:lnSpc>
                <a:spcPct val="120000"/>
              </a:lnSpc>
            </a:pPr>
            <a:r>
              <a:rPr lang="en-US" sz="2130" dirty="0">
                <a:solidFill>
                  <a:srgbClr val="2C2C2C"/>
                </a:solidFill>
                <a:latin typeface="Quattrocento Sans" pitchFamily="34" charset="0"/>
                <a:ea typeface="Quattrocento Sans" pitchFamily="34" charset="-122"/>
                <a:cs typeface="Quattrocento Sans" pitchFamily="34" charset="-120"/>
              </a:rPr>
              <a:t>8.2　风险管理策略</a:t>
            </a:r>
            <a:endParaRPr lang="en-US" sz="2130" dirty="0"/>
          </a:p>
        </p:txBody>
      </p:sp>
      <p:sp>
        <p:nvSpPr>
          <p:cNvPr id="18" name="Shape 15"/>
          <p:cNvSpPr/>
          <p:nvPr/>
        </p:nvSpPr>
        <p:spPr>
          <a:xfrm>
            <a:off x="20320000" y="11514709"/>
            <a:ext cx="846709" cy="406400"/>
          </a:xfrm>
          <a:prstGeom prst="rect">
            <a:avLst/>
          </a:prstGeom>
          <a:noFill/>
          <a:ln/>
        </p:spPr>
      </p:sp>
      <p:sp>
        <p:nvSpPr>
          <p:cNvPr id="19" name="Text 1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24</a:t>
            </a:r>
            <a:endParaRPr lang="en-US" sz="187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08 项目风险管理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风险管理过程与特点</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6316091" cy="4064000"/>
          </a:xfrm>
          <a:prstGeom prst="roundRect">
            <a:avLst>
              <a:gd name="adj" fmla="val 4000"/>
            </a:avLst>
          </a:prstGeom>
          <a:solidFill>
            <a:srgbClr val="1A4A7A"/>
          </a:solidFill>
          <a:ln/>
        </p:spPr>
      </p:sp>
      <p:sp>
        <p:nvSpPr>
          <p:cNvPr id="11" name="Shape 8"/>
          <p:cNvSpPr/>
          <p:nvPr/>
        </p:nvSpPr>
        <p:spPr>
          <a:xfrm>
            <a:off x="948309" y="1659509"/>
            <a:ext cx="5774309" cy="508000"/>
          </a:xfrm>
          <a:prstGeom prst="rect">
            <a:avLst/>
          </a:prstGeom>
          <a:noFill/>
          <a:ln/>
        </p:spPr>
      </p:sp>
      <p:sp>
        <p:nvSpPr>
          <p:cNvPr id="12" name="Text 9"/>
          <p:cNvSpPr/>
          <p:nvPr/>
        </p:nvSpPr>
        <p:spPr>
          <a:xfrm>
            <a:off x="826389"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01</a:t>
            </a:r>
            <a:endParaRPr lang="en-US" sz="3200" dirty="0"/>
          </a:p>
        </p:txBody>
      </p:sp>
      <p:sp>
        <p:nvSpPr>
          <p:cNvPr id="13" name="Shape 10"/>
          <p:cNvSpPr/>
          <p:nvPr/>
        </p:nvSpPr>
        <p:spPr>
          <a:xfrm>
            <a:off x="948309" y="2269109"/>
            <a:ext cx="5774309" cy="440309"/>
          </a:xfrm>
          <a:prstGeom prst="rect">
            <a:avLst/>
          </a:prstGeom>
          <a:noFill/>
          <a:ln/>
        </p:spPr>
      </p:sp>
      <p:sp>
        <p:nvSpPr>
          <p:cNvPr id="14" name="Text 11"/>
          <p:cNvSpPr/>
          <p:nvPr/>
        </p:nvSpPr>
        <p:spPr>
          <a:xfrm>
            <a:off x="826389"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风险识别</a:t>
            </a:r>
            <a:endParaRPr lang="en-US" sz="2400" dirty="0"/>
          </a:p>
        </p:txBody>
      </p:sp>
      <p:sp>
        <p:nvSpPr>
          <p:cNvPr id="15" name="Shape 12"/>
          <p:cNvSpPr/>
          <p:nvPr/>
        </p:nvSpPr>
        <p:spPr>
          <a:xfrm>
            <a:off x="948309" y="2844800"/>
            <a:ext cx="5774309" cy="2438400"/>
          </a:xfrm>
          <a:prstGeom prst="rect">
            <a:avLst/>
          </a:prstGeom>
          <a:noFill/>
          <a:ln/>
        </p:spPr>
      </p:sp>
      <p:sp>
        <p:nvSpPr>
          <p:cNvPr id="16" name="Text 13"/>
          <p:cNvSpPr/>
          <p:nvPr/>
        </p:nvSpPr>
        <p:spPr>
          <a:xfrm>
            <a:off x="826389" y="2783840"/>
            <a:ext cx="6018149"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通过头脑风暴、访谈、检查表等方式，全面识别项目潜在风险的过程。风险识别应贯穿项目全生命周期。</a:t>
            </a:r>
            <a:endParaRPr lang="en-US" sz="2000" dirty="0"/>
          </a:p>
        </p:txBody>
      </p:sp>
      <p:sp>
        <p:nvSpPr>
          <p:cNvPr id="17" name="Shape 14"/>
          <p:cNvSpPr/>
          <p:nvPr/>
        </p:nvSpPr>
        <p:spPr>
          <a:xfrm>
            <a:off x="7670800" y="1456309"/>
            <a:ext cx="6333109" cy="4064000"/>
          </a:xfrm>
          <a:prstGeom prst="roundRect">
            <a:avLst>
              <a:gd name="adj" fmla="val 4000"/>
            </a:avLst>
          </a:prstGeom>
          <a:solidFill>
            <a:srgbClr val="5B9BD5"/>
          </a:solidFill>
          <a:ln/>
        </p:spPr>
      </p:sp>
      <p:sp>
        <p:nvSpPr>
          <p:cNvPr id="18" name="Shape 15"/>
          <p:cNvSpPr/>
          <p:nvPr/>
        </p:nvSpPr>
        <p:spPr>
          <a:xfrm>
            <a:off x="7941691" y="1659509"/>
            <a:ext cx="5791200" cy="508000"/>
          </a:xfrm>
          <a:prstGeom prst="rect">
            <a:avLst/>
          </a:prstGeom>
          <a:noFill/>
          <a:ln/>
        </p:spPr>
      </p:sp>
      <p:sp>
        <p:nvSpPr>
          <p:cNvPr id="19" name="Text 16"/>
          <p:cNvSpPr/>
          <p:nvPr/>
        </p:nvSpPr>
        <p:spPr>
          <a:xfrm>
            <a:off x="7819771" y="1598549"/>
            <a:ext cx="6035040"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02</a:t>
            </a:r>
            <a:endParaRPr lang="en-US" sz="3200" dirty="0"/>
          </a:p>
        </p:txBody>
      </p:sp>
      <p:sp>
        <p:nvSpPr>
          <p:cNvPr id="20" name="Shape 17"/>
          <p:cNvSpPr/>
          <p:nvPr/>
        </p:nvSpPr>
        <p:spPr>
          <a:xfrm>
            <a:off x="7941691" y="2269109"/>
            <a:ext cx="5791200" cy="440309"/>
          </a:xfrm>
          <a:prstGeom prst="rect">
            <a:avLst/>
          </a:prstGeom>
          <a:noFill/>
          <a:ln/>
        </p:spPr>
      </p:sp>
      <p:sp>
        <p:nvSpPr>
          <p:cNvPr id="21" name="Text 18"/>
          <p:cNvSpPr/>
          <p:nvPr/>
        </p:nvSpPr>
        <p:spPr>
          <a:xfrm>
            <a:off x="7819771" y="2208149"/>
            <a:ext cx="6035040"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风险分析</a:t>
            </a:r>
            <a:endParaRPr lang="en-US" sz="2400" dirty="0"/>
          </a:p>
        </p:txBody>
      </p:sp>
      <p:sp>
        <p:nvSpPr>
          <p:cNvPr id="22" name="Shape 19"/>
          <p:cNvSpPr/>
          <p:nvPr/>
        </p:nvSpPr>
        <p:spPr>
          <a:xfrm>
            <a:off x="7941691" y="2844800"/>
            <a:ext cx="5791200" cy="2438400"/>
          </a:xfrm>
          <a:prstGeom prst="rect">
            <a:avLst/>
          </a:prstGeom>
          <a:noFill/>
          <a:ln/>
        </p:spPr>
      </p:sp>
      <p:sp>
        <p:nvSpPr>
          <p:cNvPr id="23" name="Text 20"/>
          <p:cNvSpPr/>
          <p:nvPr/>
        </p:nvSpPr>
        <p:spPr>
          <a:xfrm>
            <a:off x="7819771" y="2783840"/>
            <a:ext cx="6035040"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对识别出的风险进行定性（评估概率和影响）和定量（数值化分析）分析，确定风险优先级，为风险应对提供依据。</a:t>
            </a:r>
            <a:endParaRPr lang="en-US" sz="2000" dirty="0"/>
          </a:p>
        </p:txBody>
      </p:sp>
      <p:sp>
        <p:nvSpPr>
          <p:cNvPr id="24" name="Shape 21"/>
          <p:cNvSpPr/>
          <p:nvPr/>
        </p:nvSpPr>
        <p:spPr>
          <a:xfrm>
            <a:off x="14681200" y="1456309"/>
            <a:ext cx="6316091" cy="4064000"/>
          </a:xfrm>
          <a:prstGeom prst="roundRect">
            <a:avLst>
              <a:gd name="adj" fmla="val 4000"/>
            </a:avLst>
          </a:prstGeom>
          <a:solidFill>
            <a:srgbClr val="2E86C1"/>
          </a:solidFill>
          <a:ln/>
        </p:spPr>
      </p:sp>
      <p:sp>
        <p:nvSpPr>
          <p:cNvPr id="25" name="Shape 22"/>
          <p:cNvSpPr/>
          <p:nvPr/>
        </p:nvSpPr>
        <p:spPr>
          <a:xfrm>
            <a:off x="14952091" y="1659509"/>
            <a:ext cx="5774309" cy="508000"/>
          </a:xfrm>
          <a:prstGeom prst="rect">
            <a:avLst/>
          </a:prstGeom>
          <a:noFill/>
          <a:ln/>
        </p:spPr>
      </p:sp>
      <p:sp>
        <p:nvSpPr>
          <p:cNvPr id="26" name="Text 23"/>
          <p:cNvSpPr/>
          <p:nvPr/>
        </p:nvSpPr>
        <p:spPr>
          <a:xfrm>
            <a:off x="14830171" y="1598549"/>
            <a:ext cx="6018149" cy="629920"/>
          </a:xfrm>
          <a:prstGeom prst="rect">
            <a:avLst/>
          </a:prstGeom>
          <a:noFill/>
          <a:ln/>
        </p:spPr>
        <p:txBody>
          <a:bodyPr wrap="none" lIns="0" tIns="0" rIns="0" bIns="0" rtlCol="0" anchor="t"/>
          <a:lstStyle/>
          <a:p>
            <a:pPr algn="l">
              <a:lnSpc>
                <a:spcPct val="120000"/>
              </a:lnSpc>
            </a:pPr>
            <a:r>
              <a:rPr lang="en-US" sz="3200" dirty="0">
                <a:solidFill>
                  <a:srgbClr val="FFFFFF"/>
                </a:solidFill>
                <a:latin typeface="Quattrocento Sans" pitchFamily="34" charset="0"/>
                <a:ea typeface="Quattrocento Sans" pitchFamily="34" charset="-122"/>
                <a:cs typeface="Quattrocento Sans" pitchFamily="34" charset="-120"/>
              </a:rPr>
              <a:t>03</a:t>
            </a:r>
            <a:endParaRPr lang="en-US" sz="3200" dirty="0"/>
          </a:p>
        </p:txBody>
      </p:sp>
      <p:sp>
        <p:nvSpPr>
          <p:cNvPr id="27" name="Shape 24"/>
          <p:cNvSpPr/>
          <p:nvPr/>
        </p:nvSpPr>
        <p:spPr>
          <a:xfrm>
            <a:off x="14952091" y="2269109"/>
            <a:ext cx="5774309" cy="440309"/>
          </a:xfrm>
          <a:prstGeom prst="rect">
            <a:avLst/>
          </a:prstGeom>
          <a:noFill/>
          <a:ln/>
        </p:spPr>
      </p:sp>
      <p:sp>
        <p:nvSpPr>
          <p:cNvPr id="28" name="Text 25"/>
          <p:cNvSpPr/>
          <p:nvPr/>
        </p:nvSpPr>
        <p:spPr>
          <a:xfrm>
            <a:off x="14830171" y="2208149"/>
            <a:ext cx="6018149" cy="562229"/>
          </a:xfrm>
          <a:prstGeom prst="rect">
            <a:avLst/>
          </a:prstGeom>
          <a:noFill/>
          <a:ln/>
        </p:spPr>
        <p:txBody>
          <a:bodyPr wrap="none" lIns="0" tIns="0" rIns="0" bIns="0" rtlCol="0" anchor="t"/>
          <a:lstStyle/>
          <a:p>
            <a:pPr algn="l">
              <a:lnSpc>
                <a:spcPct val="120000"/>
              </a:lnSpc>
            </a:pPr>
            <a:r>
              <a:rPr lang="en-US" sz="2400" b="1" dirty="0">
                <a:solidFill>
                  <a:srgbClr val="FFFFFF"/>
                </a:solidFill>
                <a:latin typeface="Quattrocento Sans" pitchFamily="34" charset="0"/>
                <a:ea typeface="Quattrocento Sans" pitchFamily="34" charset="-122"/>
                <a:cs typeface="Quattrocento Sans" pitchFamily="34" charset="-120"/>
              </a:rPr>
              <a:t>风险应对</a:t>
            </a:r>
            <a:endParaRPr lang="en-US" sz="2400" dirty="0"/>
          </a:p>
        </p:txBody>
      </p:sp>
      <p:sp>
        <p:nvSpPr>
          <p:cNvPr id="29" name="Shape 26"/>
          <p:cNvSpPr/>
          <p:nvPr/>
        </p:nvSpPr>
        <p:spPr>
          <a:xfrm>
            <a:off x="14952091" y="2844800"/>
            <a:ext cx="5774309" cy="2438400"/>
          </a:xfrm>
          <a:prstGeom prst="rect">
            <a:avLst/>
          </a:prstGeom>
          <a:noFill/>
          <a:ln/>
        </p:spPr>
      </p:sp>
      <p:sp>
        <p:nvSpPr>
          <p:cNvPr id="30" name="Text 27"/>
          <p:cNvSpPr/>
          <p:nvPr/>
        </p:nvSpPr>
        <p:spPr>
          <a:xfrm>
            <a:off x="14830171" y="2783840"/>
            <a:ext cx="6018149" cy="2560320"/>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制定风险应对策略，降低风险发生概率或影响程度的过程。包括规避、减轻、转移和接受四种基本策略。</a:t>
            </a:r>
            <a:endParaRPr lang="en-US" sz="2000" dirty="0"/>
          </a:p>
        </p:txBody>
      </p:sp>
      <p:sp>
        <p:nvSpPr>
          <p:cNvPr id="31" name="Shape 28"/>
          <p:cNvSpPr/>
          <p:nvPr/>
        </p:nvSpPr>
        <p:spPr>
          <a:xfrm>
            <a:off x="677291" y="5825109"/>
            <a:ext cx="6773291" cy="474091"/>
          </a:xfrm>
          <a:prstGeom prst="rect">
            <a:avLst/>
          </a:prstGeom>
          <a:noFill/>
          <a:ln/>
        </p:spPr>
      </p:sp>
      <p:sp>
        <p:nvSpPr>
          <p:cNvPr id="32" name="Text 29"/>
          <p:cNvSpPr/>
          <p:nvPr/>
        </p:nvSpPr>
        <p:spPr>
          <a:xfrm>
            <a:off x="555371" y="5764149"/>
            <a:ext cx="7017131" cy="596011"/>
          </a:xfrm>
          <a:prstGeom prst="rect">
            <a:avLst/>
          </a:prstGeom>
          <a:noFill/>
          <a:ln/>
        </p:spPr>
        <p:txBody>
          <a:bodyPr wrap="none" lIns="0" tIns="0" rIns="0" bIns="0" rtlCol="0" anchor="t"/>
          <a:lstStyle/>
          <a:p>
            <a:pPr algn="l">
              <a:lnSpc>
                <a:spcPct val="120000"/>
              </a:lnSpc>
            </a:pPr>
            <a:r>
              <a:rPr lang="en-US" sz="2400" b="1" dirty="0">
                <a:solidFill>
                  <a:srgbClr val="1A4A7A"/>
                </a:solidFill>
                <a:latin typeface="Quattrocento Sans" pitchFamily="34" charset="0"/>
                <a:ea typeface="Quattrocento Sans" pitchFamily="34" charset="-122"/>
                <a:cs typeface="Quattrocento Sans" pitchFamily="34" charset="-120"/>
              </a:rPr>
              <a:t>风险特点</a:t>
            </a:r>
            <a:endParaRPr lang="en-US" sz="2400" dirty="0"/>
          </a:p>
        </p:txBody>
      </p:sp>
      <p:sp>
        <p:nvSpPr>
          <p:cNvPr id="33" name="Shape 30"/>
          <p:cNvSpPr/>
          <p:nvPr/>
        </p:nvSpPr>
        <p:spPr>
          <a:xfrm>
            <a:off x="677291" y="6366891"/>
            <a:ext cx="20320000" cy="16891"/>
          </a:xfrm>
          <a:prstGeom prst="rect">
            <a:avLst/>
          </a:prstGeom>
          <a:solidFill>
            <a:srgbClr val="E0E0E0"/>
          </a:solidFill>
          <a:ln/>
        </p:spPr>
      </p:sp>
      <p:sp>
        <p:nvSpPr>
          <p:cNvPr id="34" name="Shape 31"/>
          <p:cNvSpPr/>
          <p:nvPr/>
        </p:nvSpPr>
        <p:spPr>
          <a:xfrm>
            <a:off x="677291" y="6637909"/>
            <a:ext cx="4741291" cy="4199509"/>
          </a:xfrm>
          <a:prstGeom prst="roundRect">
            <a:avLst>
              <a:gd name="adj" fmla="val 4000"/>
            </a:avLst>
          </a:prstGeom>
          <a:solidFill>
            <a:srgbClr val="F5F5F5"/>
          </a:solidFill>
          <a:ln/>
        </p:spPr>
      </p:sp>
      <p:sp>
        <p:nvSpPr>
          <p:cNvPr id="35" name="Shape 32"/>
          <p:cNvSpPr/>
          <p:nvPr/>
        </p:nvSpPr>
        <p:spPr>
          <a:xfrm>
            <a:off x="1016000" y="6908800"/>
            <a:ext cx="541909" cy="541909"/>
          </a:xfrm>
          <a:custGeom>
            <a:avLst/>
            <a:gdLst/>
            <a:ahLst/>
            <a:cxnLst/>
            <a:rect l="l" t="t" r="r" b="b"/>
            <a:pathLst>
              <a:path w="541909" h="541909">
                <a:moveTo>
                  <a:pt x="108382" y="169347"/>
                </a:moveTo>
                <a:cubicBezTo>
                  <a:pt x="108382" y="113250"/>
                  <a:pt x="181201" y="67739"/>
                  <a:pt x="270955" y="67739"/>
                </a:cubicBezTo>
                <a:cubicBezTo>
                  <a:pt x="360708" y="67739"/>
                  <a:pt x="433527" y="113250"/>
                  <a:pt x="433527" y="169347"/>
                </a:cubicBezTo>
                <a:cubicBezTo>
                  <a:pt x="433527" y="214541"/>
                  <a:pt x="386280" y="252856"/>
                  <a:pt x="320912" y="266086"/>
                </a:cubicBezTo>
                <a:cubicBezTo>
                  <a:pt x="272817" y="275823"/>
                  <a:pt x="216764" y="303448"/>
                  <a:pt x="216764" y="347160"/>
                </a:cubicBezTo>
                <a:lnTo>
                  <a:pt x="216764" y="372562"/>
                </a:lnTo>
                <a:cubicBezTo>
                  <a:pt x="216764" y="391296"/>
                  <a:pt x="240980" y="406432"/>
                  <a:pt x="270955" y="406432"/>
                </a:cubicBezTo>
                <a:cubicBezTo>
                  <a:pt x="300929" y="406432"/>
                  <a:pt x="325145" y="391296"/>
                  <a:pt x="325145" y="372562"/>
                </a:cubicBezTo>
                <a:lnTo>
                  <a:pt x="325145" y="347160"/>
                </a:lnTo>
                <a:cubicBezTo>
                  <a:pt x="325145" y="345362"/>
                  <a:pt x="326161" y="342821"/>
                  <a:pt x="331073" y="339435"/>
                </a:cubicBezTo>
                <a:cubicBezTo>
                  <a:pt x="336153" y="335941"/>
                  <a:pt x="344451" y="332554"/>
                  <a:pt x="354273" y="330543"/>
                </a:cubicBezTo>
                <a:cubicBezTo>
                  <a:pt x="463163" y="308635"/>
                  <a:pt x="541909" y="244811"/>
                  <a:pt x="541909" y="169347"/>
                </a:cubicBezTo>
                <a:cubicBezTo>
                  <a:pt x="541909" y="75782"/>
                  <a:pt x="420657" y="0"/>
                  <a:pt x="270955" y="0"/>
                </a:cubicBezTo>
                <a:cubicBezTo>
                  <a:pt x="121252" y="0"/>
                  <a:pt x="0" y="75782"/>
                  <a:pt x="0" y="169347"/>
                </a:cubicBezTo>
                <a:cubicBezTo>
                  <a:pt x="0" y="188080"/>
                  <a:pt x="24217" y="203216"/>
                  <a:pt x="54191" y="203216"/>
                </a:cubicBezTo>
                <a:cubicBezTo>
                  <a:pt x="84165" y="203216"/>
                  <a:pt x="108382" y="188080"/>
                  <a:pt x="108382" y="169347"/>
                </a:cubicBezTo>
                <a:close/>
                <a:moveTo>
                  <a:pt x="270955" y="541909"/>
                </a:moveTo>
                <a:cubicBezTo>
                  <a:pt x="308380" y="541909"/>
                  <a:pt x="338693" y="522964"/>
                  <a:pt x="338693" y="499572"/>
                </a:cubicBezTo>
                <a:cubicBezTo>
                  <a:pt x="338693" y="476181"/>
                  <a:pt x="308380" y="457236"/>
                  <a:pt x="270955" y="457236"/>
                </a:cubicBezTo>
                <a:cubicBezTo>
                  <a:pt x="233529" y="457236"/>
                  <a:pt x="203216" y="476181"/>
                  <a:pt x="203216" y="499572"/>
                </a:cubicBezTo>
                <a:cubicBezTo>
                  <a:pt x="203216" y="522964"/>
                  <a:pt x="233529" y="541909"/>
                  <a:pt x="270955" y="541909"/>
                </a:cubicBezTo>
                <a:close/>
              </a:path>
            </a:pathLst>
          </a:custGeom>
          <a:solidFill>
            <a:srgbClr val="1A4A7A"/>
          </a:solidFill>
          <a:ln/>
        </p:spPr>
      </p:sp>
      <p:sp>
        <p:nvSpPr>
          <p:cNvPr id="36" name="Shape 33"/>
          <p:cNvSpPr/>
          <p:nvPr/>
        </p:nvSpPr>
        <p:spPr>
          <a:xfrm>
            <a:off x="1016000" y="7620000"/>
            <a:ext cx="4064000" cy="440309"/>
          </a:xfrm>
          <a:prstGeom prst="rect">
            <a:avLst/>
          </a:prstGeom>
          <a:noFill/>
          <a:ln/>
        </p:spPr>
      </p:sp>
      <p:sp>
        <p:nvSpPr>
          <p:cNvPr id="37" name="Text 34"/>
          <p:cNvSpPr/>
          <p:nvPr/>
        </p:nvSpPr>
        <p:spPr>
          <a:xfrm>
            <a:off x="894080" y="7559040"/>
            <a:ext cx="4307840" cy="562229"/>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不确定性</a:t>
            </a:r>
            <a:endParaRPr lang="en-US" sz="2130" dirty="0"/>
          </a:p>
        </p:txBody>
      </p:sp>
      <p:sp>
        <p:nvSpPr>
          <p:cNvPr id="38" name="Shape 35"/>
          <p:cNvSpPr/>
          <p:nvPr/>
        </p:nvSpPr>
        <p:spPr>
          <a:xfrm>
            <a:off x="1016000" y="8161909"/>
            <a:ext cx="4064000" cy="2438400"/>
          </a:xfrm>
          <a:prstGeom prst="rect">
            <a:avLst/>
          </a:prstGeom>
          <a:noFill/>
          <a:ln/>
        </p:spPr>
      </p:sp>
      <p:sp>
        <p:nvSpPr>
          <p:cNvPr id="39" name="Text 36"/>
          <p:cNvSpPr/>
          <p:nvPr/>
        </p:nvSpPr>
        <p:spPr>
          <a:xfrm>
            <a:off x="894080" y="8100949"/>
            <a:ext cx="4307840" cy="2560320"/>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风险的发生具有不确定性，可能发生也可能不发生，难以准确预测。</a:t>
            </a:r>
            <a:endParaRPr lang="en-US" sz="2000" dirty="0"/>
          </a:p>
        </p:txBody>
      </p:sp>
      <p:sp>
        <p:nvSpPr>
          <p:cNvPr id="40" name="Shape 37"/>
          <p:cNvSpPr/>
          <p:nvPr/>
        </p:nvSpPr>
        <p:spPr>
          <a:xfrm>
            <a:off x="5757291" y="6637909"/>
            <a:ext cx="4741291" cy="4199509"/>
          </a:xfrm>
          <a:prstGeom prst="roundRect">
            <a:avLst>
              <a:gd name="adj" fmla="val 4000"/>
            </a:avLst>
          </a:prstGeom>
          <a:solidFill>
            <a:srgbClr val="F5F5F5"/>
          </a:solidFill>
          <a:ln/>
        </p:spPr>
      </p:sp>
      <p:sp>
        <p:nvSpPr>
          <p:cNvPr id="41" name="Shape 38"/>
          <p:cNvSpPr/>
          <p:nvPr/>
        </p:nvSpPr>
        <p:spPr>
          <a:xfrm>
            <a:off x="6096000" y="6908800"/>
            <a:ext cx="541909" cy="541909"/>
          </a:xfrm>
          <a:custGeom>
            <a:avLst/>
            <a:gdLst/>
            <a:ahLst/>
            <a:cxnLst/>
            <a:rect l="l" t="t" r="r" b="b"/>
            <a:pathLst>
              <a:path w="541909" h="541909">
                <a:moveTo>
                  <a:pt x="270955" y="-16935"/>
                </a:moveTo>
                <a:cubicBezTo>
                  <a:pt x="287606" y="-16935"/>
                  <a:pt x="301061" y="-1799"/>
                  <a:pt x="301061" y="16935"/>
                </a:cubicBezTo>
                <a:lnTo>
                  <a:pt x="301061" y="36304"/>
                </a:lnTo>
                <a:cubicBezTo>
                  <a:pt x="393355" y="51121"/>
                  <a:pt x="466362" y="133254"/>
                  <a:pt x="479533" y="237085"/>
                </a:cubicBezTo>
                <a:lnTo>
                  <a:pt x="496749" y="237085"/>
                </a:lnTo>
                <a:cubicBezTo>
                  <a:pt x="513403" y="237085"/>
                  <a:pt x="526856" y="252221"/>
                  <a:pt x="526856" y="270955"/>
                </a:cubicBezTo>
                <a:cubicBezTo>
                  <a:pt x="526856" y="289688"/>
                  <a:pt x="513403" y="304824"/>
                  <a:pt x="496749" y="304824"/>
                </a:cubicBezTo>
                <a:lnTo>
                  <a:pt x="479533" y="304824"/>
                </a:lnTo>
                <a:cubicBezTo>
                  <a:pt x="466362" y="408655"/>
                  <a:pt x="393355" y="490788"/>
                  <a:pt x="301061" y="505605"/>
                </a:cubicBezTo>
                <a:lnTo>
                  <a:pt x="301061" y="524974"/>
                </a:lnTo>
                <a:cubicBezTo>
                  <a:pt x="301061" y="543708"/>
                  <a:pt x="287606" y="558844"/>
                  <a:pt x="270955" y="558844"/>
                </a:cubicBezTo>
                <a:cubicBezTo>
                  <a:pt x="254303" y="558844"/>
                  <a:pt x="240848" y="543708"/>
                  <a:pt x="240848" y="524974"/>
                </a:cubicBezTo>
                <a:lnTo>
                  <a:pt x="240848" y="505605"/>
                </a:lnTo>
                <a:cubicBezTo>
                  <a:pt x="148554" y="490788"/>
                  <a:pt x="75547" y="408655"/>
                  <a:pt x="62376" y="304824"/>
                </a:cubicBezTo>
                <a:lnTo>
                  <a:pt x="45160" y="304824"/>
                </a:lnTo>
                <a:cubicBezTo>
                  <a:pt x="28506" y="304824"/>
                  <a:pt x="15053" y="289688"/>
                  <a:pt x="15053" y="270955"/>
                </a:cubicBezTo>
                <a:cubicBezTo>
                  <a:pt x="15053" y="252221"/>
                  <a:pt x="28506" y="237085"/>
                  <a:pt x="45160" y="237085"/>
                </a:cubicBezTo>
                <a:lnTo>
                  <a:pt x="62376" y="237085"/>
                </a:lnTo>
                <a:cubicBezTo>
                  <a:pt x="75547" y="133254"/>
                  <a:pt x="148554" y="51121"/>
                  <a:pt x="240848" y="36304"/>
                </a:cubicBezTo>
                <a:lnTo>
                  <a:pt x="240848" y="16935"/>
                </a:lnTo>
                <a:cubicBezTo>
                  <a:pt x="240848" y="-1799"/>
                  <a:pt x="254303" y="-16935"/>
                  <a:pt x="270955" y="-16935"/>
                </a:cubicBezTo>
                <a:close/>
                <a:moveTo>
                  <a:pt x="123435" y="304824"/>
                </a:moveTo>
                <a:cubicBezTo>
                  <a:pt x="135383" y="371186"/>
                  <a:pt x="181860" y="423472"/>
                  <a:pt x="240848" y="436914"/>
                </a:cubicBezTo>
                <a:lnTo>
                  <a:pt x="240848" y="423366"/>
                </a:lnTo>
                <a:cubicBezTo>
                  <a:pt x="240848" y="404633"/>
                  <a:pt x="254303" y="389497"/>
                  <a:pt x="270955" y="389497"/>
                </a:cubicBezTo>
                <a:cubicBezTo>
                  <a:pt x="287606" y="389497"/>
                  <a:pt x="301061" y="404633"/>
                  <a:pt x="301061" y="423366"/>
                </a:cubicBezTo>
                <a:lnTo>
                  <a:pt x="301061" y="436914"/>
                </a:lnTo>
                <a:cubicBezTo>
                  <a:pt x="360049" y="423472"/>
                  <a:pt x="406526" y="371186"/>
                  <a:pt x="418474" y="304824"/>
                </a:cubicBezTo>
                <a:lnTo>
                  <a:pt x="406432" y="304824"/>
                </a:lnTo>
                <a:cubicBezTo>
                  <a:pt x="389780" y="304824"/>
                  <a:pt x="376325" y="289688"/>
                  <a:pt x="376325" y="270955"/>
                </a:cubicBezTo>
                <a:cubicBezTo>
                  <a:pt x="376325" y="252221"/>
                  <a:pt x="389780" y="237085"/>
                  <a:pt x="406432" y="237085"/>
                </a:cubicBezTo>
                <a:lnTo>
                  <a:pt x="418474" y="237085"/>
                </a:lnTo>
                <a:cubicBezTo>
                  <a:pt x="406526" y="170723"/>
                  <a:pt x="360049" y="118437"/>
                  <a:pt x="301061" y="104995"/>
                </a:cubicBezTo>
                <a:lnTo>
                  <a:pt x="301061" y="118543"/>
                </a:lnTo>
                <a:cubicBezTo>
                  <a:pt x="301061" y="137276"/>
                  <a:pt x="287606" y="152412"/>
                  <a:pt x="270955" y="152412"/>
                </a:cubicBezTo>
                <a:cubicBezTo>
                  <a:pt x="254303" y="152412"/>
                  <a:pt x="240848" y="137276"/>
                  <a:pt x="240848" y="118543"/>
                </a:cubicBezTo>
                <a:lnTo>
                  <a:pt x="240848" y="104995"/>
                </a:lnTo>
                <a:cubicBezTo>
                  <a:pt x="181860" y="118437"/>
                  <a:pt x="135383" y="170723"/>
                  <a:pt x="123435" y="237085"/>
                </a:cubicBezTo>
                <a:lnTo>
                  <a:pt x="135477" y="237085"/>
                </a:lnTo>
                <a:cubicBezTo>
                  <a:pt x="152129" y="237085"/>
                  <a:pt x="165584" y="252221"/>
                  <a:pt x="165584" y="270955"/>
                </a:cubicBezTo>
                <a:cubicBezTo>
                  <a:pt x="165584" y="289688"/>
                  <a:pt x="152129" y="304824"/>
                  <a:pt x="135477" y="304824"/>
                </a:cubicBezTo>
                <a:lnTo>
                  <a:pt x="123435" y="304824"/>
                </a:lnTo>
                <a:close/>
                <a:moveTo>
                  <a:pt x="270955" y="220151"/>
                </a:moveTo>
                <a:cubicBezTo>
                  <a:pt x="295879" y="220151"/>
                  <a:pt x="316114" y="242915"/>
                  <a:pt x="316114" y="270955"/>
                </a:cubicBezTo>
                <a:cubicBezTo>
                  <a:pt x="316114" y="298994"/>
                  <a:pt x="295879" y="321758"/>
                  <a:pt x="270955" y="321758"/>
                </a:cubicBezTo>
                <a:cubicBezTo>
                  <a:pt x="246030" y="321758"/>
                  <a:pt x="225795" y="298994"/>
                  <a:pt x="225795" y="270955"/>
                </a:cubicBezTo>
                <a:cubicBezTo>
                  <a:pt x="225795" y="242915"/>
                  <a:pt x="246030" y="220151"/>
                  <a:pt x="270955" y="220151"/>
                </a:cubicBezTo>
                <a:close/>
              </a:path>
            </a:pathLst>
          </a:custGeom>
          <a:solidFill>
            <a:srgbClr val="5B9BD5"/>
          </a:solidFill>
          <a:ln/>
        </p:spPr>
      </p:sp>
      <p:sp>
        <p:nvSpPr>
          <p:cNvPr id="42" name="Shape 39"/>
          <p:cNvSpPr/>
          <p:nvPr/>
        </p:nvSpPr>
        <p:spPr>
          <a:xfrm>
            <a:off x="6096000" y="7620000"/>
            <a:ext cx="4064000" cy="440309"/>
          </a:xfrm>
          <a:prstGeom prst="rect">
            <a:avLst/>
          </a:prstGeom>
          <a:noFill/>
          <a:ln/>
        </p:spPr>
      </p:sp>
      <p:sp>
        <p:nvSpPr>
          <p:cNvPr id="43" name="Text 40"/>
          <p:cNvSpPr/>
          <p:nvPr/>
        </p:nvSpPr>
        <p:spPr>
          <a:xfrm>
            <a:off x="5974080" y="7559040"/>
            <a:ext cx="4307840" cy="562229"/>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影响目标</a:t>
            </a:r>
            <a:endParaRPr lang="en-US" sz="2130" dirty="0"/>
          </a:p>
        </p:txBody>
      </p:sp>
      <p:sp>
        <p:nvSpPr>
          <p:cNvPr id="44" name="Shape 41"/>
          <p:cNvSpPr/>
          <p:nvPr/>
        </p:nvSpPr>
        <p:spPr>
          <a:xfrm>
            <a:off x="6096000" y="8161909"/>
            <a:ext cx="4064000" cy="2438400"/>
          </a:xfrm>
          <a:prstGeom prst="rect">
            <a:avLst/>
          </a:prstGeom>
          <a:noFill/>
          <a:ln/>
        </p:spPr>
      </p:sp>
      <p:sp>
        <p:nvSpPr>
          <p:cNvPr id="45" name="Text 42"/>
          <p:cNvSpPr/>
          <p:nvPr/>
        </p:nvSpPr>
        <p:spPr>
          <a:xfrm>
            <a:off x="5974080" y="8100949"/>
            <a:ext cx="4307840" cy="2560320"/>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风险会对项目目标产生影响，可能导致进度延误、成本超支或质量下降。</a:t>
            </a:r>
            <a:endParaRPr lang="en-US" sz="2000" dirty="0"/>
          </a:p>
        </p:txBody>
      </p:sp>
      <p:sp>
        <p:nvSpPr>
          <p:cNvPr id="46" name="Shape 43"/>
          <p:cNvSpPr/>
          <p:nvPr/>
        </p:nvSpPr>
        <p:spPr>
          <a:xfrm>
            <a:off x="10837291" y="6637909"/>
            <a:ext cx="4741291" cy="4199509"/>
          </a:xfrm>
          <a:prstGeom prst="roundRect">
            <a:avLst>
              <a:gd name="adj" fmla="val 4000"/>
            </a:avLst>
          </a:prstGeom>
          <a:solidFill>
            <a:srgbClr val="F5F5F5"/>
          </a:solidFill>
          <a:ln/>
        </p:spPr>
      </p:sp>
      <p:sp>
        <p:nvSpPr>
          <p:cNvPr id="47" name="Shape 44"/>
          <p:cNvSpPr/>
          <p:nvPr/>
        </p:nvSpPr>
        <p:spPr>
          <a:xfrm>
            <a:off x="11176000" y="6908800"/>
            <a:ext cx="541909" cy="541909"/>
          </a:xfrm>
          <a:custGeom>
            <a:avLst/>
            <a:gdLst/>
            <a:ahLst/>
            <a:cxnLst/>
            <a:rect l="l" t="t" r="r" b="b"/>
            <a:pathLst>
              <a:path w="541909" h="541909">
                <a:moveTo>
                  <a:pt x="270955" y="0"/>
                </a:moveTo>
                <a:cubicBezTo>
                  <a:pt x="420498" y="0"/>
                  <a:pt x="541909" y="121411"/>
                  <a:pt x="541909" y="270955"/>
                </a:cubicBezTo>
                <a:cubicBezTo>
                  <a:pt x="541909" y="420498"/>
                  <a:pt x="420498" y="541909"/>
                  <a:pt x="270955" y="541909"/>
                </a:cubicBezTo>
                <a:cubicBezTo>
                  <a:pt x="121411" y="541909"/>
                  <a:pt x="0" y="420498"/>
                  <a:pt x="0" y="270955"/>
                </a:cubicBezTo>
                <a:cubicBezTo>
                  <a:pt x="0" y="121411"/>
                  <a:pt x="121411" y="0"/>
                  <a:pt x="270955" y="0"/>
                </a:cubicBezTo>
                <a:close/>
                <a:moveTo>
                  <a:pt x="245553" y="127010"/>
                </a:moveTo>
                <a:lnTo>
                  <a:pt x="245553" y="270955"/>
                </a:lnTo>
                <a:cubicBezTo>
                  <a:pt x="245553" y="279422"/>
                  <a:pt x="249786" y="287360"/>
                  <a:pt x="256877" y="292123"/>
                </a:cubicBezTo>
                <a:lnTo>
                  <a:pt x="358485" y="359861"/>
                </a:lnTo>
                <a:cubicBezTo>
                  <a:pt x="370128" y="367694"/>
                  <a:pt x="385898" y="364519"/>
                  <a:pt x="393731" y="352770"/>
                </a:cubicBezTo>
                <a:cubicBezTo>
                  <a:pt x="401563" y="341021"/>
                  <a:pt x="398388" y="325357"/>
                  <a:pt x="386640" y="317525"/>
                </a:cubicBezTo>
                <a:lnTo>
                  <a:pt x="296356" y="257407"/>
                </a:lnTo>
                <a:lnTo>
                  <a:pt x="296356" y="127010"/>
                </a:lnTo>
                <a:cubicBezTo>
                  <a:pt x="296356" y="112933"/>
                  <a:pt x="285032" y="101608"/>
                  <a:pt x="270955" y="101608"/>
                </a:cubicBezTo>
                <a:cubicBezTo>
                  <a:pt x="256877" y="101608"/>
                  <a:pt x="245553" y="112933"/>
                  <a:pt x="245553" y="127010"/>
                </a:cubicBezTo>
                <a:close/>
              </a:path>
            </a:pathLst>
          </a:custGeom>
          <a:solidFill>
            <a:srgbClr val="2E86C1"/>
          </a:solidFill>
          <a:ln/>
        </p:spPr>
      </p:sp>
      <p:sp>
        <p:nvSpPr>
          <p:cNvPr id="48" name="Shape 45"/>
          <p:cNvSpPr/>
          <p:nvPr/>
        </p:nvSpPr>
        <p:spPr>
          <a:xfrm>
            <a:off x="11176000" y="7620000"/>
            <a:ext cx="4064000" cy="440309"/>
          </a:xfrm>
          <a:prstGeom prst="rect">
            <a:avLst/>
          </a:prstGeom>
          <a:noFill/>
          <a:ln/>
        </p:spPr>
      </p:sp>
      <p:sp>
        <p:nvSpPr>
          <p:cNvPr id="49" name="Text 46"/>
          <p:cNvSpPr/>
          <p:nvPr/>
        </p:nvSpPr>
        <p:spPr>
          <a:xfrm>
            <a:off x="11054080" y="7559040"/>
            <a:ext cx="4307840" cy="562229"/>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全生命周期</a:t>
            </a:r>
            <a:endParaRPr lang="en-US" sz="2130" dirty="0"/>
          </a:p>
        </p:txBody>
      </p:sp>
      <p:sp>
        <p:nvSpPr>
          <p:cNvPr id="50" name="Shape 47"/>
          <p:cNvSpPr/>
          <p:nvPr/>
        </p:nvSpPr>
        <p:spPr>
          <a:xfrm>
            <a:off x="11176000" y="8161909"/>
            <a:ext cx="4064000" cy="2438400"/>
          </a:xfrm>
          <a:prstGeom prst="rect">
            <a:avLst/>
          </a:prstGeom>
          <a:noFill/>
          <a:ln/>
        </p:spPr>
      </p:sp>
      <p:sp>
        <p:nvSpPr>
          <p:cNvPr id="51" name="Text 48"/>
          <p:cNvSpPr/>
          <p:nvPr/>
        </p:nvSpPr>
        <p:spPr>
          <a:xfrm>
            <a:off x="11054080" y="8100949"/>
            <a:ext cx="4307840" cy="2560320"/>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风险在项目全生命周期中存在，从启动到收尾各阶段都可能出现新风险。</a:t>
            </a:r>
            <a:endParaRPr lang="en-US" sz="2000" dirty="0"/>
          </a:p>
        </p:txBody>
      </p:sp>
      <p:sp>
        <p:nvSpPr>
          <p:cNvPr id="52" name="Shape 49"/>
          <p:cNvSpPr/>
          <p:nvPr/>
        </p:nvSpPr>
        <p:spPr>
          <a:xfrm>
            <a:off x="15917291" y="6637909"/>
            <a:ext cx="5080000" cy="4199509"/>
          </a:xfrm>
          <a:prstGeom prst="roundRect">
            <a:avLst>
              <a:gd name="adj" fmla="val 4000"/>
            </a:avLst>
          </a:prstGeom>
          <a:solidFill>
            <a:srgbClr val="F5F5F5"/>
          </a:solidFill>
          <a:ln/>
        </p:spPr>
      </p:sp>
      <p:sp>
        <p:nvSpPr>
          <p:cNvPr id="53" name="Shape 50"/>
          <p:cNvSpPr/>
          <p:nvPr/>
        </p:nvSpPr>
        <p:spPr>
          <a:xfrm>
            <a:off x="16256000" y="6908800"/>
            <a:ext cx="541909" cy="541909"/>
          </a:xfrm>
          <a:custGeom>
            <a:avLst/>
            <a:gdLst/>
            <a:ahLst/>
            <a:cxnLst/>
            <a:rect l="l" t="t" r="r" b="b"/>
            <a:pathLst>
              <a:path w="541909" h="541909">
                <a:moveTo>
                  <a:pt x="325145" y="33869"/>
                </a:moveTo>
                <a:lnTo>
                  <a:pt x="433527" y="33869"/>
                </a:lnTo>
                <a:cubicBezTo>
                  <a:pt x="448515" y="33869"/>
                  <a:pt x="460623" y="49005"/>
                  <a:pt x="460623" y="67739"/>
                </a:cubicBezTo>
                <a:cubicBezTo>
                  <a:pt x="460623" y="86472"/>
                  <a:pt x="448515" y="101608"/>
                  <a:pt x="433527" y="101608"/>
                </a:cubicBezTo>
                <a:lnTo>
                  <a:pt x="337338" y="101608"/>
                </a:lnTo>
                <a:cubicBezTo>
                  <a:pt x="332935" y="128915"/>
                  <a:pt x="317949" y="151460"/>
                  <a:pt x="298050" y="162255"/>
                </a:cubicBezTo>
                <a:lnTo>
                  <a:pt x="298050" y="474170"/>
                </a:lnTo>
                <a:lnTo>
                  <a:pt x="433527" y="474170"/>
                </a:lnTo>
                <a:cubicBezTo>
                  <a:pt x="448515" y="474170"/>
                  <a:pt x="460623" y="489306"/>
                  <a:pt x="460623" y="508040"/>
                </a:cubicBezTo>
                <a:cubicBezTo>
                  <a:pt x="460623" y="526773"/>
                  <a:pt x="448515" y="541909"/>
                  <a:pt x="433527" y="541909"/>
                </a:cubicBezTo>
                <a:lnTo>
                  <a:pt x="108382" y="541909"/>
                </a:lnTo>
                <a:cubicBezTo>
                  <a:pt x="93395" y="541909"/>
                  <a:pt x="81286" y="526773"/>
                  <a:pt x="81286" y="508040"/>
                </a:cubicBezTo>
                <a:cubicBezTo>
                  <a:pt x="81286" y="489306"/>
                  <a:pt x="93395" y="474170"/>
                  <a:pt x="108382" y="474170"/>
                </a:cubicBezTo>
                <a:lnTo>
                  <a:pt x="243859" y="474170"/>
                </a:lnTo>
                <a:lnTo>
                  <a:pt x="243859" y="162255"/>
                </a:lnTo>
                <a:cubicBezTo>
                  <a:pt x="223961" y="151353"/>
                  <a:pt x="208974" y="128809"/>
                  <a:pt x="204571" y="101608"/>
                </a:cubicBezTo>
                <a:lnTo>
                  <a:pt x="108382" y="101608"/>
                </a:lnTo>
                <a:cubicBezTo>
                  <a:pt x="93395" y="101608"/>
                  <a:pt x="81286" y="86472"/>
                  <a:pt x="81286" y="67739"/>
                </a:cubicBezTo>
                <a:cubicBezTo>
                  <a:pt x="81286" y="49005"/>
                  <a:pt x="93395" y="33869"/>
                  <a:pt x="108382" y="33869"/>
                </a:cubicBezTo>
                <a:lnTo>
                  <a:pt x="216764" y="33869"/>
                </a:lnTo>
                <a:cubicBezTo>
                  <a:pt x="229126" y="13336"/>
                  <a:pt x="248770" y="0"/>
                  <a:pt x="270955" y="0"/>
                </a:cubicBezTo>
                <a:cubicBezTo>
                  <a:pt x="293139" y="0"/>
                  <a:pt x="312783" y="13336"/>
                  <a:pt x="325145" y="33869"/>
                </a:cubicBezTo>
                <a:close/>
                <a:moveTo>
                  <a:pt x="372224" y="338693"/>
                </a:moveTo>
                <a:lnTo>
                  <a:pt x="494831" y="338693"/>
                </a:lnTo>
                <a:lnTo>
                  <a:pt x="433527" y="207238"/>
                </a:lnTo>
                <a:lnTo>
                  <a:pt x="372224" y="338693"/>
                </a:lnTo>
                <a:close/>
                <a:moveTo>
                  <a:pt x="433527" y="440301"/>
                </a:moveTo>
                <a:cubicBezTo>
                  <a:pt x="380268" y="440301"/>
                  <a:pt x="335984" y="404316"/>
                  <a:pt x="326839" y="356792"/>
                </a:cubicBezTo>
                <a:cubicBezTo>
                  <a:pt x="324637" y="345150"/>
                  <a:pt x="327686" y="333190"/>
                  <a:pt x="332513" y="322817"/>
                </a:cubicBezTo>
                <a:lnTo>
                  <a:pt x="413122" y="150084"/>
                </a:lnTo>
                <a:cubicBezTo>
                  <a:pt x="417355" y="140982"/>
                  <a:pt x="425145" y="135477"/>
                  <a:pt x="433527" y="135477"/>
                </a:cubicBezTo>
                <a:cubicBezTo>
                  <a:pt x="441911" y="135477"/>
                  <a:pt x="449700" y="141087"/>
                  <a:pt x="453934" y="150084"/>
                </a:cubicBezTo>
                <a:lnTo>
                  <a:pt x="534543" y="322817"/>
                </a:lnTo>
                <a:cubicBezTo>
                  <a:pt x="539369" y="333190"/>
                  <a:pt x="542417" y="345150"/>
                  <a:pt x="540216" y="356792"/>
                </a:cubicBezTo>
                <a:cubicBezTo>
                  <a:pt x="531071" y="404209"/>
                  <a:pt x="486787" y="440301"/>
                  <a:pt x="433527" y="440301"/>
                </a:cubicBezTo>
                <a:close/>
                <a:moveTo>
                  <a:pt x="107366" y="207238"/>
                </a:moveTo>
                <a:lnTo>
                  <a:pt x="46062" y="338693"/>
                </a:lnTo>
                <a:lnTo>
                  <a:pt x="168755" y="338693"/>
                </a:lnTo>
                <a:lnTo>
                  <a:pt x="107366" y="207238"/>
                </a:lnTo>
                <a:close/>
                <a:moveTo>
                  <a:pt x="763" y="356792"/>
                </a:moveTo>
                <a:cubicBezTo>
                  <a:pt x="-1440" y="345150"/>
                  <a:pt x="1609" y="333190"/>
                  <a:pt x="6435" y="322817"/>
                </a:cubicBezTo>
                <a:lnTo>
                  <a:pt x="87044" y="150084"/>
                </a:lnTo>
                <a:cubicBezTo>
                  <a:pt x="91278" y="140982"/>
                  <a:pt x="99068" y="135477"/>
                  <a:pt x="107451" y="135477"/>
                </a:cubicBezTo>
                <a:cubicBezTo>
                  <a:pt x="115833" y="135477"/>
                  <a:pt x="123623" y="141087"/>
                  <a:pt x="127857" y="150084"/>
                </a:cubicBezTo>
                <a:lnTo>
                  <a:pt x="208466" y="322817"/>
                </a:lnTo>
                <a:cubicBezTo>
                  <a:pt x="213293" y="333190"/>
                  <a:pt x="216341" y="345150"/>
                  <a:pt x="214139" y="356792"/>
                </a:cubicBezTo>
                <a:cubicBezTo>
                  <a:pt x="204993" y="404209"/>
                  <a:pt x="160710" y="440301"/>
                  <a:pt x="107451" y="440301"/>
                </a:cubicBezTo>
                <a:cubicBezTo>
                  <a:pt x="54191" y="440301"/>
                  <a:pt x="9906" y="404316"/>
                  <a:pt x="763" y="356792"/>
                </a:cubicBezTo>
                <a:close/>
              </a:path>
            </a:pathLst>
          </a:custGeom>
          <a:solidFill>
            <a:srgbClr val="455A64"/>
          </a:solidFill>
          <a:ln/>
        </p:spPr>
      </p:sp>
      <p:sp>
        <p:nvSpPr>
          <p:cNvPr id="54" name="Shape 51"/>
          <p:cNvSpPr/>
          <p:nvPr/>
        </p:nvSpPr>
        <p:spPr>
          <a:xfrm>
            <a:off x="16256000" y="7620000"/>
            <a:ext cx="4402709" cy="440309"/>
          </a:xfrm>
          <a:prstGeom prst="rect">
            <a:avLst/>
          </a:prstGeom>
          <a:noFill/>
          <a:ln/>
        </p:spPr>
      </p:sp>
      <p:sp>
        <p:nvSpPr>
          <p:cNvPr id="55" name="Text 52"/>
          <p:cNvSpPr/>
          <p:nvPr/>
        </p:nvSpPr>
        <p:spPr>
          <a:xfrm>
            <a:off x="16134080" y="7559040"/>
            <a:ext cx="4646549" cy="562229"/>
          </a:xfrm>
          <a:prstGeom prst="rect">
            <a:avLst/>
          </a:prstGeom>
          <a:noFill/>
          <a:ln/>
        </p:spPr>
        <p:txBody>
          <a:bodyPr wrap="none" lIns="0" tIns="0" rIns="0" bIns="0" rtlCol="0" anchor="t"/>
          <a:lstStyle/>
          <a:p>
            <a:pPr algn="l">
              <a:lnSpc>
                <a:spcPct val="120000"/>
              </a:lnSpc>
            </a:pPr>
            <a:r>
              <a:rPr lang="en-US" sz="2130" b="1" dirty="0">
                <a:solidFill>
                  <a:srgbClr val="1A4A7A"/>
                </a:solidFill>
                <a:latin typeface="Quattrocento Sans" pitchFamily="34" charset="0"/>
                <a:ea typeface="Quattrocento Sans" pitchFamily="34" charset="-122"/>
                <a:cs typeface="Quattrocento Sans" pitchFamily="34" charset="-120"/>
              </a:rPr>
              <a:t>可变性</a:t>
            </a:r>
            <a:endParaRPr lang="en-US" sz="2130" dirty="0"/>
          </a:p>
        </p:txBody>
      </p:sp>
      <p:sp>
        <p:nvSpPr>
          <p:cNvPr id="56" name="Shape 53"/>
          <p:cNvSpPr/>
          <p:nvPr/>
        </p:nvSpPr>
        <p:spPr>
          <a:xfrm>
            <a:off x="16256000" y="8161909"/>
            <a:ext cx="4402709" cy="2438400"/>
          </a:xfrm>
          <a:prstGeom prst="rect">
            <a:avLst/>
          </a:prstGeom>
          <a:noFill/>
          <a:ln/>
        </p:spPr>
      </p:sp>
      <p:sp>
        <p:nvSpPr>
          <p:cNvPr id="57" name="Text 54"/>
          <p:cNvSpPr/>
          <p:nvPr/>
        </p:nvSpPr>
        <p:spPr>
          <a:xfrm>
            <a:off x="16134080" y="8100949"/>
            <a:ext cx="4646549" cy="2560320"/>
          </a:xfrm>
          <a:prstGeom prst="rect">
            <a:avLst/>
          </a:prstGeom>
          <a:noFill/>
          <a:ln/>
        </p:spPr>
        <p:txBody>
          <a:bodyPr wrap="square" lIns="0" tIns="0" rIns="0" bIns="0" rtlCol="0" anchor="t"/>
          <a:lstStyle/>
          <a:p>
            <a:pPr algn="l">
              <a:lnSpc>
                <a:spcPct val="160000"/>
              </a:lnSpc>
            </a:pPr>
            <a:r>
              <a:rPr lang="en-US" sz="2000" dirty="0">
                <a:solidFill>
                  <a:srgbClr val="2C2C2C"/>
                </a:solidFill>
                <a:latin typeface="Quattrocento Sans" pitchFamily="34" charset="0"/>
                <a:ea typeface="Quattrocento Sans" pitchFamily="34" charset="-122"/>
                <a:cs typeface="Quattrocento Sans" pitchFamily="34" charset="-120"/>
              </a:rPr>
              <a:t>风险的概率和影响可能随时间和条件变化，需持续监控和动态管理。</a:t>
            </a:r>
            <a:endParaRPr lang="en-US" sz="2000" dirty="0"/>
          </a:p>
        </p:txBody>
      </p:sp>
      <p:sp>
        <p:nvSpPr>
          <p:cNvPr id="58" name="Shape 55"/>
          <p:cNvSpPr/>
          <p:nvPr/>
        </p:nvSpPr>
        <p:spPr>
          <a:xfrm>
            <a:off x="20320000" y="11514709"/>
            <a:ext cx="846709" cy="406400"/>
          </a:xfrm>
          <a:prstGeom prst="rect">
            <a:avLst/>
          </a:prstGeom>
          <a:noFill/>
          <a:ln/>
        </p:spPr>
      </p:sp>
      <p:sp>
        <p:nvSpPr>
          <p:cNvPr id="59" name="Text 5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25</a:t>
            </a:r>
            <a:endParaRPr lang="en-US" sz="187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9FC"/>
        </a:solidFill>
        <a:effectLst/>
      </p:bgPr>
    </p:bg>
    <p:spTree>
      <p:nvGrpSpPr>
        <p:cNvPr id="1" name=""/>
        <p:cNvGrpSpPr/>
        <p:nvPr/>
      </p:nvGrpSpPr>
      <p:grpSpPr>
        <a:xfrm>
          <a:off x="0" y="0"/>
          <a:ext cx="0" cy="0"/>
          <a:chOff x="0" y="0"/>
          <a:chExt cx="0" cy="0"/>
        </a:xfrm>
      </p:grpSpPr>
      <p:sp>
        <p:nvSpPr>
          <p:cNvPr id="3" name="Shape 0"/>
          <p:cNvSpPr/>
          <p:nvPr/>
        </p:nvSpPr>
        <p:spPr>
          <a:xfrm>
            <a:off x="0" y="0"/>
            <a:ext cx="101600" cy="12192000"/>
          </a:xfrm>
          <a:prstGeom prst="rect">
            <a:avLst/>
          </a:prstGeom>
          <a:solidFill>
            <a:srgbClr val="1A4A7A"/>
          </a:solidFill>
          <a:ln/>
        </p:spPr>
      </p:sp>
      <p:sp>
        <p:nvSpPr>
          <p:cNvPr id="4" name="Shape 1"/>
          <p:cNvSpPr/>
          <p:nvPr/>
        </p:nvSpPr>
        <p:spPr>
          <a:xfrm>
            <a:off x="0" y="0"/>
            <a:ext cx="21674709" cy="50800"/>
          </a:xfrm>
          <a:prstGeom prst="rect">
            <a:avLst/>
          </a:prstGeom>
          <a:solidFill>
            <a:srgbClr val="1A4A7A"/>
          </a:solidFill>
          <a:ln/>
        </p:spPr>
      </p:sp>
      <p:sp>
        <p:nvSpPr>
          <p:cNvPr id="5" name="Shape 2"/>
          <p:cNvSpPr/>
          <p:nvPr/>
        </p:nvSpPr>
        <p:spPr>
          <a:xfrm>
            <a:off x="15240000" y="270891"/>
            <a:ext cx="5757291" cy="372491"/>
          </a:xfrm>
          <a:prstGeom prst="rect">
            <a:avLst/>
          </a:prstGeom>
          <a:noFill/>
          <a:ln/>
        </p:spPr>
      </p:sp>
      <p:sp>
        <p:nvSpPr>
          <p:cNvPr id="6" name="Text 3"/>
          <p:cNvSpPr/>
          <p:nvPr/>
        </p:nvSpPr>
        <p:spPr>
          <a:xfrm>
            <a:off x="15118080" y="209931"/>
            <a:ext cx="6001131" cy="494411"/>
          </a:xfrm>
          <a:prstGeom prst="rect">
            <a:avLst/>
          </a:prstGeom>
          <a:noFill/>
          <a:ln/>
        </p:spPr>
        <p:txBody>
          <a:bodyPr wrap="none" lIns="0" tIns="0" rIns="0" bIns="0" rtlCol="0" anchor="ctr"/>
          <a:lstStyle/>
          <a:p>
            <a:pPr algn="r">
              <a:lnSpc>
                <a:spcPct val="120000"/>
              </a:lnSpc>
            </a:pPr>
            <a:r>
              <a:rPr lang="en-US" sz="1600" dirty="0">
                <a:solidFill>
                  <a:srgbClr val="5B9BD5"/>
                </a:solidFill>
                <a:latin typeface="Quattrocento Sans" pitchFamily="34" charset="0"/>
                <a:ea typeface="Quattrocento Sans" pitchFamily="34" charset="-122"/>
                <a:cs typeface="Quattrocento Sans" pitchFamily="34" charset="-120"/>
              </a:rPr>
              <a:t>08 项目风险管理</a:t>
            </a:r>
            <a:endParaRPr lang="en-US" sz="1600" dirty="0"/>
          </a:p>
        </p:txBody>
      </p:sp>
      <p:sp>
        <p:nvSpPr>
          <p:cNvPr id="7" name="Shape 4"/>
          <p:cNvSpPr/>
          <p:nvPr/>
        </p:nvSpPr>
        <p:spPr>
          <a:xfrm>
            <a:off x="677291" y="406400"/>
            <a:ext cx="14224000" cy="609600"/>
          </a:xfrm>
          <a:prstGeom prst="rect">
            <a:avLst/>
          </a:prstGeom>
          <a:noFill/>
          <a:ln/>
        </p:spPr>
      </p:sp>
      <p:sp>
        <p:nvSpPr>
          <p:cNvPr id="8" name="Text 5"/>
          <p:cNvSpPr/>
          <p:nvPr/>
        </p:nvSpPr>
        <p:spPr>
          <a:xfrm>
            <a:off x="555371" y="345440"/>
            <a:ext cx="14467840" cy="731520"/>
          </a:xfrm>
          <a:prstGeom prst="rect">
            <a:avLst/>
          </a:prstGeom>
          <a:noFill/>
          <a:ln/>
        </p:spPr>
        <p:txBody>
          <a:bodyPr wrap="none" lIns="0" tIns="0" rIns="0" bIns="0" rtlCol="0" anchor="ctr"/>
          <a:lstStyle/>
          <a:p>
            <a:pPr algn="l">
              <a:lnSpc>
                <a:spcPct val="120000"/>
              </a:lnSpc>
            </a:pPr>
            <a:r>
              <a:rPr lang="en-US" sz="3470" b="1" dirty="0">
                <a:solidFill>
                  <a:srgbClr val="1A4A7A"/>
                </a:solidFill>
                <a:latin typeface="Quattrocento Sans" pitchFamily="34" charset="0"/>
                <a:ea typeface="Quattrocento Sans" pitchFamily="34" charset="-122"/>
                <a:cs typeface="Quattrocento Sans" pitchFamily="34" charset="-120"/>
              </a:rPr>
              <a:t>风险管理策略</a:t>
            </a:r>
            <a:endParaRPr lang="en-US" sz="3470" dirty="0"/>
          </a:p>
        </p:txBody>
      </p:sp>
      <p:sp>
        <p:nvSpPr>
          <p:cNvPr id="9" name="Shape 6"/>
          <p:cNvSpPr/>
          <p:nvPr/>
        </p:nvSpPr>
        <p:spPr>
          <a:xfrm>
            <a:off x="677291" y="1151509"/>
            <a:ext cx="20320000" cy="16891"/>
          </a:xfrm>
          <a:prstGeom prst="rect">
            <a:avLst/>
          </a:prstGeom>
          <a:solidFill>
            <a:srgbClr val="E0E0E0"/>
          </a:solidFill>
          <a:ln/>
        </p:spPr>
      </p:sp>
      <p:sp>
        <p:nvSpPr>
          <p:cNvPr id="10" name="Shape 7"/>
          <p:cNvSpPr/>
          <p:nvPr/>
        </p:nvSpPr>
        <p:spPr>
          <a:xfrm>
            <a:off x="677291" y="1456309"/>
            <a:ext cx="9821291" cy="4572000"/>
          </a:xfrm>
          <a:prstGeom prst="roundRect">
            <a:avLst>
              <a:gd name="adj" fmla="val 4000"/>
            </a:avLst>
          </a:prstGeom>
          <a:solidFill>
            <a:srgbClr val="1A4A7A"/>
          </a:solidFill>
          <a:ln/>
        </p:spPr>
      </p:sp>
      <p:sp>
        <p:nvSpPr>
          <p:cNvPr id="11" name="Shape 8"/>
          <p:cNvSpPr/>
          <p:nvPr/>
        </p:nvSpPr>
        <p:spPr>
          <a:xfrm>
            <a:off x="948309" y="1659509"/>
            <a:ext cx="9279509" cy="508000"/>
          </a:xfrm>
          <a:prstGeom prst="rect">
            <a:avLst/>
          </a:prstGeom>
          <a:noFill/>
          <a:ln/>
        </p:spPr>
      </p:sp>
      <p:sp>
        <p:nvSpPr>
          <p:cNvPr id="12" name="Text 9"/>
          <p:cNvSpPr/>
          <p:nvPr/>
        </p:nvSpPr>
        <p:spPr>
          <a:xfrm>
            <a:off x="826389" y="1598549"/>
            <a:ext cx="9523349" cy="629920"/>
          </a:xfrm>
          <a:prstGeom prst="rect">
            <a:avLst/>
          </a:prstGeom>
          <a:noFill/>
          <a:ln/>
        </p:spPr>
        <p:txBody>
          <a:bodyPr wrap="none" lIns="0" tIns="0" rIns="0" bIns="0" rtlCol="0" anchor="t"/>
          <a:lstStyle/>
          <a:p>
            <a:pPr algn="l">
              <a:lnSpc>
                <a:spcPct val="120000"/>
              </a:lnSpc>
            </a:pPr>
            <a:r>
              <a:rPr lang="en-US" sz="3730" dirty="0">
                <a:solidFill>
                  <a:srgbClr val="FFFFFF"/>
                </a:solidFill>
                <a:latin typeface="Quattrocento Sans" pitchFamily="34" charset="0"/>
                <a:ea typeface="Quattrocento Sans" pitchFamily="34" charset="-122"/>
                <a:cs typeface="Quattrocento Sans" pitchFamily="34" charset="-120"/>
              </a:rPr>
              <a:t>AVOID</a:t>
            </a:r>
            <a:endParaRPr lang="en-US" sz="3730" dirty="0"/>
          </a:p>
        </p:txBody>
      </p:sp>
      <p:sp>
        <p:nvSpPr>
          <p:cNvPr id="13" name="Shape 10"/>
          <p:cNvSpPr/>
          <p:nvPr/>
        </p:nvSpPr>
        <p:spPr>
          <a:xfrm>
            <a:off x="948309" y="2269109"/>
            <a:ext cx="9279509" cy="474091"/>
          </a:xfrm>
          <a:prstGeom prst="rect">
            <a:avLst/>
          </a:prstGeom>
          <a:noFill/>
          <a:ln/>
        </p:spPr>
      </p:sp>
      <p:sp>
        <p:nvSpPr>
          <p:cNvPr id="14" name="Text 11"/>
          <p:cNvSpPr/>
          <p:nvPr/>
        </p:nvSpPr>
        <p:spPr>
          <a:xfrm>
            <a:off x="826389" y="2208149"/>
            <a:ext cx="9523349" cy="596011"/>
          </a:xfrm>
          <a:prstGeom prst="rect">
            <a:avLst/>
          </a:prstGeom>
          <a:noFill/>
          <a:ln/>
        </p:spPr>
        <p:txBody>
          <a:bodyPr wrap="none" lIns="0" tIns="0" rIns="0" bIns="0" rtlCol="0" anchor="t"/>
          <a:lstStyle/>
          <a:p>
            <a:pPr algn="l">
              <a:lnSpc>
                <a:spcPct val="120000"/>
              </a:lnSpc>
            </a:pPr>
            <a:r>
              <a:rPr lang="en-US" sz="2930" b="1" dirty="0">
                <a:solidFill>
                  <a:srgbClr val="FFFFFF"/>
                </a:solidFill>
                <a:latin typeface="Quattrocento Sans" pitchFamily="34" charset="0"/>
                <a:ea typeface="Quattrocento Sans" pitchFamily="34" charset="-122"/>
                <a:cs typeface="Quattrocento Sans" pitchFamily="34" charset="-120"/>
              </a:rPr>
              <a:t>风险规避</a:t>
            </a:r>
            <a:endParaRPr lang="en-US" sz="2930" dirty="0"/>
          </a:p>
        </p:txBody>
      </p:sp>
      <p:sp>
        <p:nvSpPr>
          <p:cNvPr id="15" name="Shape 12"/>
          <p:cNvSpPr/>
          <p:nvPr/>
        </p:nvSpPr>
        <p:spPr>
          <a:xfrm>
            <a:off x="948309" y="2912491"/>
            <a:ext cx="9279509" cy="2810891"/>
          </a:xfrm>
          <a:prstGeom prst="rect">
            <a:avLst/>
          </a:prstGeom>
          <a:noFill/>
          <a:ln/>
        </p:spPr>
      </p:sp>
      <p:sp>
        <p:nvSpPr>
          <p:cNvPr id="16" name="Text 13"/>
          <p:cNvSpPr/>
          <p:nvPr/>
        </p:nvSpPr>
        <p:spPr>
          <a:xfrm>
            <a:off x="826389" y="2851531"/>
            <a:ext cx="9523349" cy="29328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通过改变项目计划，消除风险条件或保护项目免受风险影响。适用于高风险场景，如取消高风险活动、采用成熟技术替代新技术、改变项目范围等。规避是最彻底的风险应对方式，但可能带来额外成本。</a:t>
            </a:r>
            <a:endParaRPr lang="en-US" sz="2000" dirty="0"/>
          </a:p>
        </p:txBody>
      </p:sp>
      <p:sp>
        <p:nvSpPr>
          <p:cNvPr id="17" name="Shape 14"/>
          <p:cNvSpPr/>
          <p:nvPr/>
        </p:nvSpPr>
        <p:spPr>
          <a:xfrm>
            <a:off x="11176000" y="1456309"/>
            <a:ext cx="9821291" cy="4572000"/>
          </a:xfrm>
          <a:prstGeom prst="roundRect">
            <a:avLst>
              <a:gd name="adj" fmla="val 4000"/>
            </a:avLst>
          </a:prstGeom>
          <a:solidFill>
            <a:srgbClr val="5B9BD5"/>
          </a:solidFill>
          <a:ln/>
        </p:spPr>
      </p:sp>
      <p:sp>
        <p:nvSpPr>
          <p:cNvPr id="18" name="Shape 15"/>
          <p:cNvSpPr/>
          <p:nvPr/>
        </p:nvSpPr>
        <p:spPr>
          <a:xfrm>
            <a:off x="11446891" y="1659509"/>
            <a:ext cx="9279509" cy="508000"/>
          </a:xfrm>
          <a:prstGeom prst="rect">
            <a:avLst/>
          </a:prstGeom>
          <a:noFill/>
          <a:ln/>
        </p:spPr>
      </p:sp>
      <p:sp>
        <p:nvSpPr>
          <p:cNvPr id="19" name="Text 16"/>
          <p:cNvSpPr/>
          <p:nvPr/>
        </p:nvSpPr>
        <p:spPr>
          <a:xfrm>
            <a:off x="11324971" y="1598549"/>
            <a:ext cx="9523349" cy="629920"/>
          </a:xfrm>
          <a:prstGeom prst="rect">
            <a:avLst/>
          </a:prstGeom>
          <a:noFill/>
          <a:ln/>
        </p:spPr>
        <p:txBody>
          <a:bodyPr wrap="none" lIns="0" tIns="0" rIns="0" bIns="0" rtlCol="0" anchor="t"/>
          <a:lstStyle/>
          <a:p>
            <a:pPr algn="l">
              <a:lnSpc>
                <a:spcPct val="120000"/>
              </a:lnSpc>
            </a:pPr>
            <a:r>
              <a:rPr lang="en-US" sz="3730" dirty="0">
                <a:solidFill>
                  <a:srgbClr val="FFFFFF"/>
                </a:solidFill>
                <a:latin typeface="Quattrocento Sans" pitchFamily="34" charset="0"/>
                <a:ea typeface="Quattrocento Sans" pitchFamily="34" charset="-122"/>
                <a:cs typeface="Quattrocento Sans" pitchFamily="34" charset="-120"/>
              </a:rPr>
              <a:t>MITIGATE</a:t>
            </a:r>
            <a:endParaRPr lang="en-US" sz="3730" dirty="0"/>
          </a:p>
        </p:txBody>
      </p:sp>
      <p:sp>
        <p:nvSpPr>
          <p:cNvPr id="20" name="Shape 17"/>
          <p:cNvSpPr/>
          <p:nvPr/>
        </p:nvSpPr>
        <p:spPr>
          <a:xfrm>
            <a:off x="11446891" y="2269109"/>
            <a:ext cx="9279509" cy="474091"/>
          </a:xfrm>
          <a:prstGeom prst="rect">
            <a:avLst/>
          </a:prstGeom>
          <a:noFill/>
          <a:ln/>
        </p:spPr>
      </p:sp>
      <p:sp>
        <p:nvSpPr>
          <p:cNvPr id="21" name="Text 18"/>
          <p:cNvSpPr/>
          <p:nvPr/>
        </p:nvSpPr>
        <p:spPr>
          <a:xfrm>
            <a:off x="11324971" y="2208149"/>
            <a:ext cx="9523349" cy="596011"/>
          </a:xfrm>
          <a:prstGeom prst="rect">
            <a:avLst/>
          </a:prstGeom>
          <a:noFill/>
          <a:ln/>
        </p:spPr>
        <p:txBody>
          <a:bodyPr wrap="none" lIns="0" tIns="0" rIns="0" bIns="0" rtlCol="0" anchor="t"/>
          <a:lstStyle/>
          <a:p>
            <a:pPr algn="l">
              <a:lnSpc>
                <a:spcPct val="120000"/>
              </a:lnSpc>
            </a:pPr>
            <a:r>
              <a:rPr lang="en-US" sz="2930" b="1" dirty="0">
                <a:solidFill>
                  <a:srgbClr val="FFFFFF"/>
                </a:solidFill>
                <a:latin typeface="Quattrocento Sans" pitchFamily="34" charset="0"/>
                <a:ea typeface="Quattrocento Sans" pitchFamily="34" charset="-122"/>
                <a:cs typeface="Quattrocento Sans" pitchFamily="34" charset="-120"/>
              </a:rPr>
              <a:t>风险减轻</a:t>
            </a:r>
            <a:endParaRPr lang="en-US" sz="2930" dirty="0"/>
          </a:p>
        </p:txBody>
      </p:sp>
      <p:sp>
        <p:nvSpPr>
          <p:cNvPr id="22" name="Shape 19"/>
          <p:cNvSpPr/>
          <p:nvPr/>
        </p:nvSpPr>
        <p:spPr>
          <a:xfrm>
            <a:off x="11446891" y="2912491"/>
            <a:ext cx="9279509" cy="2810891"/>
          </a:xfrm>
          <a:prstGeom prst="rect">
            <a:avLst/>
          </a:prstGeom>
          <a:noFill/>
          <a:ln/>
        </p:spPr>
      </p:sp>
      <p:sp>
        <p:nvSpPr>
          <p:cNvPr id="23" name="Text 20"/>
          <p:cNvSpPr/>
          <p:nvPr/>
        </p:nvSpPr>
        <p:spPr>
          <a:xfrm>
            <a:off x="11324971" y="2851531"/>
            <a:ext cx="9523349" cy="29328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降低风险发生的概率或减轻其影响程度，将风险控制在可接受范围内。常用措施包括增加冗余设计、进行更多测试、选择可靠供应商、制定应急预案等。适用于中等风险，是项目中最常用的策略。</a:t>
            </a:r>
            <a:endParaRPr lang="en-US" sz="2000" dirty="0"/>
          </a:p>
        </p:txBody>
      </p:sp>
      <p:sp>
        <p:nvSpPr>
          <p:cNvPr id="24" name="Shape 21"/>
          <p:cNvSpPr/>
          <p:nvPr/>
        </p:nvSpPr>
        <p:spPr>
          <a:xfrm>
            <a:off x="677291" y="6366891"/>
            <a:ext cx="9821291" cy="4572000"/>
          </a:xfrm>
          <a:prstGeom prst="roundRect">
            <a:avLst>
              <a:gd name="adj" fmla="val 4000"/>
            </a:avLst>
          </a:prstGeom>
          <a:solidFill>
            <a:srgbClr val="2E86C1"/>
          </a:solidFill>
          <a:ln/>
        </p:spPr>
      </p:sp>
      <p:sp>
        <p:nvSpPr>
          <p:cNvPr id="25" name="Shape 22"/>
          <p:cNvSpPr/>
          <p:nvPr/>
        </p:nvSpPr>
        <p:spPr>
          <a:xfrm>
            <a:off x="948309" y="6570091"/>
            <a:ext cx="9279509" cy="508000"/>
          </a:xfrm>
          <a:prstGeom prst="rect">
            <a:avLst/>
          </a:prstGeom>
          <a:noFill/>
          <a:ln/>
        </p:spPr>
      </p:sp>
      <p:sp>
        <p:nvSpPr>
          <p:cNvPr id="26" name="Text 23"/>
          <p:cNvSpPr/>
          <p:nvPr/>
        </p:nvSpPr>
        <p:spPr>
          <a:xfrm>
            <a:off x="826389" y="6509131"/>
            <a:ext cx="9523349" cy="629920"/>
          </a:xfrm>
          <a:prstGeom prst="rect">
            <a:avLst/>
          </a:prstGeom>
          <a:noFill/>
          <a:ln/>
        </p:spPr>
        <p:txBody>
          <a:bodyPr wrap="none" lIns="0" tIns="0" rIns="0" bIns="0" rtlCol="0" anchor="t"/>
          <a:lstStyle/>
          <a:p>
            <a:pPr algn="l">
              <a:lnSpc>
                <a:spcPct val="120000"/>
              </a:lnSpc>
            </a:pPr>
            <a:r>
              <a:rPr lang="en-US" sz="3730" dirty="0">
                <a:solidFill>
                  <a:srgbClr val="FFFFFF"/>
                </a:solidFill>
                <a:latin typeface="Quattrocento Sans" pitchFamily="34" charset="0"/>
                <a:ea typeface="Quattrocento Sans" pitchFamily="34" charset="-122"/>
                <a:cs typeface="Quattrocento Sans" pitchFamily="34" charset="-120"/>
              </a:rPr>
              <a:t>TRANSFER</a:t>
            </a:r>
            <a:endParaRPr lang="en-US" sz="3730" dirty="0"/>
          </a:p>
        </p:txBody>
      </p:sp>
      <p:sp>
        <p:nvSpPr>
          <p:cNvPr id="27" name="Shape 24"/>
          <p:cNvSpPr/>
          <p:nvPr/>
        </p:nvSpPr>
        <p:spPr>
          <a:xfrm>
            <a:off x="948309" y="7179691"/>
            <a:ext cx="9279509" cy="474091"/>
          </a:xfrm>
          <a:prstGeom prst="rect">
            <a:avLst/>
          </a:prstGeom>
          <a:noFill/>
          <a:ln/>
        </p:spPr>
      </p:sp>
      <p:sp>
        <p:nvSpPr>
          <p:cNvPr id="28" name="Text 25"/>
          <p:cNvSpPr/>
          <p:nvPr/>
        </p:nvSpPr>
        <p:spPr>
          <a:xfrm>
            <a:off x="826389" y="7118731"/>
            <a:ext cx="9523349" cy="596011"/>
          </a:xfrm>
          <a:prstGeom prst="rect">
            <a:avLst/>
          </a:prstGeom>
          <a:noFill/>
          <a:ln/>
        </p:spPr>
        <p:txBody>
          <a:bodyPr wrap="none" lIns="0" tIns="0" rIns="0" bIns="0" rtlCol="0" anchor="t"/>
          <a:lstStyle/>
          <a:p>
            <a:pPr algn="l">
              <a:lnSpc>
                <a:spcPct val="120000"/>
              </a:lnSpc>
            </a:pPr>
            <a:r>
              <a:rPr lang="en-US" sz="2930" b="1" dirty="0">
                <a:solidFill>
                  <a:srgbClr val="FFFFFF"/>
                </a:solidFill>
                <a:latin typeface="Quattrocento Sans" pitchFamily="34" charset="0"/>
                <a:ea typeface="Quattrocento Sans" pitchFamily="34" charset="-122"/>
                <a:cs typeface="Quattrocento Sans" pitchFamily="34" charset="-120"/>
              </a:rPr>
              <a:t>风险转移</a:t>
            </a:r>
            <a:endParaRPr lang="en-US" sz="2930" dirty="0"/>
          </a:p>
        </p:txBody>
      </p:sp>
      <p:sp>
        <p:nvSpPr>
          <p:cNvPr id="29" name="Shape 26"/>
          <p:cNvSpPr/>
          <p:nvPr/>
        </p:nvSpPr>
        <p:spPr>
          <a:xfrm>
            <a:off x="948309" y="7823200"/>
            <a:ext cx="9279509" cy="2810891"/>
          </a:xfrm>
          <a:prstGeom prst="rect">
            <a:avLst/>
          </a:prstGeom>
          <a:noFill/>
          <a:ln/>
        </p:spPr>
      </p:sp>
      <p:sp>
        <p:nvSpPr>
          <p:cNvPr id="30" name="Text 27"/>
          <p:cNvSpPr/>
          <p:nvPr/>
        </p:nvSpPr>
        <p:spPr>
          <a:xfrm>
            <a:off x="826389" y="7762240"/>
            <a:ext cx="9523349" cy="29328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将风险的影响和责任转移给第三方。常见方式包括购买保险、签订固定总价合同、外包高风险工作、设立担保等。转移并未消除风险，只是将风险后果转由他人承担，通常需要支付一定费用。</a:t>
            </a:r>
            <a:endParaRPr lang="en-US" sz="2000" dirty="0"/>
          </a:p>
        </p:txBody>
      </p:sp>
      <p:sp>
        <p:nvSpPr>
          <p:cNvPr id="31" name="Shape 28"/>
          <p:cNvSpPr/>
          <p:nvPr/>
        </p:nvSpPr>
        <p:spPr>
          <a:xfrm>
            <a:off x="11176000" y="6366891"/>
            <a:ext cx="9821291" cy="4572000"/>
          </a:xfrm>
          <a:prstGeom prst="roundRect">
            <a:avLst>
              <a:gd name="adj" fmla="val 4000"/>
            </a:avLst>
          </a:prstGeom>
          <a:solidFill>
            <a:srgbClr val="455A64"/>
          </a:solidFill>
          <a:ln/>
        </p:spPr>
      </p:sp>
      <p:sp>
        <p:nvSpPr>
          <p:cNvPr id="32" name="Shape 29"/>
          <p:cNvSpPr/>
          <p:nvPr/>
        </p:nvSpPr>
        <p:spPr>
          <a:xfrm>
            <a:off x="11446891" y="6570091"/>
            <a:ext cx="9279509" cy="508000"/>
          </a:xfrm>
          <a:prstGeom prst="rect">
            <a:avLst/>
          </a:prstGeom>
          <a:noFill/>
          <a:ln/>
        </p:spPr>
      </p:sp>
      <p:sp>
        <p:nvSpPr>
          <p:cNvPr id="33" name="Text 30"/>
          <p:cNvSpPr/>
          <p:nvPr/>
        </p:nvSpPr>
        <p:spPr>
          <a:xfrm>
            <a:off x="11324971" y="6509131"/>
            <a:ext cx="9523349" cy="629920"/>
          </a:xfrm>
          <a:prstGeom prst="rect">
            <a:avLst/>
          </a:prstGeom>
          <a:noFill/>
          <a:ln/>
        </p:spPr>
        <p:txBody>
          <a:bodyPr wrap="none" lIns="0" tIns="0" rIns="0" bIns="0" rtlCol="0" anchor="t"/>
          <a:lstStyle/>
          <a:p>
            <a:pPr algn="l">
              <a:lnSpc>
                <a:spcPct val="120000"/>
              </a:lnSpc>
            </a:pPr>
            <a:r>
              <a:rPr lang="en-US" sz="3730" dirty="0">
                <a:solidFill>
                  <a:srgbClr val="FFFFFF"/>
                </a:solidFill>
                <a:latin typeface="Quattrocento Sans" pitchFamily="34" charset="0"/>
                <a:ea typeface="Quattrocento Sans" pitchFamily="34" charset="-122"/>
                <a:cs typeface="Quattrocento Sans" pitchFamily="34" charset="-120"/>
              </a:rPr>
              <a:t>ACCEPT</a:t>
            </a:r>
            <a:endParaRPr lang="en-US" sz="3730" dirty="0"/>
          </a:p>
        </p:txBody>
      </p:sp>
      <p:sp>
        <p:nvSpPr>
          <p:cNvPr id="34" name="Shape 31"/>
          <p:cNvSpPr/>
          <p:nvPr/>
        </p:nvSpPr>
        <p:spPr>
          <a:xfrm>
            <a:off x="11446891" y="7179691"/>
            <a:ext cx="9279509" cy="474091"/>
          </a:xfrm>
          <a:prstGeom prst="rect">
            <a:avLst/>
          </a:prstGeom>
          <a:noFill/>
          <a:ln/>
        </p:spPr>
      </p:sp>
      <p:sp>
        <p:nvSpPr>
          <p:cNvPr id="35" name="Text 32"/>
          <p:cNvSpPr/>
          <p:nvPr/>
        </p:nvSpPr>
        <p:spPr>
          <a:xfrm>
            <a:off x="11324971" y="7118731"/>
            <a:ext cx="9523349" cy="596011"/>
          </a:xfrm>
          <a:prstGeom prst="rect">
            <a:avLst/>
          </a:prstGeom>
          <a:noFill/>
          <a:ln/>
        </p:spPr>
        <p:txBody>
          <a:bodyPr wrap="none" lIns="0" tIns="0" rIns="0" bIns="0" rtlCol="0" anchor="t"/>
          <a:lstStyle/>
          <a:p>
            <a:pPr algn="l">
              <a:lnSpc>
                <a:spcPct val="120000"/>
              </a:lnSpc>
            </a:pPr>
            <a:r>
              <a:rPr lang="en-US" sz="2930" b="1" dirty="0">
                <a:solidFill>
                  <a:srgbClr val="FFFFFF"/>
                </a:solidFill>
                <a:latin typeface="Quattrocento Sans" pitchFamily="34" charset="0"/>
                <a:ea typeface="Quattrocento Sans" pitchFamily="34" charset="-122"/>
                <a:cs typeface="Quattrocento Sans" pitchFamily="34" charset="-120"/>
              </a:rPr>
              <a:t>风险接受</a:t>
            </a:r>
            <a:endParaRPr lang="en-US" sz="2930" dirty="0"/>
          </a:p>
        </p:txBody>
      </p:sp>
      <p:sp>
        <p:nvSpPr>
          <p:cNvPr id="36" name="Shape 33"/>
          <p:cNvSpPr/>
          <p:nvPr/>
        </p:nvSpPr>
        <p:spPr>
          <a:xfrm>
            <a:off x="11446891" y="7823200"/>
            <a:ext cx="9279509" cy="2810891"/>
          </a:xfrm>
          <a:prstGeom prst="rect">
            <a:avLst/>
          </a:prstGeom>
          <a:noFill/>
          <a:ln/>
        </p:spPr>
      </p:sp>
      <p:sp>
        <p:nvSpPr>
          <p:cNvPr id="37" name="Text 34"/>
          <p:cNvSpPr/>
          <p:nvPr/>
        </p:nvSpPr>
        <p:spPr>
          <a:xfrm>
            <a:off x="11324971" y="7762240"/>
            <a:ext cx="9523349" cy="2932811"/>
          </a:xfrm>
          <a:prstGeom prst="rect">
            <a:avLst/>
          </a:prstGeom>
          <a:noFill/>
          <a:ln/>
        </p:spPr>
        <p:txBody>
          <a:bodyPr wrap="square" lIns="0" tIns="0" rIns="0" bIns="0" rtlCol="0" anchor="t"/>
          <a:lstStyle/>
          <a:p>
            <a:pPr algn="l">
              <a:lnSpc>
                <a:spcPct val="160000"/>
              </a:lnSpc>
            </a:pPr>
            <a:r>
              <a:rPr lang="en-US" sz="2000" dirty="0">
                <a:solidFill>
                  <a:srgbClr val="FFFFFF"/>
                </a:solidFill>
                <a:latin typeface="Quattrocento Sans" pitchFamily="34" charset="0"/>
                <a:ea typeface="Quattrocento Sans" pitchFamily="34" charset="-122"/>
                <a:cs typeface="Quattrocento Sans" pitchFamily="34" charset="-120"/>
              </a:rPr>
              <a:t>承认风险存在但不采取主动措施。分为主动接受（建立应急储备）和被动接受（风险发生后再应对）。适用于低概率或低影响的风险，或当其他策略成本过高时采用。接受是一种有意识的风险决策。</a:t>
            </a:r>
            <a:endParaRPr lang="en-US" sz="2000" dirty="0"/>
          </a:p>
        </p:txBody>
      </p:sp>
      <p:sp>
        <p:nvSpPr>
          <p:cNvPr id="38" name="Shape 35"/>
          <p:cNvSpPr/>
          <p:nvPr/>
        </p:nvSpPr>
        <p:spPr>
          <a:xfrm>
            <a:off x="20320000" y="11514709"/>
            <a:ext cx="846709" cy="406400"/>
          </a:xfrm>
          <a:prstGeom prst="rect">
            <a:avLst/>
          </a:prstGeom>
          <a:noFill/>
          <a:ln/>
        </p:spPr>
      </p:sp>
      <p:sp>
        <p:nvSpPr>
          <p:cNvPr id="39" name="Text 36"/>
          <p:cNvSpPr/>
          <p:nvPr/>
        </p:nvSpPr>
        <p:spPr>
          <a:xfrm>
            <a:off x="20198080" y="11453749"/>
            <a:ext cx="1090549" cy="528320"/>
          </a:xfrm>
          <a:prstGeom prst="rect">
            <a:avLst/>
          </a:prstGeom>
          <a:noFill/>
          <a:ln/>
        </p:spPr>
        <p:txBody>
          <a:bodyPr wrap="none" lIns="0" tIns="0" rIns="0" bIns="0" rtlCol="0" anchor="ctr"/>
          <a:lstStyle/>
          <a:p>
            <a:pPr algn="r">
              <a:lnSpc>
                <a:spcPct val="120000"/>
              </a:lnSpc>
            </a:pPr>
            <a:r>
              <a:rPr lang="en-US" sz="1870" dirty="0">
                <a:solidFill>
                  <a:srgbClr val="5B9BD5"/>
                </a:solidFill>
                <a:latin typeface="Quattrocento Sans" pitchFamily="34" charset="0"/>
                <a:ea typeface="Quattrocento Sans" pitchFamily="34" charset="-122"/>
                <a:cs typeface="Quattrocento Sans" pitchFamily="34" charset="-120"/>
              </a:rPr>
              <a:t>26</a:t>
            </a:r>
            <a:endParaRPr lang="en-US" sz="187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FFFFFF"/>
      </a:dk1>
      <a:lt1>
        <a:sysClr val="window" lastClr="20202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4475</Words>
  <Application>Microsoft Office PowerPoint</Application>
  <PresentationFormat>自定义</PresentationFormat>
  <Paragraphs>473</Paragraphs>
  <Slides>26</Slides>
  <Notes>26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26</vt:i4>
      </vt:variant>
    </vt:vector>
  </HeadingPairs>
  <TitlesOfParts>
    <vt:vector size="31" baseType="lpstr">
      <vt:lpstr>Quattrocento Sans</vt: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未命名演示文稿</dc:title>
  <dc:subject>未命名演示文稿</dc:subject>
  <dc:creator>Kimi</dc:creator>
  <cp:lastModifiedBy>晓雷 李</cp:lastModifiedBy>
  <cp:revision>3</cp:revision>
  <dcterms:created xsi:type="dcterms:W3CDTF">2026-07-06T08:28:27Z</dcterms:created>
  <dcterms:modified xsi:type="dcterms:W3CDTF">2026-09-15T06:09:11Z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{"Label":"未命名演示文稿","ContentProducer":"001191110108MACG2KBH8F10000","ProduceID":"19f354c4-0c22-8e4d-8000-0000ab99f065","ReservedCode1":"","ContentPropagator":"001191110108MACG2KBH8F20000","PropagateID":"19f354b6-7d82-8927-8000-09f9614e6b0f","ReservedCode2":""}</vt:lpwstr>
  </property>
</Properties>
</file>