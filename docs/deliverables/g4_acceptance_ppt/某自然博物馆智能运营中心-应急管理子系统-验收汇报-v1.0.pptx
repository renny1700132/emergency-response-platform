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E8280-ED3F-4B73-A845-5346B70CAB9B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72846-CA3E-46A8-B34D-349C0F2B1D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6367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各位老师、各位评审好。本次汇报介绍某自然博物馆智能运营中心的应急管理子系统。系统围绕预案、事件、任务、资源和外部联动建立业务闭环，</a:t>
            </a:r>
            <a:r>
              <a:rPr lang="en-US" altLang="zh-CN"/>
              <a:t>Web </a:t>
            </a:r>
            <a:r>
              <a:rPr lang="zh-CN" altLang="en-US"/>
              <a:t>端承担管理与指挥，</a:t>
            </a:r>
            <a:r>
              <a:rPr lang="en-US" altLang="zh-CN"/>
              <a:t>H5 </a:t>
            </a:r>
            <a:r>
              <a:rPr lang="zh-CN" altLang="en-US"/>
              <a:t>服务现场人员。今天我将重点讲清系统解决什么问题、功能如何协同、当前研发成果怎样落地，以及现场演示如何完成。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372846-CA3E-46A8-B34D-349C0F2B1D1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3273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汇报分为五部分。前两部分占主要时间：先说明建设背景、目标和架构，再用十页展开系统功能，不用一张清单带过。随后用一页总结技术实现，一页说明项目管理和 </a:t>
            </a:r>
            <a:r>
              <a:rPr lang="en-US" altLang="zh-CN"/>
              <a:t>AI </a:t>
            </a:r>
            <a:r>
              <a:rPr lang="zh-CN" altLang="en-US"/>
              <a:t>辅助研发流程，最后给出一条可以现场执行的主演示路线和若干辅助入口。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372846-CA3E-46A8-B34D-349C0F2B1D1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30314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博物馆的应急风险来自消防、客流、入侵、门禁和设施物联网等多个渠道。真正的困难不只是发现告警，而是跨岗位协同：谁来核实、是否启动预案、任务怎样下发、现场怎样反馈、指挥员怎样掌握人员和资源，以及事件关闭后怎样形成调查与经验。系统建设的核心，就是把这些分散动作收进一条可追溯的业务链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372846-CA3E-46A8-B34D-349C0F2B1D1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02635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建设范围包括 </a:t>
            </a:r>
            <a:r>
              <a:rPr lang="en-US" altLang="zh-CN"/>
              <a:t>Web</a:t>
            </a:r>
            <a:r>
              <a:rPr lang="zh-CN" altLang="en-US"/>
              <a:t>、嵌入既有智慧管理 </a:t>
            </a:r>
            <a:r>
              <a:rPr lang="en-US" altLang="zh-CN"/>
              <a:t>APP </a:t>
            </a:r>
            <a:r>
              <a:rPr lang="zh-CN" altLang="en-US"/>
              <a:t>的 </a:t>
            </a:r>
            <a:r>
              <a:rPr lang="en-US" altLang="zh-CN"/>
              <a:t>H5</a:t>
            </a:r>
            <a:r>
              <a:rPr lang="zh-CN" altLang="en-US"/>
              <a:t>、标准接口、领域数据与配套文档。需求共覆盖 </a:t>
            </a:r>
            <a:r>
              <a:rPr lang="en-US" altLang="zh-CN"/>
              <a:t>11 </a:t>
            </a:r>
            <a:r>
              <a:rPr lang="zh-CN" altLang="en-US"/>
              <a:t>个模块、</a:t>
            </a:r>
            <a:r>
              <a:rPr lang="en-US" altLang="zh-CN"/>
              <a:t>39 </a:t>
            </a:r>
            <a:r>
              <a:rPr lang="zh-CN" altLang="en-US"/>
              <a:t>条功能需求，其中 </a:t>
            </a:r>
            <a:r>
              <a:rPr lang="en-US" altLang="zh-CN"/>
              <a:t>34 </a:t>
            </a:r>
            <a:r>
              <a:rPr lang="zh-CN" altLang="en-US"/>
              <a:t>条为实质性条款。边界同样重要：项目不采购或改造视频、门禁、消防等既有硬件，不另做原生手机 </a:t>
            </a:r>
            <a:r>
              <a:rPr lang="en-US" altLang="zh-CN"/>
              <a:t>APP</a:t>
            </a:r>
            <a:r>
              <a:rPr lang="zh-CN" altLang="en-US"/>
              <a:t>，也不重复建设统一中台。我们的责任是把这些能力接入应急业务并形成可验证链路。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372846-CA3E-46A8-B34D-349C0F2B1D1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464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功能全景按业务发生顺序组织。事前准备阶段把预案、人员、物资、值班、演练和基础配置准备好。事中处置阶段接收上报和外部告警，完成核实、预案启动、任务下发、移动反馈和态势联动。事后阶段完成关闭、调查、评估、整改、知识沉淀和统计。三段共用事件编号、时间线和责任链，避免各模块各自形成孤岛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372846-CA3E-46A8-B34D-349C0F2B1D1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45570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总体架构分为应用、服务、支撑和数据四层。</a:t>
            </a:r>
            <a:r>
              <a:rPr lang="en-US" altLang="zh-CN"/>
              <a:t>Web</a:t>
            </a:r>
            <a:r>
              <a:rPr lang="zh-CN" altLang="en-US"/>
              <a:t>、</a:t>
            </a:r>
            <a:r>
              <a:rPr lang="en-US" altLang="zh-CN"/>
              <a:t>H5 </a:t>
            </a:r>
            <a:r>
              <a:rPr lang="zh-CN" altLang="en-US"/>
              <a:t>与大屏共享同一套领域服务和 </a:t>
            </a:r>
            <a:r>
              <a:rPr lang="en-US" altLang="zh-CN"/>
              <a:t>API</a:t>
            </a:r>
            <a:r>
              <a:rPr lang="zh-CN" altLang="en-US"/>
              <a:t>，避免不同渠道出现不同业务口径。后端采用模块化单体，按领域划分写入主责；态势和统计使用可重建投影。外部系统通过适配端口接入，内部业务不直接依赖厂商协议。这样既能保持当前部署简单，也为后续集成和扩展保留清晰边界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372846-CA3E-46A8-B34D-349C0F2B1D1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5813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预案编制人员在事前维护综合预案、专项预案和现场处置方案，并把核实流程、任务模板、责任岗位、通知人与调派对象放进同一个版本。事件核实后，指挥员选择已发布版本启动响应，系统依据冻结快照自动创建任务，后续修改不会反向污染已启动事件。当前正式版本已经实现预案启动与任务实例化的后端闭环。本页界面来自已完成的交互原型，来源类型为 </a:t>
            </a:r>
            <a:r>
              <a:rPr lang="en-US" altLang="zh-CN"/>
              <a:t>PROTOTYPE_TARGET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372846-CA3E-46A8-B34D-349C0F2B1D1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45880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值班人员、现场人员或外部告警都可以形成事件候选。系统生成事件编号，记录类型、时间、位置和附件，随后进入核实。核实通过后才能启动预案，驳回也保留意见。响应期间续报、任务反馈和状态变化进入时间线；关闭前检查任务、调查与报告材料。当前正式版本已实现 </a:t>
            </a:r>
            <a:r>
              <a:rPr lang="en-US" altLang="zh-CN"/>
              <a:t>Web/H5 </a:t>
            </a:r>
            <a:r>
              <a:rPr lang="zh-CN" altLang="en-US"/>
              <a:t>上报、核实、启动、任务、反馈与关闭的 </a:t>
            </a:r>
            <a:r>
              <a:rPr lang="en-US" altLang="zh-CN"/>
              <a:t>Sprint 1 </a:t>
            </a:r>
            <a:r>
              <a:rPr lang="zh-CN" altLang="en-US"/>
              <a:t>核心链。本页截图依赖受控模拟数据，来源类型为 </a:t>
            </a:r>
            <a:r>
              <a:rPr lang="en-US" altLang="zh-CN"/>
              <a:t>SIMULATED_DATA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372846-CA3E-46A8-B34D-349C0F2B1D1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6531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页面向应急指挥员。事件发生后，他不需要在多个系统之间来回切换，而是在同一视图查看事件时间线、任务进度、人员职责和位置、物资站点、视频点位以及安防告警。态势服务读取事件、任务和外部数据形成只读投影，不回写业务事实；位置过期、接口断连或视频不可用都会显式标识。当前正式版本的态势与安防接线属于 </a:t>
            </a:r>
            <a:r>
              <a:rPr lang="en-US" altLang="zh-CN"/>
              <a:t>Sprint 2 </a:t>
            </a:r>
            <a:r>
              <a:rPr lang="zh-CN" altLang="en-US"/>
              <a:t>范围，本页界面来自交互原型，来源类型为 </a:t>
            </a:r>
            <a:r>
              <a:rPr lang="en-US" altLang="zh-CN"/>
              <a:t>PROTOTYPE_TARGET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372846-CA3E-46A8-B34D-349C0F2B1D1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2298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预案启动后，系统按模板创建任务并记录执行人和截止时间。现场人员在 </a:t>
            </a:r>
            <a:r>
              <a:rPr lang="en-US" altLang="zh-CN"/>
              <a:t>H5 </a:t>
            </a:r>
            <a:r>
              <a:rPr lang="zh-CN" altLang="en-US"/>
              <a:t>接收任务，提交文字、图片和进度；指挥员在 </a:t>
            </a:r>
            <a:r>
              <a:rPr lang="en-US" altLang="zh-CN"/>
              <a:t>Web </a:t>
            </a:r>
            <a:r>
              <a:rPr lang="zh-CN" altLang="en-US"/>
              <a:t>看到任务状态，可催办或创建临时任务。发生重指派时，系统追加历史责任人和原因，不覆盖原记录。消息失败只改变投递状态，不把业务任务误判为失败，并提供人工处置入口。当前正式版本已实现任务接收、反馈、完成、临时任务和催办，本页截图来源为 </a:t>
            </a:r>
            <a:r>
              <a:rPr lang="en-US" altLang="zh-CN"/>
              <a:t>SIMULATED_DATA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372846-CA3E-46A8-B34D-349C0F2B1D1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07136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资源保障分为人员和物资。人员侧维护应急人员档案、职责和小组，事件处置时结合调派、在线状态、就位状态与位置新鲜度判断可用人员。物资侧维护站点、台账、有效期和临期提醒；盘点计划发布时冻结账面快照，现场人员用 </a:t>
            </a:r>
            <a:r>
              <a:rPr lang="en-US" altLang="zh-CN"/>
              <a:t>H5 </a:t>
            </a:r>
            <a:r>
              <a:rPr lang="zh-CN" altLang="en-US"/>
              <a:t>填写实盘数量，系统计算差异，授权人员复核后才更新台账。当前正式版本的资源全功能属于 </a:t>
            </a:r>
            <a:r>
              <a:rPr lang="en-US" altLang="zh-CN"/>
              <a:t>Sprint 2 </a:t>
            </a:r>
            <a:r>
              <a:rPr lang="zh-CN" altLang="en-US"/>
              <a:t>范围，本页界面来自交互原型，来源类型为 </a:t>
            </a:r>
            <a:r>
              <a:rPr lang="en-US" altLang="zh-CN"/>
              <a:t>PROTOTYPE_TARGET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372846-CA3E-46A8-B34D-349C0F2B1D1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9465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值班管理员配置小组、班次、点位、有效时段、有效半径和二维码。人员到岗后用 </a:t>
            </a:r>
            <a:r>
              <a:rPr lang="en-US" altLang="zh-CN"/>
              <a:t>H5 </a:t>
            </a:r>
            <a:r>
              <a:rPr lang="zh-CN" altLang="en-US"/>
              <a:t>扫码，系统按身份、二维码版本、时段、位置范围和幂等键逐项校验。重复扫码返回首次结果，避免重复记录。到期仍无有效记录时，系统生成唯一异常告警，通过统一消息提醒；重试仍失败则转人工处理。当前正式版本尚未完成值班与打卡全功能接线，本页界面来自交互原型，来源类型为 </a:t>
            </a:r>
            <a:r>
              <a:rPr lang="en-US" altLang="zh-CN"/>
              <a:t>PROTOTYPE_TARGET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372846-CA3E-46A8-B34D-349C0F2B1D18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23555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安全管理人员按年度、季度或月度维护演练计划和频次。到期后系统形成演练任务，参与人员在 </a:t>
            </a:r>
            <a:r>
              <a:rPr lang="en-US" altLang="zh-CN"/>
              <a:t>H5 </a:t>
            </a:r>
            <a:r>
              <a:rPr lang="zh-CN" altLang="en-US"/>
              <a:t>确认并上传记录。管理端按确定的评估模板评分、形成报告；不合格项转为整改，指定责任人和期限，必要时关联补演。统计只把实际完成的执行计入完成率，取消和逾期单独呈现。当前正式版本的演练闭环属于 </a:t>
            </a:r>
            <a:r>
              <a:rPr lang="en-US" altLang="zh-CN"/>
              <a:t>Sprint 2 </a:t>
            </a:r>
            <a:r>
              <a:rPr lang="zh-CN" altLang="en-US"/>
              <a:t>范围，本页界面来自交互原型，来源类型为 </a:t>
            </a:r>
            <a:r>
              <a:rPr lang="en-US" altLang="zh-CN"/>
              <a:t>PROTOTYPE_TARGET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372846-CA3E-46A8-B34D-349C0F2B1D1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5990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H5 </a:t>
            </a:r>
            <a:r>
              <a:rPr lang="zh-CN" altLang="en-US"/>
              <a:t>是现场处置端，不是 </a:t>
            </a:r>
            <a:r>
              <a:rPr lang="en-US" altLang="zh-CN"/>
              <a:t>Web </a:t>
            </a:r>
            <a:r>
              <a:rPr lang="zh-CN" altLang="en-US"/>
              <a:t>的简单缩小版。现场人员可以拍照上报事件、查看自己的事件和任务、确认接收、反馈进度和附件，也可以执行演练、扫码打卡、移动盘点和查询应急知识。</a:t>
            </a:r>
            <a:r>
              <a:rPr lang="en-US" altLang="zh-CN"/>
              <a:t>H5 </a:t>
            </a:r>
            <a:r>
              <a:rPr lang="zh-CN" altLang="en-US"/>
              <a:t>嵌入既有智慧管理 </a:t>
            </a:r>
            <a:r>
              <a:rPr lang="en-US" altLang="zh-CN"/>
              <a:t>APP</a:t>
            </a:r>
            <a:r>
              <a:rPr lang="zh-CN" altLang="en-US"/>
              <a:t>，复用宿主认证和发布能力，不建设独立原生客户端。中间两张为正式 </a:t>
            </a:r>
            <a:r>
              <a:rPr lang="en-US" altLang="zh-CN"/>
              <a:t>frontend </a:t>
            </a:r>
            <a:r>
              <a:rPr lang="zh-CN" altLang="en-US"/>
              <a:t>界面并依赖模拟数据，来源类型 </a:t>
            </a:r>
            <a:r>
              <a:rPr lang="en-US" altLang="zh-CN"/>
              <a:t>SIMULATED_DATA</a:t>
            </a:r>
            <a:r>
              <a:rPr lang="zh-CN" altLang="en-US"/>
              <a:t>；两侧为交互原型，来源类型 </a:t>
            </a:r>
            <a:r>
              <a:rPr lang="en-US" altLang="zh-CN"/>
              <a:t>PROTOTYPE_TARGET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372846-CA3E-46A8-B34D-349C0F2B1D1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50206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系统通过独立适配端口连接视频、信息发布、入侵、门禁、消防、</a:t>
            </a:r>
            <a:r>
              <a:rPr lang="en-US" altLang="zh-CN"/>
              <a:t>IoT</a:t>
            </a:r>
            <a:r>
              <a:rPr lang="zh-CN" altLang="en-US"/>
              <a:t>、中台、消息、</a:t>
            </a:r>
            <a:r>
              <a:rPr lang="en-US" altLang="zh-CN"/>
              <a:t>GIS </a:t>
            </a:r>
            <a:r>
              <a:rPr lang="zh-CN" altLang="en-US"/>
              <a:t>和定位。每个接口不仅定义成功路径，也定义无权、超时、失败和人工降级。普通通知允许有限重试；门禁等控制指令若超时导致结果未知，系统禁止自动重放，必须核对现场后重新授权。本页展示的是最终联动设计能力。对外接口在课程项目中采用 </a:t>
            </a:r>
            <a:r>
              <a:rPr lang="en-US" altLang="zh-CN"/>
              <a:t>simulated-integrations </a:t>
            </a:r>
            <a:r>
              <a:rPr lang="zh-CN" altLang="en-US"/>
              <a:t>验证语义，来源类型为 </a:t>
            </a:r>
            <a:r>
              <a:rPr lang="en-US" altLang="zh-CN"/>
              <a:t>SIMULATED_DATA</a:t>
            </a:r>
            <a:r>
              <a:rPr lang="zh-CN" altLang="en-US"/>
              <a:t>，不代表真实现场已经联通。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372846-CA3E-46A8-B34D-349C0F2B1D18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20782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管理者用统计页查看事件数量、状态分布、处置效率、任务、安防、打卡和演练完成情况，并从汇总下钻到明细。关闭事件和完成演练后，受控材料可以沉淀为知识条目，现场人员在 </a:t>
            </a:r>
            <a:r>
              <a:rPr lang="en-US" altLang="zh-CN"/>
              <a:t>H5 </a:t>
            </a:r>
            <a:r>
              <a:rPr lang="zh-CN" altLang="en-US"/>
              <a:t>按分类和关键字检索。基础配置统一维护预案类型、事件类型、物资站点、评估模板和核实流程，减少硬编码。当前正式版本尚未完成这些 </a:t>
            </a:r>
            <a:r>
              <a:rPr lang="en-US" altLang="zh-CN"/>
              <a:t>Sprint 2 </a:t>
            </a:r>
            <a:r>
              <a:rPr lang="zh-CN" altLang="en-US"/>
              <a:t>页面接线，本页界面来自交互原型，来源类型为 </a:t>
            </a:r>
            <a:r>
              <a:rPr lang="en-US" altLang="zh-CN"/>
              <a:t>PROTOTYPE_TARGET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372846-CA3E-46A8-B34D-349C0F2B1D18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82805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技术实现强调边界清晰和可验证。前端采用 </a:t>
            </a:r>
            <a:r>
              <a:rPr lang="en-US" altLang="zh-CN"/>
              <a:t>Vue 3</a:t>
            </a:r>
            <a:r>
              <a:rPr lang="zh-CN" altLang="en-US"/>
              <a:t>，</a:t>
            </a:r>
            <a:r>
              <a:rPr lang="en-US" altLang="zh-CN"/>
              <a:t>Web </a:t>
            </a:r>
            <a:r>
              <a:rPr lang="zh-CN" altLang="en-US"/>
              <a:t>与 </a:t>
            </a:r>
            <a:r>
              <a:rPr lang="en-US" altLang="zh-CN"/>
              <a:t>H5 </a:t>
            </a:r>
            <a:r>
              <a:rPr lang="zh-CN" altLang="en-US"/>
              <a:t>共用 </a:t>
            </a:r>
            <a:r>
              <a:rPr lang="en-US" altLang="zh-CN"/>
              <a:t>API </a:t>
            </a:r>
            <a:r>
              <a:rPr lang="zh-CN" altLang="en-US"/>
              <a:t>契约；后端采用模块化单体，模块之间通过应用服务和领域事件协作。关系数据库按领域划分写入主责，迁移成对提供。写操作使用幂等键，领域事实和 </a:t>
            </a:r>
            <a:r>
              <a:rPr lang="en-US" altLang="zh-CN"/>
              <a:t>Outbox </a:t>
            </a:r>
            <a:r>
              <a:rPr lang="zh-CN" altLang="en-US"/>
              <a:t>同事务提交；鉴权、权限、审计和 </a:t>
            </a:r>
            <a:r>
              <a:rPr lang="en-US" altLang="zh-CN"/>
              <a:t>traceId </a:t>
            </a:r>
            <a:r>
              <a:rPr lang="zh-CN" altLang="en-US"/>
              <a:t>贯穿请求。工程上执行功能分支、</a:t>
            </a:r>
            <a:r>
              <a:rPr lang="en-US" altLang="zh-CN"/>
              <a:t>PR Review</a:t>
            </a:r>
            <a:r>
              <a:rPr lang="zh-CN" altLang="en-US"/>
              <a:t>、本地质量门禁和自动化测试。当前 </a:t>
            </a:r>
            <a:r>
              <a:rPr lang="en-US" altLang="zh-CN"/>
              <a:t>Sprint 1 </a:t>
            </a:r>
            <a:r>
              <a:rPr lang="zh-CN" altLang="en-US"/>
              <a:t>核心事件闭环已经准出，</a:t>
            </a:r>
            <a:r>
              <a:rPr lang="en-US" altLang="zh-CN"/>
              <a:t>Sprint 2 </a:t>
            </a:r>
            <a:r>
              <a:rPr lang="zh-CN" altLang="en-US"/>
              <a:t>仍需完成剩余 </a:t>
            </a:r>
            <a:r>
              <a:rPr lang="en-US" altLang="zh-CN"/>
              <a:t>MVP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372846-CA3E-46A8-B34D-349C0F2B1D18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3949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项目把需求、设计、任务、代码、测试和 </a:t>
            </a:r>
            <a:r>
              <a:rPr lang="en-US" altLang="zh-CN"/>
              <a:t>RTM </a:t>
            </a:r>
            <a:r>
              <a:rPr lang="zh-CN" altLang="en-US"/>
              <a:t>放在同一条受控链上。每项研发任务先确定 </a:t>
            </a:r>
            <a:r>
              <a:rPr lang="en-US" altLang="zh-CN"/>
              <a:t>AC </a:t>
            </a:r>
            <a:r>
              <a:rPr lang="zh-CN" altLang="en-US"/>
              <a:t>和设计输入，再进入功能分支实现，主责运行本地质量门禁，队友作为唯一审核人 </a:t>
            </a:r>
            <a:r>
              <a:rPr lang="en-US" altLang="zh-CN"/>
              <a:t>Review</a:t>
            </a:r>
            <a:r>
              <a:rPr lang="zh-CN" altLang="en-US"/>
              <a:t>，通过后才能 </a:t>
            </a:r>
            <a:r>
              <a:rPr lang="en-US" altLang="zh-CN"/>
              <a:t>PR Merge</a:t>
            </a:r>
            <a:r>
              <a:rPr lang="zh-CN" altLang="en-US"/>
              <a:t>，最后更新 </a:t>
            </a:r>
            <a:r>
              <a:rPr lang="en-US" altLang="zh-CN"/>
              <a:t>RTM</a:t>
            </a:r>
            <a:r>
              <a:rPr lang="zh-CN" altLang="en-US"/>
              <a:t>。</a:t>
            </a:r>
            <a:r>
              <a:rPr lang="en-US" altLang="zh-CN"/>
              <a:t>A </a:t>
            </a:r>
            <a:r>
              <a:rPr lang="zh-CN" altLang="en-US"/>
              <a:t>负责项目和前端，</a:t>
            </a:r>
            <a:r>
              <a:rPr lang="en-US" altLang="zh-CN"/>
              <a:t>B </a:t>
            </a:r>
            <a:r>
              <a:rPr lang="zh-CN" altLang="en-US"/>
              <a:t>负责架构和后端，</a:t>
            </a:r>
            <a:r>
              <a:rPr lang="en-US" altLang="zh-CN"/>
              <a:t>C </a:t>
            </a:r>
            <a:r>
              <a:rPr lang="zh-CN" altLang="en-US"/>
              <a:t>负责需求和质量。</a:t>
            </a:r>
            <a:r>
              <a:rPr lang="en-US" altLang="zh-CN"/>
              <a:t>AI </a:t>
            </a:r>
            <a:r>
              <a:rPr lang="zh-CN" altLang="en-US"/>
              <a:t>参与需求分析、草稿、编码、评审和测试，但 </a:t>
            </a:r>
            <a:r>
              <a:rPr lang="en-US" altLang="zh-CN"/>
              <a:t>Prompt</a:t>
            </a:r>
            <a:r>
              <a:rPr lang="zh-CN" altLang="en-US"/>
              <a:t>、范围、自检与人工审核全部留痕，</a:t>
            </a:r>
            <a:r>
              <a:rPr lang="en-US" altLang="zh-CN"/>
              <a:t>AI </a:t>
            </a:r>
            <a:r>
              <a:rPr lang="zh-CN" altLang="en-US"/>
              <a:t>不能替代责任人。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372846-CA3E-46A8-B34D-349C0F2B1D18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42534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现场演示只围绕一个事件，避免在页面之间无目的跳转。先用 </a:t>
            </a:r>
            <a:r>
              <a:rPr lang="en-US" altLang="zh-CN"/>
              <a:t>H5 </a:t>
            </a:r>
            <a:r>
              <a:rPr lang="zh-CN" altLang="en-US"/>
              <a:t>上报，再切到 </a:t>
            </a:r>
            <a:r>
              <a:rPr lang="en-US" altLang="zh-CN"/>
              <a:t>Web </a:t>
            </a:r>
            <a:r>
              <a:rPr lang="zh-CN" altLang="en-US"/>
              <a:t>核实并启动预案，确认系统自动生成任务；随后回到 </a:t>
            </a:r>
            <a:r>
              <a:rPr lang="en-US" altLang="zh-CN"/>
              <a:t>H5 </a:t>
            </a:r>
            <a:r>
              <a:rPr lang="zh-CN" altLang="en-US"/>
              <a:t>接收、提交进度和图片，再在 </a:t>
            </a:r>
            <a:r>
              <a:rPr lang="en-US" altLang="zh-CN"/>
              <a:t>Web </a:t>
            </a:r>
            <a:r>
              <a:rPr lang="zh-CN" altLang="en-US"/>
              <a:t>查看处置状态，完成任务并关闭事件。主演示完成后，根据剩余时间进入态势、人员视频、盘点、演练、扫码、安防或统计知识库。涉及外部系统的状态会明确说明课程模拟边界。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372846-CA3E-46A8-B34D-349C0F2B1D18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0656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最后总结。系统从接报开始，用数字化预案组织响应，用任务驱动协同，用态势汇聚人员、资源和外部状态，再通过关闭、调查、评估和知识沉淀完成复盘。当前已经完成 </a:t>
            </a:r>
            <a:r>
              <a:rPr lang="en-US" altLang="zh-CN"/>
              <a:t>Sprint 1 </a:t>
            </a:r>
            <a:r>
              <a:rPr lang="zh-CN" altLang="en-US"/>
              <a:t>核心事件处置闭环及相应工程门禁，下一阶段将完成剩余 </a:t>
            </a:r>
            <a:r>
              <a:rPr lang="en-US" altLang="zh-CN"/>
              <a:t>MVP</a:t>
            </a:r>
            <a:r>
              <a:rPr lang="zh-CN" altLang="en-US"/>
              <a:t>、态势与安防接线、真实接口联调和最终集成验证，再进入试运行、培训和竣工验收。我们不会把模拟结果替代现场证据。谢谢各位。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372846-CA3E-46A8-B34D-349C0F2B1D18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438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ACFBFE-0963-4B3D-9F79-37B049C4FA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F469576-9516-4E92-B54D-E4A289E309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680ABA-92F0-40D4-9BB4-16C8610DD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165F4-9369-4E90-B65B-E798DB89D5D9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CBC19C-00BE-422A-8356-ADAA581AF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8FC5C3-C57F-49D6-AEAE-D75C9CE36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F27DA-CFBD-451D-8291-90DA0CCDF2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550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20D5D-9045-4B76-BF46-FF835DFA0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747B15-427E-4B47-9A05-200C2DC8A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0BF67D-096D-45E3-BC2E-89FB2869F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165F4-9369-4E90-B65B-E798DB89D5D9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7845CB-8A40-4FBB-8B72-AD2970268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4A29F7-42B9-4B6F-AE2F-B1CE0869D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F27DA-CFBD-451D-8291-90DA0CCDF2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861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133203-73C6-45CF-9E15-9A8B074EE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F81529-4FAB-45A9-8667-E4C8A7623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8D2DDB-CB46-4CEC-87B0-4BF901CCE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165F4-9369-4E90-B65B-E798DB89D5D9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7DA1EC-919A-4EBE-B614-0400089C7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5FBB3C-F002-4350-990E-DEA9D7125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F27DA-CFBD-451D-8291-90DA0CCDF2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8350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45D9BE-473E-46BF-8DB5-D68AEF56F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684FE5-3020-48D8-A320-D6302584D9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69DC3B-E409-4DEA-A68D-FDB7EB512B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CDF89F-4763-4B38-BC18-1D3E08C28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165F4-9369-4E90-B65B-E798DB89D5D9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EDAE5C-2B59-4AB8-AA35-1F7748986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F78B34-6BE4-4262-9E5C-8EC97AF0B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F27DA-CFBD-451D-8291-90DA0CCDF2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4092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420A62-4CF7-493E-B10D-3D783818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8EDC87-DC97-4B20-BA49-F4C0E24FC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1145F09-DFA7-43CC-9D6D-CA4A0AF44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D0DB21D-6679-4E5A-A1DF-E193BECCCD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8BE6931-4B02-4462-A8FD-C588057C48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4FD5CDF-4E32-4096-8FBA-891F6A0C7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165F4-9369-4E90-B65B-E798DB89D5D9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B170AC2-C105-42FF-9EE6-00C0AA988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861468-E564-4445-B00B-033EA9AD8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F27DA-CFBD-451D-8291-90DA0CCDF2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7621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7F8E0C-DAA1-4B34-8E1A-12E45FE45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0E15124-5B60-4620-BE44-5A908C313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165F4-9369-4E90-B65B-E798DB89D5D9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2354498-70C8-444A-89DE-48FBC6910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D202618-4535-4BEC-89F7-1451E7317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F27DA-CFBD-451D-8291-90DA0CCDF2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5920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483656A-8456-4AB4-90BC-52CEA2C5D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165F4-9369-4E90-B65B-E798DB89D5D9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C50943C-DA3B-4742-85A3-34756D5C2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D45562-47FB-4C8A-A327-AA23CF9B3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F27DA-CFBD-451D-8291-90DA0CCDF2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54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CAF0D3-3E29-4152-B507-8A9DBCF4B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0B6663-5841-4F1B-8685-7B90251F0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05E142F-B60D-46A2-97D9-E85DEFB24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3DA0AE2-E3B6-491C-A81A-8AD17DFDD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165F4-9369-4E90-B65B-E798DB89D5D9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765DEFE-0EEB-49DD-8181-1018A952F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943C6A-BA2B-4CE1-94E0-55DC77A8A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F27DA-CFBD-451D-8291-90DA0CCDF2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5843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5CC08F-930F-419D-8C23-3A1DB7F67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EBC790C-0522-4B3A-A48D-70A20353C3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9F7D87-1341-4D22-9DED-FCC0272801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AC3C65-D533-4F0E-8CF8-37204E0E0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165F4-9369-4E90-B65B-E798DB89D5D9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142866-3A39-4599-8C73-0BD92D907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DFB6BE-0993-46BF-BAA2-9CE76CD23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F27DA-CFBD-451D-8291-90DA0CCDF2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9632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0E1EF3-60A5-4EE6-97B1-FCE637063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C2E989-BDEE-4221-8922-6643810442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004192-DFDC-4C8A-B823-4AF6E4CC0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165F4-9369-4E90-B65B-E798DB89D5D9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8861BD-1D85-4EFD-AF81-839D90785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199A21-8A41-4C7C-BD3E-001D97F2D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F27DA-CFBD-451D-8291-90DA0CCDF2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0029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DE72F03-5B59-4350-BD72-9F07A4E345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F7D846C-478A-40AE-AC13-06B4CA7372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39EA56-A801-4CFE-9D44-9297B126A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165F4-9369-4E90-B65B-E798DB89D5D9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D4918D-EA63-4DBA-8743-119A7AFB8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788F5B-2B16-4A78-B563-F73F468A9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F27DA-CFBD-451D-8291-90DA0CCDF2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3030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1401884-F702-4D27-AD51-34978D142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5FC0E5-8F87-4826-B5C7-90D018CAB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E3D610-A00B-49C5-BA51-B3FAE68BEC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A165F4-9369-4E90-B65B-E798DB89D5D9}" type="datetimeFigureOut">
              <a:rPr lang="zh-CN" altLang="en-US" smtClean="0"/>
              <a:t>2026/9/26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121015-4215-4BDB-8DAD-075FE3C20D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968E53-A2D3-4BEE-A7D3-EFC545741E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BF27DA-CFBD-451D-8291-90DA0CCDF2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32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8291A16-3378-45C9-93E5-B74DF976104F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9A2D"/>
          </a:solidFill>
          <a:ln w="12700">
            <a:solidFill>
              <a:srgbClr val="E89A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A8C7813-F807-425B-9C64-E16A86A1BFA8}"/>
              </a:ext>
            </a:extLst>
          </p:cNvPr>
          <p:cNvSpPr txBox="1"/>
          <p:nvPr/>
        </p:nvSpPr>
        <p:spPr>
          <a:xfrm>
            <a:off x="914400" y="9906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>
                <a:solidFill>
                  <a:srgbClr val="DCEC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某自然博物馆智能运营中心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B8DE3D3-E4D7-45FF-B214-1ABB63B28538}"/>
              </a:ext>
            </a:extLst>
          </p:cNvPr>
          <p:cNvSpPr txBox="1"/>
          <p:nvPr/>
        </p:nvSpPr>
        <p:spPr>
          <a:xfrm>
            <a:off x="914400" y="1625600"/>
            <a:ext cx="9144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4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应急管理子系统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EBDC4FF-BD14-420F-BDC4-E281A38B94ED}"/>
              </a:ext>
            </a:extLst>
          </p:cNvPr>
          <p:cNvSpPr txBox="1"/>
          <p:nvPr/>
        </p:nvSpPr>
        <p:spPr>
          <a:xfrm>
            <a:off x="914400" y="2590800"/>
            <a:ext cx="8001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3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项目介绍与阶段性验收汇报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0E7E45C-2BD7-4543-A9D0-45E0E4782649}"/>
              </a:ext>
            </a:extLst>
          </p:cNvPr>
          <p:cNvCxnSpPr/>
          <p:nvPr/>
        </p:nvCxnSpPr>
        <p:spPr>
          <a:xfrm>
            <a:off x="914400" y="3429000"/>
            <a:ext cx="2387600" cy="0"/>
          </a:xfrm>
          <a:prstGeom prst="line">
            <a:avLst/>
          </a:prstGeom>
          <a:ln w="50800">
            <a:solidFill>
              <a:srgbClr val="E89A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BE3F6FB7-0623-4A9C-8C31-B280EE1CCF92}"/>
              </a:ext>
            </a:extLst>
          </p:cNvPr>
          <p:cNvSpPr txBox="1"/>
          <p:nvPr/>
        </p:nvSpPr>
        <p:spPr>
          <a:xfrm>
            <a:off x="914400" y="3708400"/>
            <a:ext cx="9017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DCEC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以数字化预案为核心，以指挥中心为枢纽，以移动处置为延伸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8FB6171-D24B-4DA9-A18F-00911DA8ABD8}"/>
              </a:ext>
            </a:extLst>
          </p:cNvPr>
          <p:cNvSpPr txBox="1"/>
          <p:nvPr/>
        </p:nvSpPr>
        <p:spPr>
          <a:xfrm>
            <a:off x="914400" y="5562600"/>
            <a:ext cx="444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</a:t>
            </a:r>
            <a:r>
              <a:rPr lang="en-US" altLang="zh-CN" sz="1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（项目负责人）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75D293A-BAB1-4565-A3AB-8535DC69526B}"/>
              </a:ext>
            </a:extLst>
          </p:cNvPr>
          <p:cNvSpPr txBox="1"/>
          <p:nvPr/>
        </p:nvSpPr>
        <p:spPr>
          <a:xfrm>
            <a:off x="914400" y="5943600"/>
            <a:ext cx="228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DCEC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2026.09</a:t>
            </a:r>
            <a:endParaRPr lang="zh-CN" altLang="en-US" sz="1200">
              <a:solidFill>
                <a:srgbClr val="DCECF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82874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E0956D5-1735-4C09-B181-6F0AAD854C4A}"/>
              </a:ext>
            </a:extLst>
          </p:cNvPr>
          <p:cNvSpPr txBox="1"/>
          <p:nvPr/>
        </p:nvSpPr>
        <p:spPr>
          <a:xfrm>
            <a:off x="482600" y="317500"/>
            <a:ext cx="609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E89A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1300" b="1">
              <a:solidFill>
                <a:srgbClr val="E89A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365072-F802-4DC6-A71D-690824453648}"/>
              </a:ext>
            </a:extLst>
          </p:cNvPr>
          <p:cNvSpPr txBox="1"/>
          <p:nvPr/>
        </p:nvSpPr>
        <p:spPr>
          <a:xfrm>
            <a:off x="1117600" y="254000"/>
            <a:ext cx="10033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6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72D9481-77D8-49BF-9221-26791C981F0C}"/>
              </a:ext>
            </a:extLst>
          </p:cNvPr>
          <p:cNvSpPr txBox="1"/>
          <p:nvPr/>
        </p:nvSpPr>
        <p:spPr>
          <a:xfrm>
            <a:off x="9931400" y="368300"/>
            <a:ext cx="1714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zh-CN" altLang="en-US" sz="11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总体结构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15C9DE6A-E7C2-4600-89C8-2D295B1F4119}"/>
              </a:ext>
            </a:extLst>
          </p:cNvPr>
          <p:cNvCxnSpPr/>
          <p:nvPr/>
        </p:nvCxnSpPr>
        <p:spPr>
          <a:xfrm>
            <a:off x="482600" y="889000"/>
            <a:ext cx="11226800" cy="0"/>
          </a:xfrm>
          <a:prstGeom prst="line">
            <a:avLst/>
          </a:prstGeom>
          <a:ln w="12700">
            <a:solidFill>
              <a:srgbClr val="D4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CD8F59EC-4F10-442F-A0E6-CD5CC7ED420E}"/>
              </a:ext>
            </a:extLst>
          </p:cNvPr>
          <p:cNvSpPr txBox="1"/>
          <p:nvPr/>
        </p:nvSpPr>
        <p:spPr>
          <a:xfrm>
            <a:off x="1016000" y="1333500"/>
            <a:ext cx="63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E89A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1600" b="1">
              <a:solidFill>
                <a:srgbClr val="E89A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E588400-C7E3-4817-909C-29291175EE89}"/>
              </a:ext>
            </a:extLst>
          </p:cNvPr>
          <p:cNvSpPr txBox="1"/>
          <p:nvPr/>
        </p:nvSpPr>
        <p:spPr>
          <a:xfrm>
            <a:off x="1841500" y="1308100"/>
            <a:ext cx="29845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项目概述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687A588-CFAD-4675-8EFC-637A8188EC96}"/>
              </a:ext>
            </a:extLst>
          </p:cNvPr>
          <p:cNvSpPr txBox="1"/>
          <p:nvPr/>
        </p:nvSpPr>
        <p:spPr>
          <a:xfrm>
            <a:off x="5143500" y="1358900"/>
            <a:ext cx="533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背景、目标、范围与总体架构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2C32167-C5AE-4859-B7B6-D9D17A7A6F7A}"/>
              </a:ext>
            </a:extLst>
          </p:cNvPr>
          <p:cNvCxnSpPr/>
          <p:nvPr/>
        </p:nvCxnSpPr>
        <p:spPr>
          <a:xfrm>
            <a:off x="1841500" y="1866900"/>
            <a:ext cx="8953500" cy="0"/>
          </a:xfrm>
          <a:prstGeom prst="line">
            <a:avLst/>
          </a:prstGeom>
          <a:ln w="12700">
            <a:solidFill>
              <a:srgbClr val="D4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F018832C-E2F9-497B-98A6-D58C9BBB6A1F}"/>
              </a:ext>
            </a:extLst>
          </p:cNvPr>
          <p:cNvSpPr txBox="1"/>
          <p:nvPr/>
        </p:nvSpPr>
        <p:spPr>
          <a:xfrm>
            <a:off x="1016000" y="2298700"/>
            <a:ext cx="63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E89A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1600" b="1">
              <a:solidFill>
                <a:srgbClr val="E89A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DD69406-231B-4EFC-8C09-EC4C5FCC324E}"/>
              </a:ext>
            </a:extLst>
          </p:cNvPr>
          <p:cNvSpPr txBox="1"/>
          <p:nvPr/>
        </p:nvSpPr>
        <p:spPr>
          <a:xfrm>
            <a:off x="1841500" y="2273300"/>
            <a:ext cx="29845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系统完成情况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D0EF153-17FE-4BD5-A2EC-C297EF5D2879}"/>
              </a:ext>
            </a:extLst>
          </p:cNvPr>
          <p:cNvSpPr txBox="1"/>
          <p:nvPr/>
        </p:nvSpPr>
        <p:spPr>
          <a:xfrm>
            <a:off x="5143500" y="2324100"/>
            <a:ext cx="533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十个功能域与核心业务闭环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E8F7CD2-7BC8-44AC-BBC1-0AFD1F423704}"/>
              </a:ext>
            </a:extLst>
          </p:cNvPr>
          <p:cNvCxnSpPr/>
          <p:nvPr/>
        </p:nvCxnSpPr>
        <p:spPr>
          <a:xfrm>
            <a:off x="1841500" y="2832100"/>
            <a:ext cx="8953500" cy="0"/>
          </a:xfrm>
          <a:prstGeom prst="line">
            <a:avLst/>
          </a:prstGeom>
          <a:ln w="12700">
            <a:solidFill>
              <a:srgbClr val="D4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1554AEFB-43AC-4638-82B5-782D4B1F99CD}"/>
              </a:ext>
            </a:extLst>
          </p:cNvPr>
          <p:cNvSpPr txBox="1"/>
          <p:nvPr/>
        </p:nvSpPr>
        <p:spPr>
          <a:xfrm>
            <a:off x="1016000" y="3263900"/>
            <a:ext cx="63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E89A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1600" b="1">
              <a:solidFill>
                <a:srgbClr val="E89A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C3F9B3F-9C5F-43E1-A9AA-1E2EB764A0CD}"/>
              </a:ext>
            </a:extLst>
          </p:cNvPr>
          <p:cNvSpPr txBox="1"/>
          <p:nvPr/>
        </p:nvSpPr>
        <p:spPr>
          <a:xfrm>
            <a:off x="1841500" y="3238500"/>
            <a:ext cx="29845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研发技术总结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362A990-8468-4F75-B169-55C892DE3B37}"/>
              </a:ext>
            </a:extLst>
          </p:cNvPr>
          <p:cNvSpPr txBox="1"/>
          <p:nvPr/>
        </p:nvSpPr>
        <p:spPr>
          <a:xfrm>
            <a:off x="5143500" y="3289300"/>
            <a:ext cx="533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架构、数据、接口与工程保障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45E4C14-A136-48D6-A1EC-1A3DD1F6A494}"/>
              </a:ext>
            </a:extLst>
          </p:cNvPr>
          <p:cNvCxnSpPr/>
          <p:nvPr/>
        </p:nvCxnSpPr>
        <p:spPr>
          <a:xfrm>
            <a:off x="1841500" y="3797300"/>
            <a:ext cx="8953500" cy="0"/>
          </a:xfrm>
          <a:prstGeom prst="line">
            <a:avLst/>
          </a:prstGeom>
          <a:ln w="12700">
            <a:solidFill>
              <a:srgbClr val="D4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B7044D1E-E8DF-422F-9600-DEBDDA9B4C8E}"/>
              </a:ext>
            </a:extLst>
          </p:cNvPr>
          <p:cNvSpPr txBox="1"/>
          <p:nvPr/>
        </p:nvSpPr>
        <p:spPr>
          <a:xfrm>
            <a:off x="1016000" y="4229100"/>
            <a:ext cx="63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E89A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1600" b="1">
              <a:solidFill>
                <a:srgbClr val="E89A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77DFE50-7884-42CB-94D8-94E4F0F7349C}"/>
              </a:ext>
            </a:extLst>
          </p:cNvPr>
          <p:cNvSpPr txBox="1"/>
          <p:nvPr/>
        </p:nvSpPr>
        <p:spPr>
          <a:xfrm>
            <a:off x="1841500" y="4203700"/>
            <a:ext cx="29845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项目实施管理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A27590B-0079-41A1-9669-71F2AFDA9DC5}"/>
              </a:ext>
            </a:extLst>
          </p:cNvPr>
          <p:cNvSpPr txBox="1"/>
          <p:nvPr/>
        </p:nvSpPr>
        <p:spPr>
          <a:xfrm>
            <a:off x="5143500" y="4254500"/>
            <a:ext cx="533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三人协作、</a:t>
            </a:r>
            <a:r>
              <a:rPr lang="en-US" altLang="zh-CN" sz="14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14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辅助与双向追踪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EC704AA-BFA4-48BB-BAF6-5B781D776D4F}"/>
              </a:ext>
            </a:extLst>
          </p:cNvPr>
          <p:cNvCxnSpPr/>
          <p:nvPr/>
        </p:nvCxnSpPr>
        <p:spPr>
          <a:xfrm>
            <a:off x="1841500" y="4762500"/>
            <a:ext cx="8953500" cy="0"/>
          </a:xfrm>
          <a:prstGeom prst="line">
            <a:avLst/>
          </a:prstGeom>
          <a:ln w="12700">
            <a:solidFill>
              <a:srgbClr val="D4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07AC0D58-F159-4D67-8B8F-F2F6D3C4A129}"/>
              </a:ext>
            </a:extLst>
          </p:cNvPr>
          <p:cNvSpPr txBox="1"/>
          <p:nvPr/>
        </p:nvSpPr>
        <p:spPr>
          <a:xfrm>
            <a:off x="1016000" y="5194300"/>
            <a:ext cx="63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E89A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1600" b="1">
              <a:solidFill>
                <a:srgbClr val="E89A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279672B-16B6-4A57-8470-DBD821F0CD51}"/>
              </a:ext>
            </a:extLst>
          </p:cNvPr>
          <p:cNvSpPr txBox="1"/>
          <p:nvPr/>
        </p:nvSpPr>
        <p:spPr>
          <a:xfrm>
            <a:off x="1841500" y="5168900"/>
            <a:ext cx="29845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系统演示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7559B47-AB6D-4106-9D81-918A09B75741}"/>
              </a:ext>
            </a:extLst>
          </p:cNvPr>
          <p:cNvSpPr txBox="1"/>
          <p:nvPr/>
        </p:nvSpPr>
        <p:spPr>
          <a:xfrm>
            <a:off x="5143500" y="5219700"/>
            <a:ext cx="533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主演示路线与辅助展示入口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E7D8B1AF-8E9A-443E-AEFC-302E594CA232}"/>
              </a:ext>
            </a:extLst>
          </p:cNvPr>
          <p:cNvCxnSpPr/>
          <p:nvPr/>
        </p:nvCxnSpPr>
        <p:spPr>
          <a:xfrm>
            <a:off x="1841500" y="5727700"/>
            <a:ext cx="8953500" cy="0"/>
          </a:xfrm>
          <a:prstGeom prst="line">
            <a:avLst/>
          </a:prstGeom>
          <a:ln w="12700">
            <a:solidFill>
              <a:srgbClr val="D4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AF26007F-153C-4B9B-BB91-DEBF16FB88A6}"/>
              </a:ext>
            </a:extLst>
          </p:cNvPr>
          <p:cNvSpPr txBox="1"/>
          <p:nvPr/>
        </p:nvSpPr>
        <p:spPr>
          <a:xfrm>
            <a:off x="482600" y="64770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某自然博物馆智能运营中心 </a:t>
            </a:r>
            <a:r>
              <a:rPr lang="en-US" altLang="zh-CN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应急管理子系统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5C43486-9EAC-4246-BA2F-BB4B73700136}"/>
              </a:ext>
            </a:extLst>
          </p:cNvPr>
          <p:cNvSpPr txBox="1"/>
          <p:nvPr/>
        </p:nvSpPr>
        <p:spPr>
          <a:xfrm>
            <a:off x="11176000" y="6477000"/>
            <a:ext cx="533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900" b="1">
              <a:solidFill>
                <a:srgbClr val="5E718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7219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0E285D2-F289-4C1F-9DC5-CF3DA9D83183}"/>
              </a:ext>
            </a:extLst>
          </p:cNvPr>
          <p:cNvSpPr txBox="1"/>
          <p:nvPr/>
        </p:nvSpPr>
        <p:spPr>
          <a:xfrm>
            <a:off x="482600" y="317500"/>
            <a:ext cx="609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E89A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1300" b="1">
              <a:solidFill>
                <a:srgbClr val="E89A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DD2F994-A5AE-42B3-B5AE-4F5C311B1E70}"/>
              </a:ext>
            </a:extLst>
          </p:cNvPr>
          <p:cNvSpPr txBox="1"/>
          <p:nvPr/>
        </p:nvSpPr>
        <p:spPr>
          <a:xfrm>
            <a:off x="1117600" y="254000"/>
            <a:ext cx="10033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6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博物馆应急处置面临跨系统、跨岗位、跨现场协同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037BE75-6C5B-4A36-A441-2820EB9A568B}"/>
              </a:ext>
            </a:extLst>
          </p:cNvPr>
          <p:cNvSpPr txBox="1"/>
          <p:nvPr/>
        </p:nvSpPr>
        <p:spPr>
          <a:xfrm>
            <a:off x="9931400" y="368300"/>
            <a:ext cx="1714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zh-CN" altLang="en-US" sz="11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项目概述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F4E8EB7-0609-409D-8C1E-65E42C2E9A9F}"/>
              </a:ext>
            </a:extLst>
          </p:cNvPr>
          <p:cNvCxnSpPr/>
          <p:nvPr/>
        </p:nvCxnSpPr>
        <p:spPr>
          <a:xfrm>
            <a:off x="482600" y="889000"/>
            <a:ext cx="11226800" cy="0"/>
          </a:xfrm>
          <a:prstGeom prst="line">
            <a:avLst/>
          </a:prstGeom>
          <a:ln w="12700">
            <a:solidFill>
              <a:srgbClr val="D4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D305957B-2A81-4250-BC91-C94693BB3304}"/>
              </a:ext>
            </a:extLst>
          </p:cNvPr>
          <p:cNvSpPr txBox="1"/>
          <p:nvPr/>
        </p:nvSpPr>
        <p:spPr>
          <a:xfrm>
            <a:off x="711200" y="1244600"/>
            <a:ext cx="279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典型风险来源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C045DD8-596C-4A3A-8D52-B9CB6C436B8A}"/>
              </a:ext>
            </a:extLst>
          </p:cNvPr>
          <p:cNvSpPr/>
          <p:nvPr/>
        </p:nvSpPr>
        <p:spPr>
          <a:xfrm>
            <a:off x="698500" y="1714500"/>
            <a:ext cx="2286000" cy="952500"/>
          </a:xfrm>
          <a:prstGeom prst="roundRect">
            <a:avLst/>
          </a:prstGeom>
          <a:solidFill>
            <a:srgbClr val="DCECF6"/>
          </a:solidFill>
          <a:ln w="12700">
            <a:solidFill>
              <a:srgbClr val="D4E0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F9EA66D-5EA3-42EA-9CCD-B6B2E9740418}"/>
              </a:ext>
            </a:extLst>
          </p:cNvPr>
          <p:cNvSpPr txBox="1"/>
          <p:nvPr/>
        </p:nvSpPr>
        <p:spPr>
          <a:xfrm>
            <a:off x="876300" y="1905000"/>
            <a:ext cx="190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消防与烟感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84764CF-951C-41E2-9298-7C13BD2EAD22}"/>
              </a:ext>
            </a:extLst>
          </p:cNvPr>
          <p:cNvSpPr txBox="1"/>
          <p:nvPr/>
        </p:nvSpPr>
        <p:spPr>
          <a:xfrm>
            <a:off x="876300" y="2286000"/>
            <a:ext cx="190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设备告警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DB2C7A6-6437-441A-A3D5-7C0CF0CFBBE3}"/>
              </a:ext>
            </a:extLst>
          </p:cNvPr>
          <p:cNvSpPr/>
          <p:nvPr/>
        </p:nvSpPr>
        <p:spPr>
          <a:xfrm>
            <a:off x="3429000" y="1714500"/>
            <a:ext cx="2286000" cy="9525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D4E0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8456C95-439C-4674-B7A2-3D01F68F9890}"/>
              </a:ext>
            </a:extLst>
          </p:cNvPr>
          <p:cNvSpPr txBox="1"/>
          <p:nvPr/>
        </p:nvSpPr>
        <p:spPr>
          <a:xfrm>
            <a:off x="3606800" y="1905000"/>
            <a:ext cx="190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客流与秩序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28EE0F6-0A24-4641-AEF0-E4EEB8E4D48D}"/>
              </a:ext>
            </a:extLst>
          </p:cNvPr>
          <p:cNvSpPr txBox="1"/>
          <p:nvPr/>
        </p:nvSpPr>
        <p:spPr>
          <a:xfrm>
            <a:off x="3606800" y="2286000"/>
            <a:ext cx="190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密度异常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7383FED-060B-4277-8189-E510725C63D7}"/>
              </a:ext>
            </a:extLst>
          </p:cNvPr>
          <p:cNvSpPr/>
          <p:nvPr/>
        </p:nvSpPr>
        <p:spPr>
          <a:xfrm>
            <a:off x="6159500" y="1714500"/>
            <a:ext cx="2286000" cy="952500"/>
          </a:xfrm>
          <a:prstGeom prst="roundRect">
            <a:avLst/>
          </a:prstGeom>
          <a:solidFill>
            <a:srgbClr val="DCECF6"/>
          </a:solidFill>
          <a:ln w="12700">
            <a:solidFill>
              <a:srgbClr val="D4E0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6354E8A-BE73-45DA-9872-531CBBDDB0F7}"/>
              </a:ext>
            </a:extLst>
          </p:cNvPr>
          <p:cNvSpPr txBox="1"/>
          <p:nvPr/>
        </p:nvSpPr>
        <p:spPr>
          <a:xfrm>
            <a:off x="6337300" y="1905000"/>
            <a:ext cx="190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安防与门禁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5D145B6-428D-4F32-889A-8597EBC6C57B}"/>
              </a:ext>
            </a:extLst>
          </p:cNvPr>
          <p:cNvSpPr txBox="1"/>
          <p:nvPr/>
        </p:nvSpPr>
        <p:spPr>
          <a:xfrm>
            <a:off x="6337300" y="2286000"/>
            <a:ext cx="190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入侵联动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C23F080-3F41-4AA2-90CA-D99538D7E4B8}"/>
              </a:ext>
            </a:extLst>
          </p:cNvPr>
          <p:cNvSpPr/>
          <p:nvPr/>
        </p:nvSpPr>
        <p:spPr>
          <a:xfrm>
            <a:off x="8890000" y="1714500"/>
            <a:ext cx="2286000" cy="9525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D4E0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44BE9D7-C223-4878-AB76-AFA137C72C31}"/>
              </a:ext>
            </a:extLst>
          </p:cNvPr>
          <p:cNvSpPr txBox="1"/>
          <p:nvPr/>
        </p:nvSpPr>
        <p:spPr>
          <a:xfrm>
            <a:off x="9067800" y="1905000"/>
            <a:ext cx="190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设施与环境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6793CDF-5AE7-4A29-92DB-33BEF9D251D2}"/>
              </a:ext>
            </a:extLst>
          </p:cNvPr>
          <p:cNvSpPr txBox="1"/>
          <p:nvPr/>
        </p:nvSpPr>
        <p:spPr>
          <a:xfrm>
            <a:off x="9067800" y="2286000"/>
            <a:ext cx="190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2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IoT </a:t>
            </a:r>
            <a:r>
              <a:rPr lang="zh-CN" altLang="en-US" sz="12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告警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4CDA2881-0312-411A-9912-A6F73CD784EA}"/>
              </a:ext>
            </a:extLst>
          </p:cNvPr>
          <p:cNvCxnSpPr/>
          <p:nvPr/>
        </p:nvCxnSpPr>
        <p:spPr>
          <a:xfrm>
            <a:off x="1841500" y="2921000"/>
            <a:ext cx="8509000" cy="0"/>
          </a:xfrm>
          <a:prstGeom prst="line">
            <a:avLst/>
          </a:prstGeom>
          <a:ln w="38100">
            <a:solidFill>
              <a:srgbClr val="E89A2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B4A62E3E-F6BE-4E0B-9F3A-E7327BCCF0A3}"/>
              </a:ext>
            </a:extLst>
          </p:cNvPr>
          <p:cNvSpPr txBox="1"/>
          <p:nvPr/>
        </p:nvSpPr>
        <p:spPr>
          <a:xfrm>
            <a:off x="698500" y="3276600"/>
            <a:ext cx="3048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建设前的协同断点</a:t>
            </a: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CAA5D874-EC49-47CA-B8D0-AB24EA6F2343}"/>
              </a:ext>
            </a:extLst>
          </p:cNvPr>
          <p:cNvSpPr/>
          <p:nvPr/>
        </p:nvSpPr>
        <p:spPr>
          <a:xfrm>
            <a:off x="787400" y="3860800"/>
            <a:ext cx="127000" cy="127000"/>
          </a:xfrm>
          <a:prstGeom prst="ellipse">
            <a:avLst/>
          </a:prstGeom>
          <a:solidFill>
            <a:srgbClr val="E89A2D"/>
          </a:solidFill>
          <a:ln w="12700">
            <a:solidFill>
              <a:srgbClr val="E89A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7A54521-679B-4A70-8980-FB231F41728D}"/>
              </a:ext>
            </a:extLst>
          </p:cNvPr>
          <p:cNvSpPr txBox="1"/>
          <p:nvPr/>
        </p:nvSpPr>
        <p:spPr>
          <a:xfrm>
            <a:off x="1117600" y="3835400"/>
            <a:ext cx="952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告警来源分散，事件入口不统一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612829E3-AD6C-4EE1-81D1-A0E7CA100FFC}"/>
              </a:ext>
            </a:extLst>
          </p:cNvPr>
          <p:cNvSpPr/>
          <p:nvPr/>
        </p:nvSpPr>
        <p:spPr>
          <a:xfrm>
            <a:off x="787400" y="4318000"/>
            <a:ext cx="127000" cy="127000"/>
          </a:xfrm>
          <a:prstGeom prst="ellipse">
            <a:avLst/>
          </a:prstGeom>
          <a:solidFill>
            <a:srgbClr val="E89A2D"/>
          </a:solidFill>
          <a:ln w="12700">
            <a:solidFill>
              <a:srgbClr val="E89A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13F3E51-732D-4ADE-9FC3-E8D53949BFD5}"/>
              </a:ext>
            </a:extLst>
          </p:cNvPr>
          <p:cNvSpPr txBox="1"/>
          <p:nvPr/>
        </p:nvSpPr>
        <p:spPr>
          <a:xfrm>
            <a:off x="1117600" y="4292600"/>
            <a:ext cx="952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预案停留在文档，启动后任务靠人工拆分</a:t>
            </a: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985B94D3-6047-479B-B791-7E31A7ACE7CE}"/>
              </a:ext>
            </a:extLst>
          </p:cNvPr>
          <p:cNvSpPr/>
          <p:nvPr/>
        </p:nvSpPr>
        <p:spPr>
          <a:xfrm>
            <a:off x="787400" y="4775200"/>
            <a:ext cx="127000" cy="127000"/>
          </a:xfrm>
          <a:prstGeom prst="ellipse">
            <a:avLst/>
          </a:prstGeom>
          <a:solidFill>
            <a:srgbClr val="E89A2D"/>
          </a:solidFill>
          <a:ln w="12700">
            <a:solidFill>
              <a:srgbClr val="E89A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1FEC903-ED32-4433-8D25-4CD2B0ED3F0E}"/>
              </a:ext>
            </a:extLst>
          </p:cNvPr>
          <p:cNvSpPr txBox="1"/>
          <p:nvPr/>
        </p:nvSpPr>
        <p:spPr>
          <a:xfrm>
            <a:off x="1117600" y="4749800"/>
            <a:ext cx="952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现场反馈依赖电话，责任与进度难追溯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9A570D65-F0B6-4A82-A09C-B9E5ED03A8E3}"/>
              </a:ext>
            </a:extLst>
          </p:cNvPr>
          <p:cNvSpPr/>
          <p:nvPr/>
        </p:nvSpPr>
        <p:spPr>
          <a:xfrm>
            <a:off x="787400" y="5232400"/>
            <a:ext cx="127000" cy="127000"/>
          </a:xfrm>
          <a:prstGeom prst="ellipse">
            <a:avLst/>
          </a:prstGeom>
          <a:solidFill>
            <a:srgbClr val="E89A2D"/>
          </a:solidFill>
          <a:ln w="12700">
            <a:solidFill>
              <a:srgbClr val="E89A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755A49F-F3FF-47A3-AFB9-8E6C32485C2A}"/>
              </a:ext>
            </a:extLst>
          </p:cNvPr>
          <p:cNvSpPr txBox="1"/>
          <p:nvPr/>
        </p:nvSpPr>
        <p:spPr>
          <a:xfrm>
            <a:off x="1117600" y="5207000"/>
            <a:ext cx="952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人员、物资、视频和门禁信息分布在不同系统</a:t>
            </a: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866D8A9E-4487-483C-B0F6-8116B8DA7FF5}"/>
              </a:ext>
            </a:extLst>
          </p:cNvPr>
          <p:cNvSpPr/>
          <p:nvPr/>
        </p:nvSpPr>
        <p:spPr>
          <a:xfrm>
            <a:off x="787400" y="5689600"/>
            <a:ext cx="127000" cy="127000"/>
          </a:xfrm>
          <a:prstGeom prst="ellipse">
            <a:avLst/>
          </a:prstGeom>
          <a:solidFill>
            <a:srgbClr val="E89A2D"/>
          </a:solidFill>
          <a:ln w="12700">
            <a:solidFill>
              <a:srgbClr val="E89A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7D59810-1B99-46E3-8DD5-F7557F9C08FD}"/>
              </a:ext>
            </a:extLst>
          </p:cNvPr>
          <p:cNvSpPr txBox="1"/>
          <p:nvPr/>
        </p:nvSpPr>
        <p:spPr>
          <a:xfrm>
            <a:off x="1117600" y="5664200"/>
            <a:ext cx="952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关闭后调查、评估和经验沉淀缺少闭环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DFDB8CE-BE74-4129-BFDF-D63B5ECE1A91}"/>
              </a:ext>
            </a:extLst>
          </p:cNvPr>
          <p:cNvSpPr txBox="1"/>
          <p:nvPr/>
        </p:nvSpPr>
        <p:spPr>
          <a:xfrm>
            <a:off x="482600" y="64770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某自然博物馆智能运营中心 </a:t>
            </a:r>
            <a:r>
              <a:rPr lang="en-US" altLang="zh-CN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应急管理子系统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E8E9371-F675-489C-AB42-1A12EA3C62D6}"/>
              </a:ext>
            </a:extLst>
          </p:cNvPr>
          <p:cNvSpPr txBox="1"/>
          <p:nvPr/>
        </p:nvSpPr>
        <p:spPr>
          <a:xfrm>
            <a:off x="11176000" y="6477000"/>
            <a:ext cx="533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900" b="1">
              <a:solidFill>
                <a:srgbClr val="5E718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71668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1817567-A415-4A09-BBB0-D1E1381C903C}"/>
              </a:ext>
            </a:extLst>
          </p:cNvPr>
          <p:cNvSpPr txBox="1"/>
          <p:nvPr/>
        </p:nvSpPr>
        <p:spPr>
          <a:xfrm>
            <a:off x="482600" y="317500"/>
            <a:ext cx="609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E89A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1300" b="1">
              <a:solidFill>
                <a:srgbClr val="E89A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3187D6-0716-4F68-958B-F674EC108B19}"/>
              </a:ext>
            </a:extLst>
          </p:cNvPr>
          <p:cNvSpPr txBox="1"/>
          <p:nvPr/>
        </p:nvSpPr>
        <p:spPr>
          <a:xfrm>
            <a:off x="1117600" y="254000"/>
            <a:ext cx="10033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6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建设目标与交付边界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C0DE3D8-A2D6-4876-8190-FB8C41E6AC6C}"/>
              </a:ext>
            </a:extLst>
          </p:cNvPr>
          <p:cNvSpPr txBox="1"/>
          <p:nvPr/>
        </p:nvSpPr>
        <p:spPr>
          <a:xfrm>
            <a:off x="9931400" y="368300"/>
            <a:ext cx="1714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zh-CN" altLang="en-US" sz="11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项目概述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783F29D-2666-4FEB-870E-11E9F475DEAC}"/>
              </a:ext>
            </a:extLst>
          </p:cNvPr>
          <p:cNvCxnSpPr/>
          <p:nvPr/>
        </p:nvCxnSpPr>
        <p:spPr>
          <a:xfrm>
            <a:off x="482600" y="889000"/>
            <a:ext cx="11226800" cy="0"/>
          </a:xfrm>
          <a:prstGeom prst="line">
            <a:avLst/>
          </a:prstGeom>
          <a:ln w="12700">
            <a:solidFill>
              <a:srgbClr val="D4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AB41B18C-5C70-48D8-9C73-E62EB60FDB40}"/>
              </a:ext>
            </a:extLst>
          </p:cNvPr>
          <p:cNvSpPr txBox="1"/>
          <p:nvPr/>
        </p:nvSpPr>
        <p:spPr>
          <a:xfrm>
            <a:off x="698500" y="1244600"/>
            <a:ext cx="2286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建设目标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DE55120-99F8-4CAF-894F-3FC3721139FF}"/>
              </a:ext>
            </a:extLst>
          </p:cNvPr>
          <p:cNvSpPr txBox="1"/>
          <p:nvPr/>
        </p:nvSpPr>
        <p:spPr>
          <a:xfrm>
            <a:off x="698500" y="1676400"/>
            <a:ext cx="10795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000" b="1">
                <a:solidFill>
                  <a:srgbClr val="2468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以数字化预案组织处置，以统一事件串联过程，以任务驱动现场协同，以态势视图支撑指挥决策。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81C1EBF-22F8-49AD-80D8-20F865B92AAB}"/>
              </a:ext>
            </a:extLst>
          </p:cNvPr>
          <p:cNvSpPr/>
          <p:nvPr/>
        </p:nvSpPr>
        <p:spPr>
          <a:xfrm>
            <a:off x="698500" y="2603500"/>
            <a:ext cx="5207000" cy="101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E93B16-E5EF-453A-9F8C-396C49B985DF}"/>
              </a:ext>
            </a:extLst>
          </p:cNvPr>
          <p:cNvSpPr txBox="1"/>
          <p:nvPr/>
        </p:nvSpPr>
        <p:spPr>
          <a:xfrm>
            <a:off x="927100" y="2781300"/>
            <a:ext cx="190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 </a:t>
            </a:r>
            <a:r>
              <a:rPr lang="zh-CN" altLang="en-US" sz="16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管理与指挥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6FC3F45-4406-4799-AD45-C8EC8A91636C}"/>
              </a:ext>
            </a:extLst>
          </p:cNvPr>
          <p:cNvSpPr txBox="1"/>
          <p:nvPr/>
        </p:nvSpPr>
        <p:spPr>
          <a:xfrm>
            <a:off x="2882900" y="2768600"/>
            <a:ext cx="27686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预案、事件、任务、资源、值班、演练、统计、安防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CF6AB59-8FCC-4738-A45B-16649AB425E8}"/>
              </a:ext>
            </a:extLst>
          </p:cNvPr>
          <p:cNvSpPr/>
          <p:nvPr/>
        </p:nvSpPr>
        <p:spPr>
          <a:xfrm>
            <a:off x="6350000" y="2603500"/>
            <a:ext cx="5207000" cy="101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E86DE6-F5C7-4DB0-BE84-E27FDFD5F66F}"/>
              </a:ext>
            </a:extLst>
          </p:cNvPr>
          <p:cNvSpPr txBox="1"/>
          <p:nvPr/>
        </p:nvSpPr>
        <p:spPr>
          <a:xfrm>
            <a:off x="6578600" y="2781300"/>
            <a:ext cx="190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H5 </a:t>
            </a:r>
            <a:r>
              <a:rPr lang="zh-CN" altLang="en-US" sz="16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移动处置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9C95F6F-09B1-4C14-B5CC-FC3BB4F92A9D}"/>
              </a:ext>
            </a:extLst>
          </p:cNvPr>
          <p:cNvSpPr txBox="1"/>
          <p:nvPr/>
        </p:nvSpPr>
        <p:spPr>
          <a:xfrm>
            <a:off x="8534400" y="2768600"/>
            <a:ext cx="27686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上报、任务反馈、演练、扫码、盘点、知识查询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11DE95D-B80E-4D78-899A-226716C2F9B0}"/>
              </a:ext>
            </a:extLst>
          </p:cNvPr>
          <p:cNvSpPr/>
          <p:nvPr/>
        </p:nvSpPr>
        <p:spPr>
          <a:xfrm>
            <a:off x="698500" y="3873500"/>
            <a:ext cx="5207000" cy="101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803A551-E18A-4108-95C2-9030BB8110A6}"/>
              </a:ext>
            </a:extLst>
          </p:cNvPr>
          <p:cNvSpPr txBox="1"/>
          <p:nvPr/>
        </p:nvSpPr>
        <p:spPr>
          <a:xfrm>
            <a:off x="927100" y="4051300"/>
            <a:ext cx="190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标准接口与适配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3AFF160-B79E-4B43-871F-0C44682DBC6A}"/>
              </a:ext>
            </a:extLst>
          </p:cNvPr>
          <p:cNvSpPr txBox="1"/>
          <p:nvPr/>
        </p:nvSpPr>
        <p:spPr>
          <a:xfrm>
            <a:off x="2882900" y="4038600"/>
            <a:ext cx="27686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OpenAPI 3.0</a:t>
            </a:r>
            <a:r>
              <a:rPr lang="zh-CN" altLang="en-US" sz="13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，视频、门禁、</a:t>
            </a:r>
            <a:r>
              <a:rPr lang="en-US" altLang="zh-CN" sz="13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IoT</a:t>
            </a:r>
            <a:r>
              <a:rPr lang="zh-CN" altLang="en-US" sz="13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、中台、消息等端口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6B997DC-89C0-4ED1-BB98-95E5AAC47EF8}"/>
              </a:ext>
            </a:extLst>
          </p:cNvPr>
          <p:cNvSpPr/>
          <p:nvPr/>
        </p:nvSpPr>
        <p:spPr>
          <a:xfrm>
            <a:off x="6350000" y="3873500"/>
            <a:ext cx="5207000" cy="101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8B46CBA-302D-4894-B95A-AEECEE7AAD2A}"/>
              </a:ext>
            </a:extLst>
          </p:cNvPr>
          <p:cNvSpPr txBox="1"/>
          <p:nvPr/>
        </p:nvSpPr>
        <p:spPr>
          <a:xfrm>
            <a:off x="6578600" y="4051300"/>
            <a:ext cx="190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数据与交付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AA1A9AF-375E-4041-9B2C-3A096DEA36B6}"/>
              </a:ext>
            </a:extLst>
          </p:cNvPr>
          <p:cNvSpPr txBox="1"/>
          <p:nvPr/>
        </p:nvSpPr>
        <p:spPr>
          <a:xfrm>
            <a:off x="8534400" y="4038600"/>
            <a:ext cx="27686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关系数据库、迁移脚本、部署与用户</a:t>
            </a:r>
            <a:r>
              <a:rPr lang="en-US" altLang="zh-CN" sz="13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3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运维文档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9BDC3EFA-82BD-43DC-BBC7-C88E5A4EE0E1}"/>
              </a:ext>
            </a:extLst>
          </p:cNvPr>
          <p:cNvSpPr/>
          <p:nvPr/>
        </p:nvSpPr>
        <p:spPr>
          <a:xfrm>
            <a:off x="698500" y="5334000"/>
            <a:ext cx="10795000" cy="7366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27A3DFF-8FD4-4C9D-A8C6-154A548FACCA}"/>
              </a:ext>
            </a:extLst>
          </p:cNvPr>
          <p:cNvSpPr txBox="1"/>
          <p:nvPr/>
        </p:nvSpPr>
        <p:spPr>
          <a:xfrm>
            <a:off x="927100" y="5549900"/>
            <a:ext cx="114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E89A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责任边界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AD446EF-3911-43F4-AA64-BD31F8DA545D}"/>
              </a:ext>
            </a:extLst>
          </p:cNvPr>
          <p:cNvSpPr txBox="1"/>
          <p:nvPr/>
        </p:nvSpPr>
        <p:spPr>
          <a:xfrm>
            <a:off x="2095500" y="5511800"/>
            <a:ext cx="9017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不采购或改造既有安防硬件，不建设原生 </a:t>
            </a:r>
            <a:r>
              <a:rPr lang="en-US" altLang="zh-CN" sz="13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Android/iOS APP</a:t>
            </a:r>
            <a:r>
              <a:rPr lang="zh-CN" altLang="en-US" sz="13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，不替代统一中台与专业系统；系统负责业务适配、联动和验证。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9EF8FC5-6F59-4DBE-AFED-1D088104393F}"/>
              </a:ext>
            </a:extLst>
          </p:cNvPr>
          <p:cNvSpPr txBox="1"/>
          <p:nvPr/>
        </p:nvSpPr>
        <p:spPr>
          <a:xfrm>
            <a:off x="482600" y="64770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某自然博物馆智能运营中心 </a:t>
            </a:r>
            <a:r>
              <a:rPr lang="en-US" altLang="zh-CN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应急管理子系统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6BE8672-E84D-4012-88A4-A3A4A94C5539}"/>
              </a:ext>
            </a:extLst>
          </p:cNvPr>
          <p:cNvSpPr txBox="1"/>
          <p:nvPr/>
        </p:nvSpPr>
        <p:spPr>
          <a:xfrm>
            <a:off x="11176000" y="6477000"/>
            <a:ext cx="533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900" b="1">
              <a:solidFill>
                <a:srgbClr val="5E718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122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2546525-D819-45B9-9E94-3280B70C67EC}"/>
              </a:ext>
            </a:extLst>
          </p:cNvPr>
          <p:cNvSpPr txBox="1"/>
          <p:nvPr/>
        </p:nvSpPr>
        <p:spPr>
          <a:xfrm>
            <a:off x="482600" y="317500"/>
            <a:ext cx="609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E89A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1300" b="1">
              <a:solidFill>
                <a:srgbClr val="E89A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609841E-766C-41BF-B3EF-E9DE67567680}"/>
              </a:ext>
            </a:extLst>
          </p:cNvPr>
          <p:cNvSpPr txBox="1"/>
          <p:nvPr/>
        </p:nvSpPr>
        <p:spPr>
          <a:xfrm>
            <a:off x="1117600" y="254000"/>
            <a:ext cx="10033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6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事前准备、事中处置、事后闭环贯通全部功能域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16424A2-8093-4D55-87F0-B7EA5AF5FA3A}"/>
              </a:ext>
            </a:extLst>
          </p:cNvPr>
          <p:cNvSpPr txBox="1"/>
          <p:nvPr/>
        </p:nvSpPr>
        <p:spPr>
          <a:xfrm>
            <a:off x="9931400" y="368300"/>
            <a:ext cx="1714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zh-CN" altLang="en-US" sz="11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系统完成情况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AAD6910-FAFD-45BF-81E7-C276599F7875}"/>
              </a:ext>
            </a:extLst>
          </p:cNvPr>
          <p:cNvCxnSpPr/>
          <p:nvPr/>
        </p:nvCxnSpPr>
        <p:spPr>
          <a:xfrm>
            <a:off x="482600" y="889000"/>
            <a:ext cx="11226800" cy="0"/>
          </a:xfrm>
          <a:prstGeom prst="line">
            <a:avLst/>
          </a:prstGeom>
          <a:ln w="12700">
            <a:solidFill>
              <a:srgbClr val="D4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A9920C0-AA08-4597-8ABA-710D0B454E99}"/>
              </a:ext>
            </a:extLst>
          </p:cNvPr>
          <p:cNvSpPr/>
          <p:nvPr/>
        </p:nvSpPr>
        <p:spPr>
          <a:xfrm>
            <a:off x="571500" y="1333500"/>
            <a:ext cx="3429000" cy="425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CFCB983-96EF-44BA-89B3-F0A928E28D4B}"/>
              </a:ext>
            </a:extLst>
          </p:cNvPr>
          <p:cNvSpPr/>
          <p:nvPr/>
        </p:nvSpPr>
        <p:spPr>
          <a:xfrm>
            <a:off x="571500" y="1333500"/>
            <a:ext cx="3429000" cy="660400"/>
          </a:xfrm>
          <a:prstGeom prst="roundRect">
            <a:avLst/>
          </a:prstGeom>
          <a:solidFill>
            <a:srgbClr val="2A8793"/>
          </a:solidFill>
          <a:ln w="12700">
            <a:solidFill>
              <a:srgbClr val="2A87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54FE4E6-157A-433B-B0C3-37EB5C0C701F}"/>
              </a:ext>
            </a:extLst>
          </p:cNvPr>
          <p:cNvSpPr txBox="1"/>
          <p:nvPr/>
        </p:nvSpPr>
        <p:spPr>
          <a:xfrm>
            <a:off x="800100" y="1511300"/>
            <a:ext cx="2984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事前准备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E99D4A0B-15E2-4EF2-8EA6-8153B1CA67BD}"/>
              </a:ext>
            </a:extLst>
          </p:cNvPr>
          <p:cNvSpPr/>
          <p:nvPr/>
        </p:nvSpPr>
        <p:spPr>
          <a:xfrm>
            <a:off x="850900" y="2349500"/>
            <a:ext cx="101600" cy="101600"/>
          </a:xfrm>
          <a:prstGeom prst="ellipse">
            <a:avLst/>
          </a:prstGeom>
          <a:solidFill>
            <a:srgbClr val="2A8793"/>
          </a:solidFill>
          <a:ln w="12700">
            <a:solidFill>
              <a:srgbClr val="2A87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C671234-7B29-4F2A-8EA7-03E26D9A0810}"/>
              </a:ext>
            </a:extLst>
          </p:cNvPr>
          <p:cNvSpPr txBox="1"/>
          <p:nvPr/>
        </p:nvSpPr>
        <p:spPr>
          <a:xfrm>
            <a:off x="1130300" y="2286000"/>
            <a:ext cx="2603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数字化预案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0F261956-B8EA-40C1-B8D6-E0A7B12F9957}"/>
              </a:ext>
            </a:extLst>
          </p:cNvPr>
          <p:cNvSpPr/>
          <p:nvPr/>
        </p:nvSpPr>
        <p:spPr>
          <a:xfrm>
            <a:off x="850900" y="2895600"/>
            <a:ext cx="101600" cy="101600"/>
          </a:xfrm>
          <a:prstGeom prst="ellipse">
            <a:avLst/>
          </a:prstGeom>
          <a:solidFill>
            <a:srgbClr val="2A8793"/>
          </a:solidFill>
          <a:ln w="12700">
            <a:solidFill>
              <a:srgbClr val="2A87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EE377CD-9788-45AB-8073-F12EF540065E}"/>
              </a:ext>
            </a:extLst>
          </p:cNvPr>
          <p:cNvSpPr txBox="1"/>
          <p:nvPr/>
        </p:nvSpPr>
        <p:spPr>
          <a:xfrm>
            <a:off x="1130300" y="2832100"/>
            <a:ext cx="2603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预案流程与任务模板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34420CC4-6742-4AEF-A9C0-1C4A7EEFDBCF}"/>
              </a:ext>
            </a:extLst>
          </p:cNvPr>
          <p:cNvSpPr/>
          <p:nvPr/>
        </p:nvSpPr>
        <p:spPr>
          <a:xfrm>
            <a:off x="850900" y="3441700"/>
            <a:ext cx="101600" cy="101600"/>
          </a:xfrm>
          <a:prstGeom prst="ellipse">
            <a:avLst/>
          </a:prstGeom>
          <a:solidFill>
            <a:srgbClr val="2A8793"/>
          </a:solidFill>
          <a:ln w="12700">
            <a:solidFill>
              <a:srgbClr val="2A87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CB56427-F8D3-4791-ACF7-83F3407426D6}"/>
              </a:ext>
            </a:extLst>
          </p:cNvPr>
          <p:cNvSpPr txBox="1"/>
          <p:nvPr/>
        </p:nvSpPr>
        <p:spPr>
          <a:xfrm>
            <a:off x="1130300" y="3378200"/>
            <a:ext cx="2603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应急人员与物资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83F0630D-DFCB-487F-889B-8ED98C4E5C4B}"/>
              </a:ext>
            </a:extLst>
          </p:cNvPr>
          <p:cNvSpPr/>
          <p:nvPr/>
        </p:nvSpPr>
        <p:spPr>
          <a:xfrm>
            <a:off x="850900" y="3987800"/>
            <a:ext cx="101600" cy="101600"/>
          </a:xfrm>
          <a:prstGeom prst="ellipse">
            <a:avLst/>
          </a:prstGeom>
          <a:solidFill>
            <a:srgbClr val="2A8793"/>
          </a:solidFill>
          <a:ln w="12700">
            <a:solidFill>
              <a:srgbClr val="2A87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DDEE7C-55EF-4106-9407-9370B5A5DAD3}"/>
              </a:ext>
            </a:extLst>
          </p:cNvPr>
          <p:cNvSpPr txBox="1"/>
          <p:nvPr/>
        </p:nvSpPr>
        <p:spPr>
          <a:xfrm>
            <a:off x="1130300" y="3924300"/>
            <a:ext cx="2603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值班计划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EAF3C0B8-DC09-40CD-9D58-E3A7B2C6901A}"/>
              </a:ext>
            </a:extLst>
          </p:cNvPr>
          <p:cNvSpPr/>
          <p:nvPr/>
        </p:nvSpPr>
        <p:spPr>
          <a:xfrm>
            <a:off x="850900" y="4533900"/>
            <a:ext cx="101600" cy="101600"/>
          </a:xfrm>
          <a:prstGeom prst="ellipse">
            <a:avLst/>
          </a:prstGeom>
          <a:solidFill>
            <a:srgbClr val="2A8793"/>
          </a:solidFill>
          <a:ln w="12700">
            <a:solidFill>
              <a:srgbClr val="2A87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3E23712-D5CB-47A6-B4EB-9A2339DBA104}"/>
              </a:ext>
            </a:extLst>
          </p:cNvPr>
          <p:cNvSpPr txBox="1"/>
          <p:nvPr/>
        </p:nvSpPr>
        <p:spPr>
          <a:xfrm>
            <a:off x="1130300" y="4470400"/>
            <a:ext cx="2603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演练计划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35F43217-2A5F-4BA9-9996-CBFC761B9222}"/>
              </a:ext>
            </a:extLst>
          </p:cNvPr>
          <p:cNvSpPr/>
          <p:nvPr/>
        </p:nvSpPr>
        <p:spPr>
          <a:xfrm>
            <a:off x="850900" y="5080000"/>
            <a:ext cx="101600" cy="101600"/>
          </a:xfrm>
          <a:prstGeom prst="ellipse">
            <a:avLst/>
          </a:prstGeom>
          <a:solidFill>
            <a:srgbClr val="2A8793"/>
          </a:solidFill>
          <a:ln w="12700">
            <a:solidFill>
              <a:srgbClr val="2A87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E9A1F36-0057-4391-8196-0B609D7ED3EC}"/>
              </a:ext>
            </a:extLst>
          </p:cNvPr>
          <p:cNvSpPr txBox="1"/>
          <p:nvPr/>
        </p:nvSpPr>
        <p:spPr>
          <a:xfrm>
            <a:off x="1130300" y="5016500"/>
            <a:ext cx="2603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基础配置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971A7DE7-68CB-4D1A-8C65-FD289CBC475F}"/>
              </a:ext>
            </a:extLst>
          </p:cNvPr>
          <p:cNvCxnSpPr/>
          <p:nvPr/>
        </p:nvCxnSpPr>
        <p:spPr>
          <a:xfrm>
            <a:off x="4000500" y="3429000"/>
            <a:ext cx="406400" cy="0"/>
          </a:xfrm>
          <a:prstGeom prst="line">
            <a:avLst/>
          </a:prstGeom>
          <a:ln w="25400">
            <a:solidFill>
              <a:srgbClr val="5E718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7F646E94-40E5-4232-A580-99507AE1D7EA}"/>
              </a:ext>
            </a:extLst>
          </p:cNvPr>
          <p:cNvSpPr/>
          <p:nvPr/>
        </p:nvSpPr>
        <p:spPr>
          <a:xfrm>
            <a:off x="4445000" y="1333500"/>
            <a:ext cx="3429000" cy="425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254772E3-824D-40BA-8FA1-E3ECF813C443}"/>
              </a:ext>
            </a:extLst>
          </p:cNvPr>
          <p:cNvSpPr/>
          <p:nvPr/>
        </p:nvSpPr>
        <p:spPr>
          <a:xfrm>
            <a:off x="4445000" y="1333500"/>
            <a:ext cx="3429000" cy="660400"/>
          </a:xfrm>
          <a:prstGeom prst="roundRect">
            <a:avLst/>
          </a:prstGeom>
          <a:solidFill>
            <a:srgbClr val="E89A2D"/>
          </a:solidFill>
          <a:ln w="12700">
            <a:solidFill>
              <a:srgbClr val="E89A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4A39649-34B6-48FC-9A5C-97FD5E0509AD}"/>
              </a:ext>
            </a:extLst>
          </p:cNvPr>
          <p:cNvSpPr txBox="1"/>
          <p:nvPr/>
        </p:nvSpPr>
        <p:spPr>
          <a:xfrm>
            <a:off x="4673600" y="1511300"/>
            <a:ext cx="2984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事中处置</a:t>
            </a: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7CB39A67-BD04-4ACC-9355-CF574358B535}"/>
              </a:ext>
            </a:extLst>
          </p:cNvPr>
          <p:cNvSpPr/>
          <p:nvPr/>
        </p:nvSpPr>
        <p:spPr>
          <a:xfrm>
            <a:off x="4724400" y="2349500"/>
            <a:ext cx="101600" cy="101600"/>
          </a:xfrm>
          <a:prstGeom prst="ellipse">
            <a:avLst/>
          </a:prstGeom>
          <a:solidFill>
            <a:srgbClr val="E89A2D"/>
          </a:solidFill>
          <a:ln w="12700">
            <a:solidFill>
              <a:srgbClr val="E89A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8EEB155-44E5-4838-9D96-2B3A73D3ADF8}"/>
              </a:ext>
            </a:extLst>
          </p:cNvPr>
          <p:cNvSpPr txBox="1"/>
          <p:nvPr/>
        </p:nvSpPr>
        <p:spPr>
          <a:xfrm>
            <a:off x="5003800" y="2286000"/>
            <a:ext cx="2603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 / H5 </a:t>
            </a:r>
            <a:r>
              <a:rPr lang="zh-CN" altLang="en-US" sz="13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上报与告警接入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B14D3FC1-02C3-437E-8BBF-5158C189CC0F}"/>
              </a:ext>
            </a:extLst>
          </p:cNvPr>
          <p:cNvSpPr/>
          <p:nvPr/>
        </p:nvSpPr>
        <p:spPr>
          <a:xfrm>
            <a:off x="4724400" y="2895600"/>
            <a:ext cx="101600" cy="101600"/>
          </a:xfrm>
          <a:prstGeom prst="ellipse">
            <a:avLst/>
          </a:prstGeom>
          <a:solidFill>
            <a:srgbClr val="E89A2D"/>
          </a:solidFill>
          <a:ln w="12700">
            <a:solidFill>
              <a:srgbClr val="E89A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335E95E-A73A-4A9C-9283-448E728F7FB2}"/>
              </a:ext>
            </a:extLst>
          </p:cNvPr>
          <p:cNvSpPr txBox="1"/>
          <p:nvPr/>
        </p:nvSpPr>
        <p:spPr>
          <a:xfrm>
            <a:off x="5003800" y="2832100"/>
            <a:ext cx="2603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核实、启动预案、自动任务</a:t>
            </a: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55BC9F60-A59D-4D97-A0A5-BDBD41A54738}"/>
              </a:ext>
            </a:extLst>
          </p:cNvPr>
          <p:cNvSpPr/>
          <p:nvPr/>
        </p:nvSpPr>
        <p:spPr>
          <a:xfrm>
            <a:off x="4724400" y="3441700"/>
            <a:ext cx="101600" cy="101600"/>
          </a:xfrm>
          <a:prstGeom prst="ellipse">
            <a:avLst/>
          </a:prstGeom>
          <a:solidFill>
            <a:srgbClr val="E89A2D"/>
          </a:solidFill>
          <a:ln w="12700">
            <a:solidFill>
              <a:srgbClr val="E89A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19B8A7E-AC85-47B9-95F3-22BE1C8B5E15}"/>
              </a:ext>
            </a:extLst>
          </p:cNvPr>
          <p:cNvSpPr txBox="1"/>
          <p:nvPr/>
        </p:nvSpPr>
        <p:spPr>
          <a:xfrm>
            <a:off x="5003800" y="3378200"/>
            <a:ext cx="2603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消息通知与移动反馈</a:t>
            </a: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700DFFE4-401D-480A-8DAA-A97AEDF11BC4}"/>
              </a:ext>
            </a:extLst>
          </p:cNvPr>
          <p:cNvSpPr/>
          <p:nvPr/>
        </p:nvSpPr>
        <p:spPr>
          <a:xfrm>
            <a:off x="4724400" y="3987800"/>
            <a:ext cx="101600" cy="101600"/>
          </a:xfrm>
          <a:prstGeom prst="ellipse">
            <a:avLst/>
          </a:prstGeom>
          <a:solidFill>
            <a:srgbClr val="E89A2D"/>
          </a:solidFill>
          <a:ln w="12700">
            <a:solidFill>
              <a:srgbClr val="E89A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9730B17-9E96-4BDF-AE62-35846E5E0A2D}"/>
              </a:ext>
            </a:extLst>
          </p:cNvPr>
          <p:cNvSpPr txBox="1"/>
          <p:nvPr/>
        </p:nvSpPr>
        <p:spPr>
          <a:xfrm>
            <a:off x="5003800" y="3924300"/>
            <a:ext cx="2603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指挥态势与人员定位</a:t>
            </a: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75485FC3-72A1-4182-BB44-88B07513E31A}"/>
              </a:ext>
            </a:extLst>
          </p:cNvPr>
          <p:cNvSpPr/>
          <p:nvPr/>
        </p:nvSpPr>
        <p:spPr>
          <a:xfrm>
            <a:off x="4724400" y="4533900"/>
            <a:ext cx="101600" cy="101600"/>
          </a:xfrm>
          <a:prstGeom prst="ellipse">
            <a:avLst/>
          </a:prstGeom>
          <a:solidFill>
            <a:srgbClr val="E89A2D"/>
          </a:solidFill>
          <a:ln w="12700">
            <a:solidFill>
              <a:srgbClr val="E89A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5362251-815B-4533-9D97-ED7348215552}"/>
              </a:ext>
            </a:extLst>
          </p:cNvPr>
          <p:cNvSpPr txBox="1"/>
          <p:nvPr/>
        </p:nvSpPr>
        <p:spPr>
          <a:xfrm>
            <a:off x="5003800" y="4470400"/>
            <a:ext cx="2603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视频调阅与门禁联动</a:t>
            </a: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EF6BEA2-1073-4A64-938C-3736A9C7B546}"/>
              </a:ext>
            </a:extLst>
          </p:cNvPr>
          <p:cNvCxnSpPr/>
          <p:nvPr/>
        </p:nvCxnSpPr>
        <p:spPr>
          <a:xfrm>
            <a:off x="7874000" y="3429000"/>
            <a:ext cx="406400" cy="0"/>
          </a:xfrm>
          <a:prstGeom prst="line">
            <a:avLst/>
          </a:prstGeom>
          <a:ln w="25400">
            <a:solidFill>
              <a:srgbClr val="5E718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5A9C3786-372E-4A36-84D4-403763ED18F3}"/>
              </a:ext>
            </a:extLst>
          </p:cNvPr>
          <p:cNvSpPr/>
          <p:nvPr/>
        </p:nvSpPr>
        <p:spPr>
          <a:xfrm>
            <a:off x="8318500" y="1333500"/>
            <a:ext cx="3429000" cy="425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665A52C8-3457-4F39-81BF-5AFA2BAFBAFA}"/>
              </a:ext>
            </a:extLst>
          </p:cNvPr>
          <p:cNvSpPr/>
          <p:nvPr/>
        </p:nvSpPr>
        <p:spPr>
          <a:xfrm>
            <a:off x="8318500" y="1333500"/>
            <a:ext cx="3429000" cy="660400"/>
          </a:xfrm>
          <a:prstGeom prst="roundRect">
            <a:avLst/>
          </a:prstGeom>
          <a:solidFill>
            <a:srgbClr val="2468A2"/>
          </a:solidFill>
          <a:ln w="12700">
            <a:solidFill>
              <a:srgbClr val="2468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171BFFD-CB4C-47CF-B386-6B37F187D51E}"/>
              </a:ext>
            </a:extLst>
          </p:cNvPr>
          <p:cNvSpPr txBox="1"/>
          <p:nvPr/>
        </p:nvSpPr>
        <p:spPr>
          <a:xfrm>
            <a:off x="8547100" y="1511300"/>
            <a:ext cx="2984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事后闭环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FAEE692F-45AF-4496-B169-EC2E82B28D79}"/>
              </a:ext>
            </a:extLst>
          </p:cNvPr>
          <p:cNvSpPr/>
          <p:nvPr/>
        </p:nvSpPr>
        <p:spPr>
          <a:xfrm>
            <a:off x="8597900" y="2349500"/>
            <a:ext cx="101600" cy="101600"/>
          </a:xfrm>
          <a:prstGeom prst="ellipse">
            <a:avLst/>
          </a:prstGeom>
          <a:solidFill>
            <a:srgbClr val="2468A2"/>
          </a:solidFill>
          <a:ln w="12700">
            <a:solidFill>
              <a:srgbClr val="2468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D09E10A-3FB5-4CB3-B21F-F0A6D86CE4FF}"/>
              </a:ext>
            </a:extLst>
          </p:cNvPr>
          <p:cNvSpPr txBox="1"/>
          <p:nvPr/>
        </p:nvSpPr>
        <p:spPr>
          <a:xfrm>
            <a:off x="8877300" y="2286000"/>
            <a:ext cx="2603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事件关闭与事故调查</a:t>
            </a:r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68A23E12-69EE-425D-9DC5-EE18F27E15F0}"/>
              </a:ext>
            </a:extLst>
          </p:cNvPr>
          <p:cNvSpPr/>
          <p:nvPr/>
        </p:nvSpPr>
        <p:spPr>
          <a:xfrm>
            <a:off x="8597900" y="2895600"/>
            <a:ext cx="101600" cy="101600"/>
          </a:xfrm>
          <a:prstGeom prst="ellipse">
            <a:avLst/>
          </a:prstGeom>
          <a:solidFill>
            <a:srgbClr val="2468A2"/>
          </a:solidFill>
          <a:ln w="12700">
            <a:solidFill>
              <a:srgbClr val="2468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5A9E876-DA43-409F-89E9-B56625EA802C}"/>
              </a:ext>
            </a:extLst>
          </p:cNvPr>
          <p:cNvSpPr txBox="1"/>
          <p:nvPr/>
        </p:nvSpPr>
        <p:spPr>
          <a:xfrm>
            <a:off x="8877300" y="2832100"/>
            <a:ext cx="2603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评估报告</a:t>
            </a:r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FE8E65CC-C652-4A44-9DDF-7543EB493C0F}"/>
              </a:ext>
            </a:extLst>
          </p:cNvPr>
          <p:cNvSpPr/>
          <p:nvPr/>
        </p:nvSpPr>
        <p:spPr>
          <a:xfrm>
            <a:off x="8597900" y="3441700"/>
            <a:ext cx="101600" cy="101600"/>
          </a:xfrm>
          <a:prstGeom prst="ellipse">
            <a:avLst/>
          </a:prstGeom>
          <a:solidFill>
            <a:srgbClr val="2468A2"/>
          </a:solidFill>
          <a:ln w="12700">
            <a:solidFill>
              <a:srgbClr val="2468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F28470E-076D-4791-80E8-FBE446829337}"/>
              </a:ext>
            </a:extLst>
          </p:cNvPr>
          <p:cNvSpPr txBox="1"/>
          <p:nvPr/>
        </p:nvSpPr>
        <p:spPr>
          <a:xfrm>
            <a:off x="8877300" y="3378200"/>
            <a:ext cx="2603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演练整改与补演</a:t>
            </a: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D153C9A8-0E08-4C7E-AFBB-DD061DA8267C}"/>
              </a:ext>
            </a:extLst>
          </p:cNvPr>
          <p:cNvSpPr/>
          <p:nvPr/>
        </p:nvSpPr>
        <p:spPr>
          <a:xfrm>
            <a:off x="8597900" y="3987800"/>
            <a:ext cx="101600" cy="101600"/>
          </a:xfrm>
          <a:prstGeom prst="ellipse">
            <a:avLst/>
          </a:prstGeom>
          <a:solidFill>
            <a:srgbClr val="2468A2"/>
          </a:solidFill>
          <a:ln w="12700">
            <a:solidFill>
              <a:srgbClr val="2468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B8EA11A-1EC0-410E-8105-45617C18B9A2}"/>
              </a:ext>
            </a:extLst>
          </p:cNvPr>
          <p:cNvSpPr txBox="1"/>
          <p:nvPr/>
        </p:nvSpPr>
        <p:spPr>
          <a:xfrm>
            <a:off x="8877300" y="3924300"/>
            <a:ext cx="2603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知识沉淀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B7C46BF1-881B-4363-99E4-0EB3F72FAA7C}"/>
              </a:ext>
            </a:extLst>
          </p:cNvPr>
          <p:cNvSpPr/>
          <p:nvPr/>
        </p:nvSpPr>
        <p:spPr>
          <a:xfrm>
            <a:off x="8597900" y="4533900"/>
            <a:ext cx="101600" cy="101600"/>
          </a:xfrm>
          <a:prstGeom prst="ellipse">
            <a:avLst/>
          </a:prstGeom>
          <a:solidFill>
            <a:srgbClr val="2468A2"/>
          </a:solidFill>
          <a:ln w="12700">
            <a:solidFill>
              <a:srgbClr val="2468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46AE0990-B49B-4BB6-8D34-A7D695C1D36A}"/>
              </a:ext>
            </a:extLst>
          </p:cNvPr>
          <p:cNvSpPr txBox="1"/>
          <p:nvPr/>
        </p:nvSpPr>
        <p:spPr>
          <a:xfrm>
            <a:off x="8877300" y="4470400"/>
            <a:ext cx="2603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统计分析与钻取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3929307-1138-463B-8F19-CB0DAAB6F601}"/>
              </a:ext>
            </a:extLst>
          </p:cNvPr>
          <p:cNvSpPr txBox="1"/>
          <p:nvPr/>
        </p:nvSpPr>
        <p:spPr>
          <a:xfrm>
            <a:off x="3238500" y="5918200"/>
            <a:ext cx="571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同一事件编号、同一时间线、同一责任链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0320298-D761-4B0E-B371-A7958DF5256C}"/>
              </a:ext>
            </a:extLst>
          </p:cNvPr>
          <p:cNvSpPr txBox="1"/>
          <p:nvPr/>
        </p:nvSpPr>
        <p:spPr>
          <a:xfrm>
            <a:off x="482600" y="64770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某自然博物馆智能运营中心 </a:t>
            </a:r>
            <a:r>
              <a:rPr lang="en-US" altLang="zh-CN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应急管理子系统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280BB35-620E-497C-83E4-8279E3BE7ADE}"/>
              </a:ext>
            </a:extLst>
          </p:cNvPr>
          <p:cNvSpPr txBox="1"/>
          <p:nvPr/>
        </p:nvSpPr>
        <p:spPr>
          <a:xfrm>
            <a:off x="11176000" y="6477000"/>
            <a:ext cx="533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900" b="1">
              <a:solidFill>
                <a:srgbClr val="5E718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9104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845CA33-FD1F-4519-9D9A-0BD5691165DB}"/>
              </a:ext>
            </a:extLst>
          </p:cNvPr>
          <p:cNvSpPr txBox="1"/>
          <p:nvPr/>
        </p:nvSpPr>
        <p:spPr>
          <a:xfrm>
            <a:off x="482600" y="317500"/>
            <a:ext cx="609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E89A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lang="zh-CN" altLang="en-US" sz="1300" b="1">
              <a:solidFill>
                <a:srgbClr val="E89A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328CDD2-20A2-44E0-A5C4-C69B025983A8}"/>
              </a:ext>
            </a:extLst>
          </p:cNvPr>
          <p:cNvSpPr txBox="1"/>
          <p:nvPr/>
        </p:nvSpPr>
        <p:spPr>
          <a:xfrm>
            <a:off x="1117600" y="254000"/>
            <a:ext cx="10033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6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6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6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H5 </a:t>
            </a:r>
            <a:r>
              <a:rPr lang="zh-CN" altLang="en-US" sz="26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与大屏共用领域服务和标准接口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5B7338C-FDCC-4331-8065-232E0020930A}"/>
              </a:ext>
            </a:extLst>
          </p:cNvPr>
          <p:cNvSpPr txBox="1"/>
          <p:nvPr/>
        </p:nvSpPr>
        <p:spPr>
          <a:xfrm>
            <a:off x="9931400" y="368300"/>
            <a:ext cx="1714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zh-CN" altLang="en-US" sz="11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项目概述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70F2034-DE6F-4CFE-B444-F5B06963BFB2}"/>
              </a:ext>
            </a:extLst>
          </p:cNvPr>
          <p:cNvCxnSpPr/>
          <p:nvPr/>
        </p:nvCxnSpPr>
        <p:spPr>
          <a:xfrm>
            <a:off x="482600" y="889000"/>
            <a:ext cx="11226800" cy="0"/>
          </a:xfrm>
          <a:prstGeom prst="line">
            <a:avLst/>
          </a:prstGeom>
          <a:ln w="12700">
            <a:solidFill>
              <a:srgbClr val="D4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A071D6E-BB50-407A-B8E7-869BAD40F2C3}"/>
              </a:ext>
            </a:extLst>
          </p:cNvPr>
          <p:cNvSpPr/>
          <p:nvPr/>
        </p:nvSpPr>
        <p:spPr>
          <a:xfrm>
            <a:off x="1206500" y="1270000"/>
            <a:ext cx="9144000" cy="73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68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B0359BE-53B9-484F-91D3-38D38A3CB214}"/>
              </a:ext>
            </a:extLst>
          </p:cNvPr>
          <p:cNvSpPr/>
          <p:nvPr/>
        </p:nvSpPr>
        <p:spPr>
          <a:xfrm>
            <a:off x="1206500" y="1270000"/>
            <a:ext cx="1587500" cy="736600"/>
          </a:xfrm>
          <a:prstGeom prst="roundRect">
            <a:avLst/>
          </a:prstGeom>
          <a:solidFill>
            <a:srgbClr val="2468A2"/>
          </a:solidFill>
          <a:ln w="12700">
            <a:solidFill>
              <a:srgbClr val="2468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CA67D43-1EE6-4AB7-9BEA-0FCD909A4829}"/>
              </a:ext>
            </a:extLst>
          </p:cNvPr>
          <p:cNvSpPr txBox="1"/>
          <p:nvPr/>
        </p:nvSpPr>
        <p:spPr>
          <a:xfrm>
            <a:off x="1422400" y="1485900"/>
            <a:ext cx="1143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C6A605C-5CBE-4B94-BAB6-D4E820EC95D3}"/>
              </a:ext>
            </a:extLst>
          </p:cNvPr>
          <p:cNvSpPr txBox="1"/>
          <p:nvPr/>
        </p:nvSpPr>
        <p:spPr>
          <a:xfrm>
            <a:off x="3111500" y="1485900"/>
            <a:ext cx="6794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4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 </a:t>
            </a:r>
            <a:r>
              <a:rPr lang="zh-CN" altLang="en-US" sz="14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管理端    </a:t>
            </a:r>
            <a:r>
              <a:rPr lang="en-US" altLang="zh-CN" sz="14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H5 </a:t>
            </a:r>
            <a:r>
              <a:rPr lang="zh-CN" altLang="en-US" sz="14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移动端    指挥大屏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AEB9242-EED4-426E-89F5-2DA3CD39D9E1}"/>
              </a:ext>
            </a:extLst>
          </p:cNvPr>
          <p:cNvSpPr/>
          <p:nvPr/>
        </p:nvSpPr>
        <p:spPr>
          <a:xfrm>
            <a:off x="1206500" y="2260600"/>
            <a:ext cx="9144000" cy="73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87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79E7F41-2A6D-4965-B532-22AEDDFFF6DA}"/>
              </a:ext>
            </a:extLst>
          </p:cNvPr>
          <p:cNvSpPr/>
          <p:nvPr/>
        </p:nvSpPr>
        <p:spPr>
          <a:xfrm>
            <a:off x="1206500" y="2260600"/>
            <a:ext cx="1587500" cy="736600"/>
          </a:xfrm>
          <a:prstGeom prst="roundRect">
            <a:avLst/>
          </a:prstGeom>
          <a:solidFill>
            <a:srgbClr val="2A8793"/>
          </a:solidFill>
          <a:ln w="12700">
            <a:solidFill>
              <a:srgbClr val="2A87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F4CADED-2086-4A23-AD7F-6FF534DADA0B}"/>
              </a:ext>
            </a:extLst>
          </p:cNvPr>
          <p:cNvSpPr txBox="1"/>
          <p:nvPr/>
        </p:nvSpPr>
        <p:spPr>
          <a:xfrm>
            <a:off x="1422400" y="2476500"/>
            <a:ext cx="1143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A62497-BC2F-4CF1-A996-17BB6F66B67C}"/>
              </a:ext>
            </a:extLst>
          </p:cNvPr>
          <p:cNvSpPr txBox="1"/>
          <p:nvPr/>
        </p:nvSpPr>
        <p:spPr>
          <a:xfrm>
            <a:off x="3111500" y="2476500"/>
            <a:ext cx="6794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4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预案  事件  任务  态势  资源  值班  演练  知识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00C3A90-1AE1-4955-BE21-F97E39C23C1D}"/>
              </a:ext>
            </a:extLst>
          </p:cNvPr>
          <p:cNvSpPr/>
          <p:nvPr/>
        </p:nvSpPr>
        <p:spPr>
          <a:xfrm>
            <a:off x="1206500" y="3251200"/>
            <a:ext cx="9144000" cy="73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9A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204A189-48E9-4D4B-B1C7-4D8DA4922EE0}"/>
              </a:ext>
            </a:extLst>
          </p:cNvPr>
          <p:cNvSpPr/>
          <p:nvPr/>
        </p:nvSpPr>
        <p:spPr>
          <a:xfrm>
            <a:off x="1206500" y="3251200"/>
            <a:ext cx="1587500" cy="736600"/>
          </a:xfrm>
          <a:prstGeom prst="roundRect">
            <a:avLst/>
          </a:prstGeom>
          <a:solidFill>
            <a:srgbClr val="E89A2D"/>
          </a:solidFill>
          <a:ln w="12700">
            <a:solidFill>
              <a:srgbClr val="E89A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286A53F-D3A2-4243-BC26-5F059735689F}"/>
              </a:ext>
            </a:extLst>
          </p:cNvPr>
          <p:cNvSpPr txBox="1"/>
          <p:nvPr/>
        </p:nvSpPr>
        <p:spPr>
          <a:xfrm>
            <a:off x="1422400" y="3467100"/>
            <a:ext cx="1143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支撑层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3D932B1-C634-47AB-B13C-6632BDE46445}"/>
              </a:ext>
            </a:extLst>
          </p:cNvPr>
          <p:cNvSpPr txBox="1"/>
          <p:nvPr/>
        </p:nvSpPr>
        <p:spPr>
          <a:xfrm>
            <a:off x="3111500" y="3467100"/>
            <a:ext cx="6794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4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鉴权与权限    幂等    事务 </a:t>
            </a:r>
            <a:r>
              <a:rPr lang="en-US" altLang="zh-CN" sz="14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Outbox    </a:t>
            </a:r>
            <a:r>
              <a:rPr lang="zh-CN" altLang="en-US" sz="14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审计与 </a:t>
            </a:r>
            <a:r>
              <a:rPr lang="en-US" altLang="zh-CN" sz="14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traceId    OpenAPI</a:t>
            </a:r>
            <a:endParaRPr lang="zh-CN" altLang="en-US" sz="1400">
              <a:solidFill>
                <a:srgbClr val="1732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0524E0A-B26B-4187-8610-494813998EB0}"/>
              </a:ext>
            </a:extLst>
          </p:cNvPr>
          <p:cNvSpPr/>
          <p:nvPr/>
        </p:nvSpPr>
        <p:spPr>
          <a:xfrm>
            <a:off x="1206500" y="4241800"/>
            <a:ext cx="9144000" cy="73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30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BAC2D0C-0DAE-4BD1-9A67-1905F0E90EDB}"/>
              </a:ext>
            </a:extLst>
          </p:cNvPr>
          <p:cNvSpPr/>
          <p:nvPr/>
        </p:nvSpPr>
        <p:spPr>
          <a:xfrm>
            <a:off x="1206500" y="4241800"/>
            <a:ext cx="1587500" cy="736600"/>
          </a:xfrm>
          <a:prstGeom prst="roundRect">
            <a:avLst/>
          </a:prstGeom>
          <a:solidFill>
            <a:srgbClr val="12304B"/>
          </a:solidFill>
          <a:ln w="12700">
            <a:solidFill>
              <a:srgbClr val="1230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E5BFA07-40F4-4EEF-865F-44A3319FC1E3}"/>
              </a:ext>
            </a:extLst>
          </p:cNvPr>
          <p:cNvSpPr txBox="1"/>
          <p:nvPr/>
        </p:nvSpPr>
        <p:spPr>
          <a:xfrm>
            <a:off x="1422400" y="4457700"/>
            <a:ext cx="1143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8503CAB-94C1-4248-8317-38E08C87E141}"/>
              </a:ext>
            </a:extLst>
          </p:cNvPr>
          <p:cNvSpPr txBox="1"/>
          <p:nvPr/>
        </p:nvSpPr>
        <p:spPr>
          <a:xfrm>
            <a:off x="3111500" y="4457700"/>
            <a:ext cx="6794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4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关系数据库    领域数据单一写入主责    可重建态势</a:t>
            </a:r>
            <a:r>
              <a:rPr lang="en-US" altLang="zh-CN" sz="14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统计投影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7615207-EC77-41A2-A9AB-BE912FDE82A1}"/>
              </a:ext>
            </a:extLst>
          </p:cNvPr>
          <p:cNvSpPr txBox="1"/>
          <p:nvPr/>
        </p:nvSpPr>
        <p:spPr>
          <a:xfrm>
            <a:off x="698500" y="5461000"/>
            <a:ext cx="1651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外部适配端口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9FF25FB-6206-44DA-AE90-AEC26E20467E}"/>
              </a:ext>
            </a:extLst>
          </p:cNvPr>
          <p:cNvSpPr/>
          <p:nvPr/>
        </p:nvSpPr>
        <p:spPr>
          <a:xfrm>
            <a:off x="2159000" y="5410200"/>
            <a:ext cx="812800" cy="2921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28EB798-1228-4E80-ADBF-8E23E0B6DA43}"/>
              </a:ext>
            </a:extLst>
          </p:cNvPr>
          <p:cNvSpPr txBox="1"/>
          <p:nvPr/>
        </p:nvSpPr>
        <p:spPr>
          <a:xfrm>
            <a:off x="2247900" y="5461000"/>
            <a:ext cx="63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视频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0F11925D-152B-4572-A97B-D94F33CCED26}"/>
              </a:ext>
            </a:extLst>
          </p:cNvPr>
          <p:cNvSpPr/>
          <p:nvPr/>
        </p:nvSpPr>
        <p:spPr>
          <a:xfrm>
            <a:off x="3073400" y="5410200"/>
            <a:ext cx="812800" cy="2921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338735C-0955-481E-9D08-32B5957C5652}"/>
              </a:ext>
            </a:extLst>
          </p:cNvPr>
          <p:cNvSpPr txBox="1"/>
          <p:nvPr/>
        </p:nvSpPr>
        <p:spPr>
          <a:xfrm>
            <a:off x="3162300" y="5461000"/>
            <a:ext cx="63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信息发布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A73B02A1-302C-4BAD-976E-088BF97516AC}"/>
              </a:ext>
            </a:extLst>
          </p:cNvPr>
          <p:cNvSpPr/>
          <p:nvPr/>
        </p:nvSpPr>
        <p:spPr>
          <a:xfrm>
            <a:off x="3987800" y="5410200"/>
            <a:ext cx="812800" cy="2921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5A1B539-0AD7-42C8-8845-988299C950DC}"/>
              </a:ext>
            </a:extLst>
          </p:cNvPr>
          <p:cNvSpPr txBox="1"/>
          <p:nvPr/>
        </p:nvSpPr>
        <p:spPr>
          <a:xfrm>
            <a:off x="4076700" y="5461000"/>
            <a:ext cx="63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入侵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614EF01A-777C-4A53-8374-D50E26315707}"/>
              </a:ext>
            </a:extLst>
          </p:cNvPr>
          <p:cNvSpPr/>
          <p:nvPr/>
        </p:nvSpPr>
        <p:spPr>
          <a:xfrm>
            <a:off x="4902200" y="5410200"/>
            <a:ext cx="812800" cy="2921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8821B4B-F430-475F-943A-062D015042BE}"/>
              </a:ext>
            </a:extLst>
          </p:cNvPr>
          <p:cNvSpPr txBox="1"/>
          <p:nvPr/>
        </p:nvSpPr>
        <p:spPr>
          <a:xfrm>
            <a:off x="4991100" y="5461000"/>
            <a:ext cx="63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门禁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E0DBBF21-7257-45BB-8B92-CBFD75D4B3EA}"/>
              </a:ext>
            </a:extLst>
          </p:cNvPr>
          <p:cNvSpPr/>
          <p:nvPr/>
        </p:nvSpPr>
        <p:spPr>
          <a:xfrm>
            <a:off x="5816600" y="5410200"/>
            <a:ext cx="812800" cy="2921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340C9AD-ACA3-40CC-B17A-6AA9C2E43FA0}"/>
              </a:ext>
            </a:extLst>
          </p:cNvPr>
          <p:cNvSpPr txBox="1"/>
          <p:nvPr/>
        </p:nvSpPr>
        <p:spPr>
          <a:xfrm>
            <a:off x="5905500" y="5461000"/>
            <a:ext cx="63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消防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CBE961A7-FB81-4DC5-8804-CF0D769AE7F6}"/>
              </a:ext>
            </a:extLst>
          </p:cNvPr>
          <p:cNvSpPr/>
          <p:nvPr/>
        </p:nvSpPr>
        <p:spPr>
          <a:xfrm>
            <a:off x="6731000" y="5410200"/>
            <a:ext cx="812800" cy="2921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75C3230-16FF-482D-AB20-96B0C5614D66}"/>
              </a:ext>
            </a:extLst>
          </p:cNvPr>
          <p:cNvSpPr txBox="1"/>
          <p:nvPr/>
        </p:nvSpPr>
        <p:spPr>
          <a:xfrm>
            <a:off x="6819900" y="5461000"/>
            <a:ext cx="63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IoT</a:t>
            </a:r>
            <a:endParaRPr lang="zh-CN" altLang="en-US" sz="1000" b="1">
              <a:solidFill>
                <a:srgbClr val="12304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D5EAD31E-1260-48AE-B1B3-22875F3B46A6}"/>
              </a:ext>
            </a:extLst>
          </p:cNvPr>
          <p:cNvSpPr/>
          <p:nvPr/>
        </p:nvSpPr>
        <p:spPr>
          <a:xfrm>
            <a:off x="7645400" y="5410200"/>
            <a:ext cx="812800" cy="2921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D7DFF63-1A8B-44C8-95EC-184A704F6798}"/>
              </a:ext>
            </a:extLst>
          </p:cNvPr>
          <p:cNvSpPr txBox="1"/>
          <p:nvPr/>
        </p:nvSpPr>
        <p:spPr>
          <a:xfrm>
            <a:off x="7734300" y="5461000"/>
            <a:ext cx="63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中台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7601F4F9-ED07-4540-A231-03563ADF36FE}"/>
              </a:ext>
            </a:extLst>
          </p:cNvPr>
          <p:cNvSpPr/>
          <p:nvPr/>
        </p:nvSpPr>
        <p:spPr>
          <a:xfrm>
            <a:off x="8559800" y="5410200"/>
            <a:ext cx="812800" cy="2921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25D6666-F1B5-4DB6-A31F-D121A8F11860}"/>
              </a:ext>
            </a:extLst>
          </p:cNvPr>
          <p:cNvSpPr txBox="1"/>
          <p:nvPr/>
        </p:nvSpPr>
        <p:spPr>
          <a:xfrm>
            <a:off x="8648700" y="5461000"/>
            <a:ext cx="63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消息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AA6D0660-1AD9-4B8E-AB13-5D891C9D5666}"/>
              </a:ext>
            </a:extLst>
          </p:cNvPr>
          <p:cNvSpPr/>
          <p:nvPr/>
        </p:nvSpPr>
        <p:spPr>
          <a:xfrm>
            <a:off x="9474200" y="5410200"/>
            <a:ext cx="812800" cy="2921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D4010C2-93A9-4EDE-AFAE-E0EE06CE1818}"/>
              </a:ext>
            </a:extLst>
          </p:cNvPr>
          <p:cNvSpPr txBox="1"/>
          <p:nvPr/>
        </p:nvSpPr>
        <p:spPr>
          <a:xfrm>
            <a:off x="9563100" y="5461000"/>
            <a:ext cx="63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GIS/</a:t>
            </a:r>
            <a:r>
              <a:rPr lang="zh-CN" altLang="en-US" sz="10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C882B6E5-064C-430A-9D4A-775BE9A920C8}"/>
              </a:ext>
            </a:extLst>
          </p:cNvPr>
          <p:cNvSpPr/>
          <p:nvPr/>
        </p:nvSpPr>
        <p:spPr>
          <a:xfrm>
            <a:off x="10388600" y="5410200"/>
            <a:ext cx="812800" cy="2921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A1AE907-F473-42EC-9FDF-4A8559E9C0EB}"/>
              </a:ext>
            </a:extLst>
          </p:cNvPr>
          <p:cNvSpPr txBox="1"/>
          <p:nvPr/>
        </p:nvSpPr>
        <p:spPr>
          <a:xfrm>
            <a:off x="10477500" y="5461000"/>
            <a:ext cx="63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宿主 </a:t>
            </a:r>
            <a:r>
              <a:rPr lang="en-US" altLang="zh-CN" sz="10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endParaRPr lang="zh-CN" altLang="en-US" sz="1000" b="1">
              <a:solidFill>
                <a:srgbClr val="12304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1F24C02-1C2D-4AC5-BFDC-BB499DE0C189}"/>
              </a:ext>
            </a:extLst>
          </p:cNvPr>
          <p:cNvSpPr txBox="1"/>
          <p:nvPr/>
        </p:nvSpPr>
        <p:spPr>
          <a:xfrm>
            <a:off x="482600" y="64770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某自然博物馆智能运营中心 </a:t>
            </a:r>
            <a:r>
              <a:rPr lang="en-US" altLang="zh-CN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应急管理子系统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87EDBD31-EFEF-45DA-BECC-A58C56A19D9F}"/>
              </a:ext>
            </a:extLst>
          </p:cNvPr>
          <p:cNvSpPr txBox="1"/>
          <p:nvPr/>
        </p:nvSpPr>
        <p:spPr>
          <a:xfrm>
            <a:off x="11176000" y="6477000"/>
            <a:ext cx="533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lang="zh-CN" altLang="en-US" sz="900" b="1">
              <a:solidFill>
                <a:srgbClr val="5E718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4046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48BA9F0-6A32-4650-B202-F145BB16C1C4}"/>
              </a:ext>
            </a:extLst>
          </p:cNvPr>
          <p:cNvSpPr txBox="1"/>
          <p:nvPr/>
        </p:nvSpPr>
        <p:spPr>
          <a:xfrm>
            <a:off x="482600" y="317500"/>
            <a:ext cx="609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E89A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</a:t>
            </a:r>
            <a:endParaRPr lang="zh-CN" altLang="en-US" sz="1300" b="1">
              <a:solidFill>
                <a:srgbClr val="E89A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89E435F-54E8-4789-85FE-528857EB7F2D}"/>
              </a:ext>
            </a:extLst>
          </p:cNvPr>
          <p:cNvSpPr txBox="1"/>
          <p:nvPr/>
        </p:nvSpPr>
        <p:spPr>
          <a:xfrm>
            <a:off x="1117600" y="254000"/>
            <a:ext cx="10033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6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数字化预案把流程、责任人与任务模板固化为可执行版本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640F7D6-3F86-46D8-947E-2EA5893753A6}"/>
              </a:ext>
            </a:extLst>
          </p:cNvPr>
          <p:cNvSpPr txBox="1"/>
          <p:nvPr/>
        </p:nvSpPr>
        <p:spPr>
          <a:xfrm>
            <a:off x="9931400" y="368300"/>
            <a:ext cx="1714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zh-CN" altLang="en-US" sz="11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系统完成情况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B49BF5D-B92C-4C67-A0F2-B04157D7B71B}"/>
              </a:ext>
            </a:extLst>
          </p:cNvPr>
          <p:cNvCxnSpPr/>
          <p:nvPr/>
        </p:nvCxnSpPr>
        <p:spPr>
          <a:xfrm>
            <a:off x="482600" y="889000"/>
            <a:ext cx="11226800" cy="0"/>
          </a:xfrm>
          <a:prstGeom prst="line">
            <a:avLst/>
          </a:prstGeom>
          <a:ln w="12700">
            <a:solidFill>
              <a:srgbClr val="D4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BF6CA3BB-5BB3-48FB-9BB8-E141937339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6067" y="2021417"/>
            <a:ext cx="4097867" cy="2561167"/>
          </a:xfrm>
          <a:prstGeom prst="rect">
            <a:avLst/>
          </a:prstGeom>
          <a:ln w="12700">
            <a:solidFill>
              <a:srgbClr val="D4E0E7"/>
            </a:solidFill>
          </a:ln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AFCA7B0-4DDA-4582-8274-337A9ED56F93}"/>
              </a:ext>
            </a:extLst>
          </p:cNvPr>
          <p:cNvSpPr txBox="1"/>
          <p:nvPr/>
        </p:nvSpPr>
        <p:spPr>
          <a:xfrm>
            <a:off x="8737600" y="1295400"/>
            <a:ext cx="2286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预案能力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1385324-C51A-4DA0-B2B5-D69883F87A86}"/>
              </a:ext>
            </a:extLst>
          </p:cNvPr>
          <p:cNvSpPr/>
          <p:nvPr/>
        </p:nvSpPr>
        <p:spPr>
          <a:xfrm>
            <a:off x="8788400" y="1778000"/>
            <a:ext cx="101600" cy="101600"/>
          </a:xfrm>
          <a:prstGeom prst="ellipse">
            <a:avLst/>
          </a:prstGeom>
          <a:solidFill>
            <a:srgbClr val="2A8793"/>
          </a:solidFill>
          <a:ln w="12700">
            <a:solidFill>
              <a:srgbClr val="2A87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9358CD5-31C8-40FB-A8BC-C943A2DC051D}"/>
              </a:ext>
            </a:extLst>
          </p:cNvPr>
          <p:cNvSpPr txBox="1"/>
          <p:nvPr/>
        </p:nvSpPr>
        <p:spPr>
          <a:xfrm>
            <a:off x="9042400" y="1701800"/>
            <a:ext cx="2565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综合、专项、现场处置分层分类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4861CC6F-8EC6-4F71-91AB-1F0AA5640D40}"/>
              </a:ext>
            </a:extLst>
          </p:cNvPr>
          <p:cNvSpPr/>
          <p:nvPr/>
        </p:nvSpPr>
        <p:spPr>
          <a:xfrm>
            <a:off x="8788400" y="2336800"/>
            <a:ext cx="101600" cy="101600"/>
          </a:xfrm>
          <a:prstGeom prst="ellipse">
            <a:avLst/>
          </a:prstGeom>
          <a:solidFill>
            <a:srgbClr val="2A8793"/>
          </a:solidFill>
          <a:ln w="12700">
            <a:solidFill>
              <a:srgbClr val="2A87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A5FBF88-E447-4CD1-940E-625CC21A7427}"/>
              </a:ext>
            </a:extLst>
          </p:cNvPr>
          <p:cNvSpPr txBox="1"/>
          <p:nvPr/>
        </p:nvSpPr>
        <p:spPr>
          <a:xfrm>
            <a:off x="9042400" y="2260600"/>
            <a:ext cx="2565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场景、流程节点、核实环节可配置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DC680EEE-AB32-4910-A1B5-AF46B3BC9A13}"/>
              </a:ext>
            </a:extLst>
          </p:cNvPr>
          <p:cNvSpPr/>
          <p:nvPr/>
        </p:nvSpPr>
        <p:spPr>
          <a:xfrm>
            <a:off x="8788400" y="2895600"/>
            <a:ext cx="101600" cy="101600"/>
          </a:xfrm>
          <a:prstGeom prst="ellipse">
            <a:avLst/>
          </a:prstGeom>
          <a:solidFill>
            <a:srgbClr val="2A8793"/>
          </a:solidFill>
          <a:ln w="12700">
            <a:solidFill>
              <a:srgbClr val="2A87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EA591C9-DA6C-4B1A-A12F-26B5076A48D2}"/>
              </a:ext>
            </a:extLst>
          </p:cNvPr>
          <p:cNvSpPr txBox="1"/>
          <p:nvPr/>
        </p:nvSpPr>
        <p:spPr>
          <a:xfrm>
            <a:off x="9042400" y="2819400"/>
            <a:ext cx="2565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任务模板绑定岗位、人员与截止时限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008BE23B-F797-4BFF-939E-45C5DD4B9985}"/>
              </a:ext>
            </a:extLst>
          </p:cNvPr>
          <p:cNvSpPr/>
          <p:nvPr/>
        </p:nvSpPr>
        <p:spPr>
          <a:xfrm>
            <a:off x="8788400" y="3454400"/>
            <a:ext cx="101600" cy="101600"/>
          </a:xfrm>
          <a:prstGeom prst="ellipse">
            <a:avLst/>
          </a:prstGeom>
          <a:solidFill>
            <a:srgbClr val="2A8793"/>
          </a:solidFill>
          <a:ln w="12700">
            <a:solidFill>
              <a:srgbClr val="2A87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3DEDAAF-993C-41E0-9652-3B81904AFA81}"/>
              </a:ext>
            </a:extLst>
          </p:cNvPr>
          <p:cNvSpPr txBox="1"/>
          <p:nvPr/>
        </p:nvSpPr>
        <p:spPr>
          <a:xfrm>
            <a:off x="9042400" y="3378200"/>
            <a:ext cx="2565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通知、调派对象和附件随版本保存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15E8BBCD-C8D5-4407-9678-D6B130D0EA96}"/>
              </a:ext>
            </a:extLst>
          </p:cNvPr>
          <p:cNvSpPr/>
          <p:nvPr/>
        </p:nvSpPr>
        <p:spPr>
          <a:xfrm>
            <a:off x="8788400" y="4013200"/>
            <a:ext cx="101600" cy="101600"/>
          </a:xfrm>
          <a:prstGeom prst="ellipse">
            <a:avLst/>
          </a:prstGeom>
          <a:solidFill>
            <a:srgbClr val="2A8793"/>
          </a:solidFill>
          <a:ln w="12700">
            <a:solidFill>
              <a:srgbClr val="2A87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BDEBF51-1BFA-4499-8096-7D8F8DF24578}"/>
              </a:ext>
            </a:extLst>
          </p:cNvPr>
          <p:cNvSpPr txBox="1"/>
          <p:nvPr/>
        </p:nvSpPr>
        <p:spPr>
          <a:xfrm>
            <a:off x="9042400" y="3937000"/>
            <a:ext cx="2565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发布版本不可原位修改，历史可追溯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0CB774E-F883-4002-81A7-1918EE7D077D}"/>
              </a:ext>
            </a:extLst>
          </p:cNvPr>
          <p:cNvSpPr/>
          <p:nvPr/>
        </p:nvSpPr>
        <p:spPr>
          <a:xfrm>
            <a:off x="1016000" y="5715000"/>
            <a:ext cx="1950720" cy="508000"/>
          </a:xfrm>
          <a:prstGeom prst="roundRect">
            <a:avLst/>
          </a:prstGeom>
          <a:solidFill>
            <a:srgbClr val="DCECF6"/>
          </a:solidFill>
          <a:ln w="12700">
            <a:solidFill>
              <a:srgbClr val="DCEC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4347E99-3967-4285-92CE-FC2679BF9BD9}"/>
              </a:ext>
            </a:extLst>
          </p:cNvPr>
          <p:cNvSpPr txBox="1"/>
          <p:nvPr/>
        </p:nvSpPr>
        <p:spPr>
          <a:xfrm>
            <a:off x="1079500" y="5842000"/>
            <a:ext cx="182372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100" b="1">
                <a:solidFill>
                  <a:srgbClr val="2468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编制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ED8DEDBB-0FAC-42A2-A4E5-9D20E07F63FA}"/>
              </a:ext>
            </a:extLst>
          </p:cNvPr>
          <p:cNvCxnSpPr/>
          <p:nvPr/>
        </p:nvCxnSpPr>
        <p:spPr>
          <a:xfrm>
            <a:off x="2966720" y="5969000"/>
            <a:ext cx="88900" cy="0"/>
          </a:xfrm>
          <a:prstGeom prst="line">
            <a:avLst/>
          </a:prstGeom>
          <a:ln w="19050">
            <a:solidFill>
              <a:srgbClr val="2468A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75E947B-FC62-49AD-BAFF-CC52854D66D5}"/>
              </a:ext>
            </a:extLst>
          </p:cNvPr>
          <p:cNvSpPr/>
          <p:nvPr/>
        </p:nvSpPr>
        <p:spPr>
          <a:xfrm>
            <a:off x="3068320" y="5715000"/>
            <a:ext cx="1950720" cy="508000"/>
          </a:xfrm>
          <a:prstGeom prst="roundRect">
            <a:avLst/>
          </a:prstGeom>
          <a:solidFill>
            <a:srgbClr val="DCECF6"/>
          </a:solidFill>
          <a:ln w="12700">
            <a:solidFill>
              <a:srgbClr val="DCEC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69032CA-F737-4A14-86FF-77AA476A45E3}"/>
              </a:ext>
            </a:extLst>
          </p:cNvPr>
          <p:cNvSpPr txBox="1"/>
          <p:nvPr/>
        </p:nvSpPr>
        <p:spPr>
          <a:xfrm>
            <a:off x="3131820" y="5842000"/>
            <a:ext cx="182372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100" b="1">
                <a:solidFill>
                  <a:srgbClr val="2468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审核</a:t>
            </a:r>
            <a:r>
              <a:rPr lang="en-US" altLang="zh-CN" sz="1100" b="1">
                <a:solidFill>
                  <a:srgbClr val="2468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100" b="1">
                <a:solidFill>
                  <a:srgbClr val="2468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发布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2074C84-11C6-4E21-BE42-3F5F2766A8CC}"/>
              </a:ext>
            </a:extLst>
          </p:cNvPr>
          <p:cNvCxnSpPr/>
          <p:nvPr/>
        </p:nvCxnSpPr>
        <p:spPr>
          <a:xfrm>
            <a:off x="5019040" y="5969000"/>
            <a:ext cx="88900" cy="0"/>
          </a:xfrm>
          <a:prstGeom prst="line">
            <a:avLst/>
          </a:prstGeom>
          <a:ln w="19050">
            <a:solidFill>
              <a:srgbClr val="2468A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078B92F5-0C9F-4D43-BEA4-CD08EA3BB08A}"/>
              </a:ext>
            </a:extLst>
          </p:cNvPr>
          <p:cNvSpPr/>
          <p:nvPr/>
        </p:nvSpPr>
        <p:spPr>
          <a:xfrm>
            <a:off x="5120640" y="5715000"/>
            <a:ext cx="1950721" cy="508000"/>
          </a:xfrm>
          <a:prstGeom prst="roundRect">
            <a:avLst/>
          </a:prstGeom>
          <a:solidFill>
            <a:srgbClr val="DCECF6"/>
          </a:solidFill>
          <a:ln w="12700">
            <a:solidFill>
              <a:srgbClr val="DCEC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C05EFD0-4A41-4C30-9FE9-B989023D67AA}"/>
              </a:ext>
            </a:extLst>
          </p:cNvPr>
          <p:cNvSpPr txBox="1"/>
          <p:nvPr/>
        </p:nvSpPr>
        <p:spPr>
          <a:xfrm>
            <a:off x="5184140" y="5842000"/>
            <a:ext cx="182372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100" b="1">
                <a:solidFill>
                  <a:srgbClr val="2468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事件匹配</a:t>
            </a: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9CCDFABD-B96B-40B6-8C52-64629DB167AD}"/>
              </a:ext>
            </a:extLst>
          </p:cNvPr>
          <p:cNvCxnSpPr/>
          <p:nvPr/>
        </p:nvCxnSpPr>
        <p:spPr>
          <a:xfrm>
            <a:off x="7071360" y="5969000"/>
            <a:ext cx="88900" cy="0"/>
          </a:xfrm>
          <a:prstGeom prst="line">
            <a:avLst/>
          </a:prstGeom>
          <a:ln w="19050">
            <a:solidFill>
              <a:srgbClr val="2468A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1D9E3C1F-3A59-4A0A-B63F-EE6803B15BE9}"/>
              </a:ext>
            </a:extLst>
          </p:cNvPr>
          <p:cNvSpPr/>
          <p:nvPr/>
        </p:nvSpPr>
        <p:spPr>
          <a:xfrm>
            <a:off x="7172960" y="5715000"/>
            <a:ext cx="1950720" cy="508000"/>
          </a:xfrm>
          <a:prstGeom prst="roundRect">
            <a:avLst/>
          </a:prstGeom>
          <a:solidFill>
            <a:srgbClr val="DCECF6"/>
          </a:solidFill>
          <a:ln w="12700">
            <a:solidFill>
              <a:srgbClr val="DCEC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8432C4D-E2A2-48E4-A12C-7A7EBB9C769F}"/>
              </a:ext>
            </a:extLst>
          </p:cNvPr>
          <p:cNvSpPr txBox="1"/>
          <p:nvPr/>
        </p:nvSpPr>
        <p:spPr>
          <a:xfrm>
            <a:off x="7236460" y="5842000"/>
            <a:ext cx="182372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100" b="1">
                <a:solidFill>
                  <a:srgbClr val="2468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266DAF88-C628-46CC-9D40-93A1BC328551}"/>
              </a:ext>
            </a:extLst>
          </p:cNvPr>
          <p:cNvCxnSpPr/>
          <p:nvPr/>
        </p:nvCxnSpPr>
        <p:spPr>
          <a:xfrm>
            <a:off x="9123680" y="5969000"/>
            <a:ext cx="88900" cy="0"/>
          </a:xfrm>
          <a:prstGeom prst="line">
            <a:avLst/>
          </a:prstGeom>
          <a:ln w="19050">
            <a:solidFill>
              <a:srgbClr val="2468A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9C6BD0B5-285B-44C8-8675-97C15B538AFD}"/>
              </a:ext>
            </a:extLst>
          </p:cNvPr>
          <p:cNvSpPr/>
          <p:nvPr/>
        </p:nvSpPr>
        <p:spPr>
          <a:xfrm>
            <a:off x="9225280" y="5715000"/>
            <a:ext cx="1950720" cy="508000"/>
          </a:xfrm>
          <a:prstGeom prst="roundRect">
            <a:avLst/>
          </a:prstGeom>
          <a:solidFill>
            <a:srgbClr val="DCECF6"/>
          </a:solidFill>
          <a:ln w="12700">
            <a:solidFill>
              <a:srgbClr val="DCEC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5254329-637C-4D1B-A16E-631DBCE73BC9}"/>
              </a:ext>
            </a:extLst>
          </p:cNvPr>
          <p:cNvSpPr txBox="1"/>
          <p:nvPr/>
        </p:nvSpPr>
        <p:spPr>
          <a:xfrm>
            <a:off x="9288780" y="5842000"/>
            <a:ext cx="182372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100" b="1">
                <a:solidFill>
                  <a:srgbClr val="2468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实例化任务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22D32E8-072D-4099-BE2D-772654B4FCB6}"/>
              </a:ext>
            </a:extLst>
          </p:cNvPr>
          <p:cNvSpPr txBox="1"/>
          <p:nvPr/>
        </p:nvSpPr>
        <p:spPr>
          <a:xfrm>
            <a:off x="482600" y="64770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某自然博物馆智能运营中心 </a:t>
            </a:r>
            <a:r>
              <a:rPr lang="en-US" altLang="zh-CN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应急管理子系统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0ED5414-1A4B-49DD-B00E-EA92A3A5A07D}"/>
              </a:ext>
            </a:extLst>
          </p:cNvPr>
          <p:cNvSpPr txBox="1"/>
          <p:nvPr/>
        </p:nvSpPr>
        <p:spPr>
          <a:xfrm>
            <a:off x="11176000" y="6477000"/>
            <a:ext cx="533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</a:t>
            </a:r>
            <a:endParaRPr lang="zh-CN" altLang="en-US" sz="900" b="1">
              <a:solidFill>
                <a:srgbClr val="5E718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19961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C54BF8C-F449-4A90-A228-003F0AFD6C48}"/>
              </a:ext>
            </a:extLst>
          </p:cNvPr>
          <p:cNvSpPr txBox="1"/>
          <p:nvPr/>
        </p:nvSpPr>
        <p:spPr>
          <a:xfrm>
            <a:off x="482600" y="317500"/>
            <a:ext cx="609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E89A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08</a:t>
            </a:r>
            <a:endParaRPr lang="zh-CN" altLang="en-US" sz="1300" b="1">
              <a:solidFill>
                <a:srgbClr val="E89A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7E4CCE2-1B55-453A-BE08-81E96BE7F6A5}"/>
              </a:ext>
            </a:extLst>
          </p:cNvPr>
          <p:cNvSpPr txBox="1"/>
          <p:nvPr/>
        </p:nvSpPr>
        <p:spPr>
          <a:xfrm>
            <a:off x="1117600" y="254000"/>
            <a:ext cx="10033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6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事件全生命周期闭环：从多渠道上报到关闭归档全程可追溯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A81AAD5-7841-44D8-9F25-6760AECBB88F}"/>
              </a:ext>
            </a:extLst>
          </p:cNvPr>
          <p:cNvSpPr txBox="1"/>
          <p:nvPr/>
        </p:nvSpPr>
        <p:spPr>
          <a:xfrm>
            <a:off x="9931400" y="368300"/>
            <a:ext cx="1714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zh-CN" altLang="en-US" sz="11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系统完成情况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273A6B4-4C5D-4825-A23F-7C6A1306F321}"/>
              </a:ext>
            </a:extLst>
          </p:cNvPr>
          <p:cNvCxnSpPr/>
          <p:nvPr/>
        </p:nvCxnSpPr>
        <p:spPr>
          <a:xfrm>
            <a:off x="482600" y="889000"/>
            <a:ext cx="11226800" cy="0"/>
          </a:xfrm>
          <a:prstGeom prst="line">
            <a:avLst/>
          </a:prstGeom>
          <a:ln w="12700">
            <a:solidFill>
              <a:srgbClr val="D4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447CCA6-FEE0-4A8D-B8F5-EFC0F1D29DF9}"/>
              </a:ext>
            </a:extLst>
          </p:cNvPr>
          <p:cNvSpPr/>
          <p:nvPr/>
        </p:nvSpPr>
        <p:spPr>
          <a:xfrm>
            <a:off x="571500" y="1168400"/>
            <a:ext cx="1292225" cy="5080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5BA13A4-BEB5-406F-A1CC-38DBF3E78FAF}"/>
              </a:ext>
            </a:extLst>
          </p:cNvPr>
          <p:cNvSpPr txBox="1"/>
          <p:nvPr/>
        </p:nvSpPr>
        <p:spPr>
          <a:xfrm>
            <a:off x="635000" y="1295400"/>
            <a:ext cx="1165225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上报</a:t>
            </a:r>
            <a:r>
              <a:rPr lang="en-US" altLang="zh-CN" sz="10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告警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31124BE-A00A-4B2A-BF53-0C7CD62545EB}"/>
              </a:ext>
            </a:extLst>
          </p:cNvPr>
          <p:cNvCxnSpPr/>
          <p:nvPr/>
        </p:nvCxnSpPr>
        <p:spPr>
          <a:xfrm>
            <a:off x="1863725" y="1422400"/>
            <a:ext cx="88900" cy="0"/>
          </a:xfrm>
          <a:prstGeom prst="line">
            <a:avLst/>
          </a:prstGeom>
          <a:ln w="19050">
            <a:solidFill>
              <a:srgbClr val="12304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F70C8B9-411F-45C8-B1B5-97D3C3AEC3E9}"/>
              </a:ext>
            </a:extLst>
          </p:cNvPr>
          <p:cNvSpPr/>
          <p:nvPr/>
        </p:nvSpPr>
        <p:spPr>
          <a:xfrm>
            <a:off x="1965325" y="1168400"/>
            <a:ext cx="1292225" cy="5080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87E72DF-F9D6-478D-BD7A-1A16243E2A64}"/>
              </a:ext>
            </a:extLst>
          </p:cNvPr>
          <p:cNvSpPr txBox="1"/>
          <p:nvPr/>
        </p:nvSpPr>
        <p:spPr>
          <a:xfrm>
            <a:off x="2028825" y="1295400"/>
            <a:ext cx="1165225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待核实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4D0B4B90-5AF2-4A11-AEC2-2AA1873A4A9E}"/>
              </a:ext>
            </a:extLst>
          </p:cNvPr>
          <p:cNvCxnSpPr/>
          <p:nvPr/>
        </p:nvCxnSpPr>
        <p:spPr>
          <a:xfrm>
            <a:off x="3257550" y="1422400"/>
            <a:ext cx="88900" cy="0"/>
          </a:xfrm>
          <a:prstGeom prst="line">
            <a:avLst/>
          </a:prstGeom>
          <a:ln w="19050">
            <a:solidFill>
              <a:srgbClr val="12304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868D092-0922-4C19-B54A-F94045F6436F}"/>
              </a:ext>
            </a:extLst>
          </p:cNvPr>
          <p:cNvSpPr/>
          <p:nvPr/>
        </p:nvSpPr>
        <p:spPr>
          <a:xfrm>
            <a:off x="3359150" y="1168400"/>
            <a:ext cx="1292225" cy="5080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719B84A-73AB-4907-B618-1F08C79E530E}"/>
              </a:ext>
            </a:extLst>
          </p:cNvPr>
          <p:cNvSpPr txBox="1"/>
          <p:nvPr/>
        </p:nvSpPr>
        <p:spPr>
          <a:xfrm>
            <a:off x="3422650" y="1295400"/>
            <a:ext cx="1165225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10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驳回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A26FDD7E-89F2-4BBE-B291-88D48C2590D6}"/>
              </a:ext>
            </a:extLst>
          </p:cNvPr>
          <p:cNvCxnSpPr/>
          <p:nvPr/>
        </p:nvCxnSpPr>
        <p:spPr>
          <a:xfrm>
            <a:off x="4651375" y="1422400"/>
            <a:ext cx="88900" cy="0"/>
          </a:xfrm>
          <a:prstGeom prst="line">
            <a:avLst/>
          </a:prstGeom>
          <a:ln w="19050">
            <a:solidFill>
              <a:srgbClr val="12304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4F4D839-7AFF-46C5-89EB-D64EE0152E4C}"/>
              </a:ext>
            </a:extLst>
          </p:cNvPr>
          <p:cNvSpPr/>
          <p:nvPr/>
        </p:nvSpPr>
        <p:spPr>
          <a:xfrm>
            <a:off x="4752975" y="1168400"/>
            <a:ext cx="1292225" cy="5080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6F3B454-637B-405A-8BF1-AC1CE44A1790}"/>
              </a:ext>
            </a:extLst>
          </p:cNvPr>
          <p:cNvSpPr txBox="1"/>
          <p:nvPr/>
        </p:nvSpPr>
        <p:spPr>
          <a:xfrm>
            <a:off x="4816475" y="1295400"/>
            <a:ext cx="1165225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启动预案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FA95308-DFAC-4EA1-9354-8066117C73B4}"/>
              </a:ext>
            </a:extLst>
          </p:cNvPr>
          <p:cNvCxnSpPr/>
          <p:nvPr/>
        </p:nvCxnSpPr>
        <p:spPr>
          <a:xfrm>
            <a:off x="6045200" y="1422400"/>
            <a:ext cx="88900" cy="0"/>
          </a:xfrm>
          <a:prstGeom prst="line">
            <a:avLst/>
          </a:prstGeom>
          <a:ln w="19050">
            <a:solidFill>
              <a:srgbClr val="12304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6D1D131-56C0-4A3B-8965-02E08CF03288}"/>
              </a:ext>
            </a:extLst>
          </p:cNvPr>
          <p:cNvSpPr/>
          <p:nvPr/>
        </p:nvSpPr>
        <p:spPr>
          <a:xfrm>
            <a:off x="6146800" y="1168400"/>
            <a:ext cx="1292225" cy="5080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28B820C-4F87-4BB1-9226-959777E46AD2}"/>
              </a:ext>
            </a:extLst>
          </p:cNvPr>
          <p:cNvSpPr txBox="1"/>
          <p:nvPr/>
        </p:nvSpPr>
        <p:spPr>
          <a:xfrm>
            <a:off x="6210300" y="1295400"/>
            <a:ext cx="1165225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响应与续报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59B3433-9F97-4E60-84BB-3DF05AF097C4}"/>
              </a:ext>
            </a:extLst>
          </p:cNvPr>
          <p:cNvCxnSpPr/>
          <p:nvPr/>
        </p:nvCxnSpPr>
        <p:spPr>
          <a:xfrm>
            <a:off x="7439025" y="1422400"/>
            <a:ext cx="88900" cy="0"/>
          </a:xfrm>
          <a:prstGeom prst="line">
            <a:avLst/>
          </a:prstGeom>
          <a:ln w="19050">
            <a:solidFill>
              <a:srgbClr val="12304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CC296A5-BB63-4FBE-AED1-8E30375E920B}"/>
              </a:ext>
            </a:extLst>
          </p:cNvPr>
          <p:cNvSpPr/>
          <p:nvPr/>
        </p:nvSpPr>
        <p:spPr>
          <a:xfrm>
            <a:off x="7540625" y="1168400"/>
            <a:ext cx="1292225" cy="5080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217C6D9-7CBE-4A49-AD39-73C60F9684A1}"/>
              </a:ext>
            </a:extLst>
          </p:cNvPr>
          <p:cNvSpPr txBox="1"/>
          <p:nvPr/>
        </p:nvSpPr>
        <p:spPr>
          <a:xfrm>
            <a:off x="7604125" y="1295400"/>
            <a:ext cx="1165225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任务处置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5CAABF6B-941E-405B-A1C5-3220CD609AB2}"/>
              </a:ext>
            </a:extLst>
          </p:cNvPr>
          <p:cNvCxnSpPr/>
          <p:nvPr/>
        </p:nvCxnSpPr>
        <p:spPr>
          <a:xfrm>
            <a:off x="8832850" y="1422400"/>
            <a:ext cx="88900" cy="0"/>
          </a:xfrm>
          <a:prstGeom prst="line">
            <a:avLst/>
          </a:prstGeom>
          <a:ln w="19050">
            <a:solidFill>
              <a:srgbClr val="12304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46A11A1F-B593-4907-A51C-7DBEB56C7E86}"/>
              </a:ext>
            </a:extLst>
          </p:cNvPr>
          <p:cNvSpPr/>
          <p:nvPr/>
        </p:nvSpPr>
        <p:spPr>
          <a:xfrm>
            <a:off x="8934450" y="1168400"/>
            <a:ext cx="1292225" cy="5080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9D6E81B-EC39-4CB0-A1DB-5D899A576E80}"/>
              </a:ext>
            </a:extLst>
          </p:cNvPr>
          <p:cNvSpPr txBox="1"/>
          <p:nvPr/>
        </p:nvSpPr>
        <p:spPr>
          <a:xfrm>
            <a:off x="8997950" y="1295400"/>
            <a:ext cx="1165225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关闭评估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3608535C-3AF4-460A-A4C8-45D379514042}"/>
              </a:ext>
            </a:extLst>
          </p:cNvPr>
          <p:cNvCxnSpPr/>
          <p:nvPr/>
        </p:nvCxnSpPr>
        <p:spPr>
          <a:xfrm>
            <a:off x="10226675" y="1422400"/>
            <a:ext cx="88900" cy="0"/>
          </a:xfrm>
          <a:prstGeom prst="line">
            <a:avLst/>
          </a:prstGeom>
          <a:ln w="19050">
            <a:solidFill>
              <a:srgbClr val="12304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7A2BB5F5-AAE4-4BC1-B34D-3F26A0B35775}"/>
              </a:ext>
            </a:extLst>
          </p:cNvPr>
          <p:cNvSpPr/>
          <p:nvPr/>
        </p:nvSpPr>
        <p:spPr>
          <a:xfrm>
            <a:off x="10328275" y="1168400"/>
            <a:ext cx="1292225" cy="5080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5552C26-026C-4679-8B5E-3CC59CC46790}"/>
              </a:ext>
            </a:extLst>
          </p:cNvPr>
          <p:cNvSpPr txBox="1"/>
          <p:nvPr/>
        </p:nvSpPr>
        <p:spPr>
          <a:xfrm>
            <a:off x="10391775" y="1295400"/>
            <a:ext cx="1165225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调查</a:t>
            </a:r>
            <a:r>
              <a:rPr lang="en-US" altLang="zh-CN" sz="10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55C3B4FF-0AC9-4F47-B74E-75C8B26102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9396" y="2806935"/>
            <a:ext cx="3616208" cy="2260130"/>
          </a:xfrm>
          <a:prstGeom prst="rect">
            <a:avLst/>
          </a:prstGeom>
          <a:ln w="12700">
            <a:solidFill>
              <a:srgbClr val="D4E0E7"/>
            </a:solidFill>
          </a:ln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54B517E5-DBFD-4D93-B3E9-201AE0564C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0833" y="3259667"/>
            <a:ext cx="677334" cy="1354667"/>
          </a:xfrm>
          <a:prstGeom prst="rect">
            <a:avLst/>
          </a:prstGeom>
          <a:ln w="12700">
            <a:solidFill>
              <a:srgbClr val="D4E0E7"/>
            </a:solidFill>
          </a:ln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FB8D5B1E-EA82-4816-89C4-98D3054EAF12}"/>
              </a:ext>
            </a:extLst>
          </p:cNvPr>
          <p:cNvSpPr txBox="1"/>
          <p:nvPr/>
        </p:nvSpPr>
        <p:spPr>
          <a:xfrm>
            <a:off x="9842500" y="2095500"/>
            <a:ext cx="165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事件主数据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DFF1725-FC99-4E18-914D-AABDBCAD738C}"/>
              </a:ext>
            </a:extLst>
          </p:cNvPr>
          <p:cNvSpPr txBox="1"/>
          <p:nvPr/>
        </p:nvSpPr>
        <p:spPr>
          <a:xfrm>
            <a:off x="9842500" y="2565400"/>
            <a:ext cx="1841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事件编号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9F71DE6-6DF7-4B58-AEF8-502F5C76C020}"/>
              </a:ext>
            </a:extLst>
          </p:cNvPr>
          <p:cNvSpPr txBox="1"/>
          <p:nvPr/>
        </p:nvSpPr>
        <p:spPr>
          <a:xfrm>
            <a:off x="9842500" y="3111500"/>
            <a:ext cx="1841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 </a:t>
            </a:r>
            <a:r>
              <a:rPr lang="en-US" altLang="zh-CN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等级 </a:t>
            </a:r>
            <a:r>
              <a:rPr lang="en-US" altLang="zh-CN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位置 </a:t>
            </a:r>
            <a:r>
              <a:rPr lang="en-US" altLang="zh-CN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001ED8B-F4D4-4677-A1CC-4F98A4D87B90}"/>
              </a:ext>
            </a:extLst>
          </p:cNvPr>
          <p:cNvSpPr txBox="1"/>
          <p:nvPr/>
        </p:nvSpPr>
        <p:spPr>
          <a:xfrm>
            <a:off x="9842500" y="3657600"/>
            <a:ext cx="1841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图片与附件引用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11A1E0E-E00C-40EF-90D0-DB3111DBD045}"/>
              </a:ext>
            </a:extLst>
          </p:cNvPr>
          <p:cNvSpPr txBox="1"/>
          <p:nvPr/>
        </p:nvSpPr>
        <p:spPr>
          <a:xfrm>
            <a:off x="9842500" y="4203700"/>
            <a:ext cx="1841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核实意见与生命周期状态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89D5135-B427-4D6C-95C0-14B7FAB05BFA}"/>
              </a:ext>
            </a:extLst>
          </p:cNvPr>
          <p:cNvSpPr txBox="1"/>
          <p:nvPr/>
        </p:nvSpPr>
        <p:spPr>
          <a:xfrm>
            <a:off x="9842500" y="4749800"/>
            <a:ext cx="1841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续报、处置、关闭多时间轴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1DDF82E-4CF2-4F31-9DD6-4C14D7FC3E89}"/>
              </a:ext>
            </a:extLst>
          </p:cNvPr>
          <p:cNvSpPr txBox="1"/>
          <p:nvPr/>
        </p:nvSpPr>
        <p:spPr>
          <a:xfrm>
            <a:off x="482600" y="64770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某自然博物馆智能运营中心 </a:t>
            </a:r>
            <a:r>
              <a:rPr lang="en-US" altLang="zh-CN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应急管理子系统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BC0DFE2-6C87-4DD8-BAAA-EF291527C298}"/>
              </a:ext>
            </a:extLst>
          </p:cNvPr>
          <p:cNvSpPr txBox="1"/>
          <p:nvPr/>
        </p:nvSpPr>
        <p:spPr>
          <a:xfrm>
            <a:off x="11176000" y="6477000"/>
            <a:ext cx="533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08</a:t>
            </a:r>
            <a:endParaRPr lang="zh-CN" altLang="en-US" sz="900" b="1">
              <a:solidFill>
                <a:srgbClr val="5E718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79181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C0ACF43-D8D6-4E57-BED9-7B9BCAB7D1E6}"/>
              </a:ext>
            </a:extLst>
          </p:cNvPr>
          <p:cNvSpPr txBox="1"/>
          <p:nvPr/>
        </p:nvSpPr>
        <p:spPr>
          <a:xfrm>
            <a:off x="482600" y="317500"/>
            <a:ext cx="609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E89A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09</a:t>
            </a:r>
            <a:endParaRPr lang="zh-CN" altLang="en-US" sz="1300" b="1">
              <a:solidFill>
                <a:srgbClr val="E89A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282E640-0297-4376-80E4-A79D44E48B5E}"/>
              </a:ext>
            </a:extLst>
          </p:cNvPr>
          <p:cNvSpPr txBox="1"/>
          <p:nvPr/>
        </p:nvSpPr>
        <p:spPr>
          <a:xfrm>
            <a:off x="1117600" y="254000"/>
            <a:ext cx="10033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6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指挥员一屏掌握事件、人员、资源、视频与告警状态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4C71FE-63B8-437F-BDAB-D96438FC5694}"/>
              </a:ext>
            </a:extLst>
          </p:cNvPr>
          <p:cNvSpPr txBox="1"/>
          <p:nvPr/>
        </p:nvSpPr>
        <p:spPr>
          <a:xfrm>
            <a:off x="9931400" y="368300"/>
            <a:ext cx="1714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zh-CN" altLang="en-US" sz="11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系统完成情况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52A9305-06EC-4F97-BF72-6E17097B2F6E}"/>
              </a:ext>
            </a:extLst>
          </p:cNvPr>
          <p:cNvCxnSpPr/>
          <p:nvPr/>
        </p:nvCxnSpPr>
        <p:spPr>
          <a:xfrm>
            <a:off x="482600" y="889000"/>
            <a:ext cx="11226800" cy="0"/>
          </a:xfrm>
          <a:prstGeom prst="line">
            <a:avLst/>
          </a:prstGeom>
          <a:ln w="12700">
            <a:solidFill>
              <a:srgbClr val="D4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DB142AE7-8D00-4851-BFEB-35BC612441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007" y="2014067"/>
            <a:ext cx="4222986" cy="2639366"/>
          </a:xfrm>
          <a:prstGeom prst="rect">
            <a:avLst/>
          </a:prstGeom>
          <a:ln w="12700">
            <a:solidFill>
              <a:srgbClr val="D4E0E7"/>
            </a:solidFill>
          </a:ln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0F85CFE-4BDF-42A0-9006-2878D274ADCE}"/>
              </a:ext>
            </a:extLst>
          </p:cNvPr>
          <p:cNvSpPr txBox="1"/>
          <p:nvPr/>
        </p:nvSpPr>
        <p:spPr>
          <a:xfrm>
            <a:off x="9080500" y="1320800"/>
            <a:ext cx="2095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一屏态势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5B828FAC-C168-4A01-9509-2B282BBACD1E}"/>
              </a:ext>
            </a:extLst>
          </p:cNvPr>
          <p:cNvSpPr/>
          <p:nvPr/>
        </p:nvSpPr>
        <p:spPr>
          <a:xfrm>
            <a:off x="9144000" y="1828800"/>
            <a:ext cx="114300" cy="114300"/>
          </a:xfrm>
          <a:prstGeom prst="ellipse">
            <a:avLst/>
          </a:prstGeom>
          <a:solidFill>
            <a:srgbClr val="2A8793"/>
          </a:solidFill>
          <a:ln w="12700">
            <a:solidFill>
              <a:srgbClr val="2A87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7BC8305-C475-4877-BA9E-B3546355A317}"/>
              </a:ext>
            </a:extLst>
          </p:cNvPr>
          <p:cNvSpPr txBox="1"/>
          <p:nvPr/>
        </p:nvSpPr>
        <p:spPr>
          <a:xfrm>
            <a:off x="9423400" y="1739900"/>
            <a:ext cx="215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事件基本态势与时间线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109E6AD5-8440-4287-BB28-D7012DBA4DD5}"/>
              </a:ext>
            </a:extLst>
          </p:cNvPr>
          <p:cNvSpPr/>
          <p:nvPr/>
        </p:nvSpPr>
        <p:spPr>
          <a:xfrm>
            <a:off x="9144000" y="2374900"/>
            <a:ext cx="114300" cy="114300"/>
          </a:xfrm>
          <a:prstGeom prst="ellipse">
            <a:avLst/>
          </a:prstGeom>
          <a:solidFill>
            <a:srgbClr val="2A8793"/>
          </a:solidFill>
          <a:ln w="12700">
            <a:solidFill>
              <a:srgbClr val="2A87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0EF7949-5F29-4B54-835C-05C77BB2B28C}"/>
              </a:ext>
            </a:extLst>
          </p:cNvPr>
          <p:cNvSpPr txBox="1"/>
          <p:nvPr/>
        </p:nvSpPr>
        <p:spPr>
          <a:xfrm>
            <a:off x="9423400" y="2286000"/>
            <a:ext cx="215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当前任务、处理人和职责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ECA9D95-8743-430B-993E-065632D26412}"/>
              </a:ext>
            </a:extLst>
          </p:cNvPr>
          <p:cNvSpPr/>
          <p:nvPr/>
        </p:nvSpPr>
        <p:spPr>
          <a:xfrm>
            <a:off x="9144000" y="2921000"/>
            <a:ext cx="114300" cy="114300"/>
          </a:xfrm>
          <a:prstGeom prst="ellipse">
            <a:avLst/>
          </a:prstGeom>
          <a:solidFill>
            <a:srgbClr val="2A8793"/>
          </a:solidFill>
          <a:ln w="12700">
            <a:solidFill>
              <a:srgbClr val="2A87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A116634-7F91-42E2-9C53-C5E3BB3F0F61}"/>
              </a:ext>
            </a:extLst>
          </p:cNvPr>
          <p:cNvSpPr txBox="1"/>
          <p:nvPr/>
        </p:nvSpPr>
        <p:spPr>
          <a:xfrm>
            <a:off x="9423400" y="28321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人员位置、是否就位与位置新鲜度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CC4CC1A3-1214-42A8-B9D7-0B124FD798C8}"/>
              </a:ext>
            </a:extLst>
          </p:cNvPr>
          <p:cNvSpPr/>
          <p:nvPr/>
        </p:nvSpPr>
        <p:spPr>
          <a:xfrm>
            <a:off x="9144000" y="3467100"/>
            <a:ext cx="114300" cy="114300"/>
          </a:xfrm>
          <a:prstGeom prst="ellipse">
            <a:avLst/>
          </a:prstGeom>
          <a:solidFill>
            <a:srgbClr val="E89A2D"/>
          </a:solidFill>
          <a:ln w="12700">
            <a:solidFill>
              <a:srgbClr val="E89A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5331E54-A807-4588-86E2-69096748AD58}"/>
              </a:ext>
            </a:extLst>
          </p:cNvPr>
          <p:cNvSpPr txBox="1"/>
          <p:nvPr/>
        </p:nvSpPr>
        <p:spPr>
          <a:xfrm>
            <a:off x="9423400" y="3378200"/>
            <a:ext cx="215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物资站点、清单和数量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1B50501-BAEF-4787-BE35-BFFEEE5DE1B8}"/>
              </a:ext>
            </a:extLst>
          </p:cNvPr>
          <p:cNvSpPr/>
          <p:nvPr/>
        </p:nvSpPr>
        <p:spPr>
          <a:xfrm>
            <a:off x="9144000" y="4013200"/>
            <a:ext cx="114300" cy="114300"/>
          </a:xfrm>
          <a:prstGeom prst="ellipse">
            <a:avLst/>
          </a:prstGeom>
          <a:solidFill>
            <a:srgbClr val="E89A2D"/>
          </a:solidFill>
          <a:ln w="12700">
            <a:solidFill>
              <a:srgbClr val="E89A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A185A13-5299-4C43-9DEF-ED3A1A386561}"/>
              </a:ext>
            </a:extLst>
          </p:cNvPr>
          <p:cNvSpPr txBox="1"/>
          <p:nvPr/>
        </p:nvSpPr>
        <p:spPr>
          <a:xfrm>
            <a:off x="9423400" y="3924300"/>
            <a:ext cx="215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视频点位、实时调阅与回放入口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94DC2F73-4651-49E2-9564-D4BFE54A6C11}"/>
              </a:ext>
            </a:extLst>
          </p:cNvPr>
          <p:cNvSpPr/>
          <p:nvPr/>
        </p:nvSpPr>
        <p:spPr>
          <a:xfrm>
            <a:off x="9144000" y="4559300"/>
            <a:ext cx="114300" cy="114300"/>
          </a:xfrm>
          <a:prstGeom prst="ellipse">
            <a:avLst/>
          </a:prstGeom>
          <a:solidFill>
            <a:srgbClr val="E89A2D"/>
          </a:solidFill>
          <a:ln w="12700">
            <a:solidFill>
              <a:srgbClr val="E89A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574F223-1042-43FF-9114-7C378F52FD86}"/>
              </a:ext>
            </a:extLst>
          </p:cNvPr>
          <p:cNvSpPr txBox="1"/>
          <p:nvPr/>
        </p:nvSpPr>
        <p:spPr>
          <a:xfrm>
            <a:off x="9423400" y="4470400"/>
            <a:ext cx="215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消防、入侵、</a:t>
            </a:r>
            <a:r>
              <a:rPr lang="en-US" altLang="zh-CN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IoT </a:t>
            </a:r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与发布状态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E7539BF-2646-4766-BC33-492B15F77E49}"/>
              </a:ext>
            </a:extLst>
          </p:cNvPr>
          <p:cNvSpPr/>
          <p:nvPr/>
        </p:nvSpPr>
        <p:spPr>
          <a:xfrm>
            <a:off x="889000" y="5765800"/>
            <a:ext cx="10287000" cy="4445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E328EBA-8EA0-45C4-8BE3-7D23CA285EFF}"/>
              </a:ext>
            </a:extLst>
          </p:cNvPr>
          <p:cNvSpPr txBox="1"/>
          <p:nvPr/>
        </p:nvSpPr>
        <p:spPr>
          <a:xfrm>
            <a:off x="1143000" y="5880100"/>
            <a:ext cx="977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态势只读投影不反向修改领域事实；数据过期、断连和降级状态在界面显式呈现。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3685E05-6519-4FE2-8BDA-5E8EFA3A1A50}"/>
              </a:ext>
            </a:extLst>
          </p:cNvPr>
          <p:cNvSpPr txBox="1"/>
          <p:nvPr/>
        </p:nvSpPr>
        <p:spPr>
          <a:xfrm>
            <a:off x="482600" y="64770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某自然博物馆智能运营中心 </a:t>
            </a:r>
            <a:r>
              <a:rPr lang="en-US" altLang="zh-CN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应急管理子系统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EA70F95-7FA6-43D9-AE9D-0D569127029B}"/>
              </a:ext>
            </a:extLst>
          </p:cNvPr>
          <p:cNvSpPr txBox="1"/>
          <p:nvPr/>
        </p:nvSpPr>
        <p:spPr>
          <a:xfrm>
            <a:off x="11176000" y="6477000"/>
            <a:ext cx="533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09</a:t>
            </a:r>
            <a:endParaRPr lang="zh-CN" altLang="en-US" sz="900" b="1">
              <a:solidFill>
                <a:srgbClr val="5E718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9890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F628CA5-B982-4D16-86C7-440CAB03FF46}"/>
              </a:ext>
            </a:extLst>
          </p:cNvPr>
          <p:cNvSpPr txBox="1"/>
          <p:nvPr/>
        </p:nvSpPr>
        <p:spPr>
          <a:xfrm>
            <a:off x="482600" y="317500"/>
            <a:ext cx="609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E89A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sz="1300" b="1">
              <a:solidFill>
                <a:srgbClr val="E89A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B836D68-8C4B-4BE7-829F-0B9BBCF86B59}"/>
              </a:ext>
            </a:extLst>
          </p:cNvPr>
          <p:cNvSpPr txBox="1"/>
          <p:nvPr/>
        </p:nvSpPr>
        <p:spPr>
          <a:xfrm>
            <a:off x="1117600" y="254000"/>
            <a:ext cx="10033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6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任务驱动协同处置：自动下发、移动反馈、全过程留痕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E789CEC-A599-424A-89A6-C1C8F78A0363}"/>
              </a:ext>
            </a:extLst>
          </p:cNvPr>
          <p:cNvSpPr txBox="1"/>
          <p:nvPr/>
        </p:nvSpPr>
        <p:spPr>
          <a:xfrm>
            <a:off x="9931400" y="368300"/>
            <a:ext cx="1714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zh-CN" altLang="en-US" sz="11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系统完成情况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FD33FB3-5426-4E7B-9CC8-029AA0D7C7F9}"/>
              </a:ext>
            </a:extLst>
          </p:cNvPr>
          <p:cNvCxnSpPr/>
          <p:nvPr/>
        </p:nvCxnSpPr>
        <p:spPr>
          <a:xfrm>
            <a:off x="482600" y="889000"/>
            <a:ext cx="11226800" cy="0"/>
          </a:xfrm>
          <a:prstGeom prst="line">
            <a:avLst/>
          </a:prstGeom>
          <a:ln w="12700">
            <a:solidFill>
              <a:srgbClr val="D4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CCA33B4-BAB8-4E1B-AA1B-4E701D11AA2D}"/>
              </a:ext>
            </a:extLst>
          </p:cNvPr>
          <p:cNvSpPr/>
          <p:nvPr/>
        </p:nvSpPr>
        <p:spPr>
          <a:xfrm>
            <a:off x="571500" y="1168400"/>
            <a:ext cx="1491343" cy="5080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3A5E559-D72F-4882-B92C-14DAF3F16755}"/>
              </a:ext>
            </a:extLst>
          </p:cNvPr>
          <p:cNvSpPr txBox="1"/>
          <p:nvPr/>
        </p:nvSpPr>
        <p:spPr>
          <a:xfrm>
            <a:off x="635000" y="1295400"/>
            <a:ext cx="1364343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2468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0C836EF-82AC-4F46-8AD1-ECC3AEFD77AC}"/>
              </a:ext>
            </a:extLst>
          </p:cNvPr>
          <p:cNvCxnSpPr/>
          <p:nvPr/>
        </p:nvCxnSpPr>
        <p:spPr>
          <a:xfrm>
            <a:off x="2062843" y="1422400"/>
            <a:ext cx="88900" cy="0"/>
          </a:xfrm>
          <a:prstGeom prst="line">
            <a:avLst/>
          </a:prstGeom>
          <a:ln w="19050">
            <a:solidFill>
              <a:srgbClr val="2468A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7611952-DF23-4122-9B04-BED3B9478D77}"/>
              </a:ext>
            </a:extLst>
          </p:cNvPr>
          <p:cNvSpPr/>
          <p:nvPr/>
        </p:nvSpPr>
        <p:spPr>
          <a:xfrm>
            <a:off x="2164443" y="1168400"/>
            <a:ext cx="1491343" cy="5080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165F232-0CAE-497F-97B1-BA22F404DB6D}"/>
              </a:ext>
            </a:extLst>
          </p:cNvPr>
          <p:cNvSpPr txBox="1"/>
          <p:nvPr/>
        </p:nvSpPr>
        <p:spPr>
          <a:xfrm>
            <a:off x="2227943" y="1295400"/>
            <a:ext cx="1364343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2468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自动创建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8D7C630E-D2DB-4163-B65C-E699AF3ECEF6}"/>
              </a:ext>
            </a:extLst>
          </p:cNvPr>
          <p:cNvCxnSpPr/>
          <p:nvPr/>
        </p:nvCxnSpPr>
        <p:spPr>
          <a:xfrm>
            <a:off x="3655786" y="1422400"/>
            <a:ext cx="88900" cy="0"/>
          </a:xfrm>
          <a:prstGeom prst="line">
            <a:avLst/>
          </a:prstGeom>
          <a:ln w="19050">
            <a:solidFill>
              <a:srgbClr val="2468A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1B8B26F-2E4C-4FDC-9F05-62ED4B814F60}"/>
              </a:ext>
            </a:extLst>
          </p:cNvPr>
          <p:cNvSpPr/>
          <p:nvPr/>
        </p:nvSpPr>
        <p:spPr>
          <a:xfrm>
            <a:off x="3757386" y="1168400"/>
            <a:ext cx="1491342" cy="5080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56EF2EE-29E7-440B-9219-F83B47D800C9}"/>
              </a:ext>
            </a:extLst>
          </p:cNvPr>
          <p:cNvSpPr txBox="1"/>
          <p:nvPr/>
        </p:nvSpPr>
        <p:spPr>
          <a:xfrm>
            <a:off x="3820886" y="1295400"/>
            <a:ext cx="1364343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2468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分派</a:t>
            </a:r>
            <a:r>
              <a:rPr lang="en-US" altLang="zh-CN" sz="1000" b="1">
                <a:solidFill>
                  <a:srgbClr val="2468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00" b="1">
                <a:solidFill>
                  <a:srgbClr val="2468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通知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C94568EC-E2CC-4BC5-A815-DC6AB854A106}"/>
              </a:ext>
            </a:extLst>
          </p:cNvPr>
          <p:cNvCxnSpPr/>
          <p:nvPr/>
        </p:nvCxnSpPr>
        <p:spPr>
          <a:xfrm>
            <a:off x="5248728" y="1422400"/>
            <a:ext cx="88900" cy="0"/>
          </a:xfrm>
          <a:prstGeom prst="line">
            <a:avLst/>
          </a:prstGeom>
          <a:ln w="19050">
            <a:solidFill>
              <a:srgbClr val="2468A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3293E80-281F-4F8A-AB3E-545F8D3FED06}"/>
              </a:ext>
            </a:extLst>
          </p:cNvPr>
          <p:cNvSpPr/>
          <p:nvPr/>
        </p:nvSpPr>
        <p:spPr>
          <a:xfrm>
            <a:off x="5350328" y="1168400"/>
            <a:ext cx="1491344" cy="5080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AE279AB-1240-4130-80A5-F813608F673E}"/>
              </a:ext>
            </a:extLst>
          </p:cNvPr>
          <p:cNvSpPr txBox="1"/>
          <p:nvPr/>
        </p:nvSpPr>
        <p:spPr>
          <a:xfrm>
            <a:off x="5413828" y="1295400"/>
            <a:ext cx="1364343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2468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H5 </a:t>
            </a:r>
            <a:r>
              <a:rPr lang="zh-CN" altLang="en-US" sz="1000" b="1">
                <a:solidFill>
                  <a:srgbClr val="2468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66B010D-ED65-4B7E-8961-B2939EF791F5}"/>
              </a:ext>
            </a:extLst>
          </p:cNvPr>
          <p:cNvCxnSpPr/>
          <p:nvPr/>
        </p:nvCxnSpPr>
        <p:spPr>
          <a:xfrm>
            <a:off x="6841672" y="1422400"/>
            <a:ext cx="88900" cy="0"/>
          </a:xfrm>
          <a:prstGeom prst="line">
            <a:avLst/>
          </a:prstGeom>
          <a:ln w="19050">
            <a:solidFill>
              <a:srgbClr val="2468A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B7470BA-B5C5-45A1-968D-4604FB71B827}"/>
              </a:ext>
            </a:extLst>
          </p:cNvPr>
          <p:cNvSpPr/>
          <p:nvPr/>
        </p:nvSpPr>
        <p:spPr>
          <a:xfrm>
            <a:off x="6943272" y="1168400"/>
            <a:ext cx="1491343" cy="5080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284B551-1787-475C-9368-9746267A7B5F}"/>
              </a:ext>
            </a:extLst>
          </p:cNvPr>
          <p:cNvSpPr txBox="1"/>
          <p:nvPr/>
        </p:nvSpPr>
        <p:spPr>
          <a:xfrm>
            <a:off x="7006772" y="1295400"/>
            <a:ext cx="1364343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2468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执行反馈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E203A73D-6EB3-4542-90C2-CBA8491A31D5}"/>
              </a:ext>
            </a:extLst>
          </p:cNvPr>
          <p:cNvCxnSpPr/>
          <p:nvPr/>
        </p:nvCxnSpPr>
        <p:spPr>
          <a:xfrm>
            <a:off x="8434615" y="1422400"/>
            <a:ext cx="88900" cy="0"/>
          </a:xfrm>
          <a:prstGeom prst="line">
            <a:avLst/>
          </a:prstGeom>
          <a:ln w="19050">
            <a:solidFill>
              <a:srgbClr val="2468A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6D2D8CB-6ACC-4059-9372-CE117999F9F3}"/>
              </a:ext>
            </a:extLst>
          </p:cNvPr>
          <p:cNvSpPr/>
          <p:nvPr/>
        </p:nvSpPr>
        <p:spPr>
          <a:xfrm>
            <a:off x="8536215" y="1168400"/>
            <a:ext cx="1491343" cy="5080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A66DFB9-9C6B-4EBD-BC5F-E4BAAFCC4EE8}"/>
              </a:ext>
            </a:extLst>
          </p:cNvPr>
          <p:cNvSpPr txBox="1"/>
          <p:nvPr/>
        </p:nvSpPr>
        <p:spPr>
          <a:xfrm>
            <a:off x="8599715" y="1295400"/>
            <a:ext cx="1364343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2468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进度</a:t>
            </a:r>
            <a:r>
              <a:rPr lang="en-US" altLang="zh-CN" sz="1000" b="1">
                <a:solidFill>
                  <a:srgbClr val="2468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00" b="1">
                <a:solidFill>
                  <a:srgbClr val="2468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催办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58807FD4-2937-4881-9B18-4D7F9485471B}"/>
              </a:ext>
            </a:extLst>
          </p:cNvPr>
          <p:cNvCxnSpPr/>
          <p:nvPr/>
        </p:nvCxnSpPr>
        <p:spPr>
          <a:xfrm>
            <a:off x="10027557" y="1422400"/>
            <a:ext cx="88900" cy="0"/>
          </a:xfrm>
          <a:prstGeom prst="line">
            <a:avLst/>
          </a:prstGeom>
          <a:ln w="19050">
            <a:solidFill>
              <a:srgbClr val="2468A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328467E-63DF-4118-8902-3E47B10AF3A9}"/>
              </a:ext>
            </a:extLst>
          </p:cNvPr>
          <p:cNvSpPr/>
          <p:nvPr/>
        </p:nvSpPr>
        <p:spPr>
          <a:xfrm>
            <a:off x="10129157" y="1168400"/>
            <a:ext cx="1491343" cy="5080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84E19EE-5B6D-49D9-848B-B55F570E30D3}"/>
              </a:ext>
            </a:extLst>
          </p:cNvPr>
          <p:cNvSpPr txBox="1"/>
          <p:nvPr/>
        </p:nvSpPr>
        <p:spPr>
          <a:xfrm>
            <a:off x="10192657" y="1295400"/>
            <a:ext cx="1364343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2468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127DE7C4-A48B-4CC9-A9F4-F3BDF46D9F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4167" y="2853267"/>
            <a:ext cx="3386667" cy="2116667"/>
          </a:xfrm>
          <a:prstGeom prst="rect">
            <a:avLst/>
          </a:prstGeom>
          <a:ln w="12700">
            <a:solidFill>
              <a:srgbClr val="D4E0E7"/>
            </a:solidFill>
          </a:ln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24F8D53A-D777-48C7-B3FC-5F03535A8C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0833" y="3234267"/>
            <a:ext cx="677334" cy="1354667"/>
          </a:xfrm>
          <a:prstGeom prst="rect">
            <a:avLst/>
          </a:prstGeom>
          <a:ln w="12700">
            <a:solidFill>
              <a:srgbClr val="D4E0E7"/>
            </a:solidFill>
          </a:ln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1FBF6BA1-5AE0-4995-8061-1BA1DACC1FD3}"/>
              </a:ext>
            </a:extLst>
          </p:cNvPr>
          <p:cNvSpPr txBox="1"/>
          <p:nvPr/>
        </p:nvSpPr>
        <p:spPr>
          <a:xfrm>
            <a:off x="9842500" y="2095500"/>
            <a:ext cx="165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任务控制点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F9A28D4-55C4-4C93-9841-C08FDFCB5312}"/>
              </a:ext>
            </a:extLst>
          </p:cNvPr>
          <p:cNvSpPr txBox="1"/>
          <p:nvPr/>
        </p:nvSpPr>
        <p:spPr>
          <a:xfrm>
            <a:off x="9842500" y="2590800"/>
            <a:ext cx="1841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临时任务与重指派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82594BA-9FDE-41CA-803C-9F0D1DD4DB50}"/>
              </a:ext>
            </a:extLst>
          </p:cNvPr>
          <p:cNvSpPr txBox="1"/>
          <p:nvPr/>
        </p:nvSpPr>
        <p:spPr>
          <a:xfrm>
            <a:off x="9842500" y="3149600"/>
            <a:ext cx="1841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截止时间与历史责任人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A328D5B-56E9-4DEF-9857-800E109910B8}"/>
              </a:ext>
            </a:extLst>
          </p:cNvPr>
          <p:cNvSpPr txBox="1"/>
          <p:nvPr/>
        </p:nvSpPr>
        <p:spPr>
          <a:xfrm>
            <a:off x="9842500" y="3708400"/>
            <a:ext cx="1841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文字 </a:t>
            </a:r>
            <a:r>
              <a:rPr lang="en-US" altLang="zh-CN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图片附件反馈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246415F-E004-4E99-9E2F-0A45646577DB}"/>
              </a:ext>
            </a:extLst>
          </p:cNvPr>
          <p:cNvSpPr txBox="1"/>
          <p:nvPr/>
        </p:nvSpPr>
        <p:spPr>
          <a:xfrm>
            <a:off x="9842500" y="4267200"/>
            <a:ext cx="1841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任务状态和资源版本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DA55F49-929D-478F-AACC-271E27E7BA35}"/>
              </a:ext>
            </a:extLst>
          </p:cNvPr>
          <p:cNvSpPr txBox="1"/>
          <p:nvPr/>
        </p:nvSpPr>
        <p:spPr>
          <a:xfrm>
            <a:off x="9842500" y="4826000"/>
            <a:ext cx="1841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消息发送、回执、重试与人工处置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7902ED6-BD6F-4B74-B031-94E8EFB27463}"/>
              </a:ext>
            </a:extLst>
          </p:cNvPr>
          <p:cNvSpPr txBox="1"/>
          <p:nvPr/>
        </p:nvSpPr>
        <p:spPr>
          <a:xfrm>
            <a:off x="482600" y="64770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某自然博物馆智能运营中心 </a:t>
            </a:r>
            <a:r>
              <a:rPr lang="en-US" altLang="zh-CN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应急管理子系统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FFF54D8-A91D-4E7C-9C8B-E5893FF5C922}"/>
              </a:ext>
            </a:extLst>
          </p:cNvPr>
          <p:cNvSpPr txBox="1"/>
          <p:nvPr/>
        </p:nvSpPr>
        <p:spPr>
          <a:xfrm>
            <a:off x="11176000" y="6477000"/>
            <a:ext cx="533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sz="900" b="1">
              <a:solidFill>
                <a:srgbClr val="5E718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7196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05F04BE-26A7-41CA-B0FB-6391A63D1D97}"/>
              </a:ext>
            </a:extLst>
          </p:cNvPr>
          <p:cNvSpPr txBox="1"/>
          <p:nvPr/>
        </p:nvSpPr>
        <p:spPr>
          <a:xfrm>
            <a:off x="482600" y="317500"/>
            <a:ext cx="609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E89A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lang="zh-CN" altLang="en-US" sz="1300" b="1">
              <a:solidFill>
                <a:srgbClr val="E89A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5D1E77F-DBCC-4AC3-8D36-7C3C805A2E11}"/>
              </a:ext>
            </a:extLst>
          </p:cNvPr>
          <p:cNvSpPr txBox="1"/>
          <p:nvPr/>
        </p:nvSpPr>
        <p:spPr>
          <a:xfrm>
            <a:off x="1117600" y="254000"/>
            <a:ext cx="10033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6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人员与物资保障：知道谁能到场，也知道资源是否可用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C86AAB-E314-4019-8A1F-1D2B2A26A7DC}"/>
              </a:ext>
            </a:extLst>
          </p:cNvPr>
          <p:cNvSpPr txBox="1"/>
          <p:nvPr/>
        </p:nvSpPr>
        <p:spPr>
          <a:xfrm>
            <a:off x="9931400" y="368300"/>
            <a:ext cx="1714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zh-CN" altLang="en-US" sz="11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系统完成情况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A972D67-EE96-4DC1-9876-01F86FA1D1BF}"/>
              </a:ext>
            </a:extLst>
          </p:cNvPr>
          <p:cNvCxnSpPr/>
          <p:nvPr/>
        </p:nvCxnSpPr>
        <p:spPr>
          <a:xfrm>
            <a:off x="482600" y="889000"/>
            <a:ext cx="11226800" cy="0"/>
          </a:xfrm>
          <a:prstGeom prst="line">
            <a:avLst/>
          </a:prstGeom>
          <a:ln w="12700">
            <a:solidFill>
              <a:srgbClr val="D4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634A8B6C-281E-4C27-A288-A5B061ED8E64}"/>
              </a:ext>
            </a:extLst>
          </p:cNvPr>
          <p:cNvSpPr txBox="1"/>
          <p:nvPr/>
        </p:nvSpPr>
        <p:spPr>
          <a:xfrm>
            <a:off x="698500" y="1193800"/>
            <a:ext cx="2667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人员保障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92C9B03-33A0-486E-96E9-572875DE02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3891" y="2424700"/>
            <a:ext cx="2258718" cy="1411699"/>
          </a:xfrm>
          <a:prstGeom prst="rect">
            <a:avLst/>
          </a:prstGeom>
          <a:ln w="12700">
            <a:solidFill>
              <a:srgbClr val="D4E0E7"/>
            </a:solidFill>
          </a:ln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DE96A24-8C19-4BB0-824C-18F8CBE0A582}"/>
              </a:ext>
            </a:extLst>
          </p:cNvPr>
          <p:cNvSpPr txBox="1"/>
          <p:nvPr/>
        </p:nvSpPr>
        <p:spPr>
          <a:xfrm>
            <a:off x="698500" y="4851400"/>
            <a:ext cx="4889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档案、职责、小组、调派、在线与就位状态、位置新鲜度提示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5B605C5-EB80-4128-8D71-B7DB887F6E92}"/>
              </a:ext>
            </a:extLst>
          </p:cNvPr>
          <p:cNvSpPr txBox="1"/>
          <p:nvPr/>
        </p:nvSpPr>
        <p:spPr>
          <a:xfrm>
            <a:off x="6350000" y="1193800"/>
            <a:ext cx="2667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物资保障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8C0C883-33CF-4DBA-BAAA-D8764060AA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541" y="2717138"/>
            <a:ext cx="1322917" cy="826823"/>
          </a:xfrm>
          <a:prstGeom prst="rect">
            <a:avLst/>
          </a:prstGeom>
          <a:ln w="12700">
            <a:solidFill>
              <a:srgbClr val="D4E0E7"/>
            </a:solidFill>
          </a:ln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4114323-0D67-43F0-BB1B-81FBA85425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7426" y="2561402"/>
            <a:ext cx="569148" cy="1138296"/>
          </a:xfrm>
          <a:prstGeom prst="rect">
            <a:avLst/>
          </a:prstGeom>
          <a:ln w="12700">
            <a:solidFill>
              <a:srgbClr val="D4E0E7"/>
            </a:solidFill>
          </a:ln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C6AA5D72-7085-4626-B3F9-65AC5F46B59F}"/>
              </a:ext>
            </a:extLst>
          </p:cNvPr>
          <p:cNvSpPr txBox="1"/>
          <p:nvPr/>
        </p:nvSpPr>
        <p:spPr>
          <a:xfrm>
            <a:off x="6350000" y="4851400"/>
            <a:ext cx="5207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站点与台账、数量和有效期、临期提醒、盘点快照、实盘差异与复核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31686AA-8839-47DE-A8D1-DDBDBC495465}"/>
              </a:ext>
            </a:extLst>
          </p:cNvPr>
          <p:cNvSpPr/>
          <p:nvPr/>
        </p:nvSpPr>
        <p:spPr>
          <a:xfrm>
            <a:off x="2667000" y="5689600"/>
            <a:ext cx="6858000" cy="482600"/>
          </a:xfrm>
          <a:prstGeom prst="roundRect">
            <a:avLst/>
          </a:prstGeom>
          <a:solidFill>
            <a:srgbClr val="DCECF6"/>
          </a:solidFill>
          <a:ln w="12700">
            <a:solidFill>
              <a:srgbClr val="DCEC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739565A-9F31-4617-97E1-DF2B5274F091}"/>
              </a:ext>
            </a:extLst>
          </p:cNvPr>
          <p:cNvSpPr txBox="1"/>
          <p:nvPr/>
        </p:nvSpPr>
        <p:spPr>
          <a:xfrm>
            <a:off x="2984500" y="5816600"/>
            <a:ext cx="622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2468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账面快照 </a:t>
            </a:r>
            <a:r>
              <a:rPr lang="en-US" altLang="zh-CN" sz="1300" b="1">
                <a:solidFill>
                  <a:srgbClr val="2468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300" b="1">
                <a:solidFill>
                  <a:srgbClr val="2468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现场实盘 </a:t>
            </a:r>
            <a:r>
              <a:rPr lang="en-US" altLang="zh-CN" sz="1300" b="1">
                <a:solidFill>
                  <a:srgbClr val="2468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300" b="1">
                <a:solidFill>
                  <a:srgbClr val="2468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期间变动 </a:t>
            </a:r>
            <a:r>
              <a:rPr lang="en-US" altLang="zh-CN" sz="1300" b="1">
                <a:solidFill>
                  <a:srgbClr val="2468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1300" b="1">
                <a:solidFill>
                  <a:srgbClr val="2468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可审计差异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780F843-B3D0-4755-B77B-95B7D7A09C37}"/>
              </a:ext>
            </a:extLst>
          </p:cNvPr>
          <p:cNvSpPr txBox="1"/>
          <p:nvPr/>
        </p:nvSpPr>
        <p:spPr>
          <a:xfrm>
            <a:off x="482600" y="64770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某自然博物馆智能运营中心 </a:t>
            </a:r>
            <a:r>
              <a:rPr lang="en-US" altLang="zh-CN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应急管理子系统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FF530E8-E6B2-461D-B5A3-3D3E67B97D44}"/>
              </a:ext>
            </a:extLst>
          </p:cNvPr>
          <p:cNvSpPr txBox="1"/>
          <p:nvPr/>
        </p:nvSpPr>
        <p:spPr>
          <a:xfrm>
            <a:off x="11176000" y="6477000"/>
            <a:ext cx="533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lang="zh-CN" altLang="en-US" sz="900" b="1">
              <a:solidFill>
                <a:srgbClr val="5E718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86568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DBF65C4-D3E2-4771-BFFD-B77028B722B1}"/>
              </a:ext>
            </a:extLst>
          </p:cNvPr>
          <p:cNvSpPr txBox="1"/>
          <p:nvPr/>
        </p:nvSpPr>
        <p:spPr>
          <a:xfrm>
            <a:off x="482600" y="317500"/>
            <a:ext cx="609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E89A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endParaRPr lang="zh-CN" altLang="en-US" sz="1300" b="1">
              <a:solidFill>
                <a:srgbClr val="E89A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5CAA179-CFE5-4AA1-9D0E-134B8F8F0519}"/>
              </a:ext>
            </a:extLst>
          </p:cNvPr>
          <p:cNvSpPr txBox="1"/>
          <p:nvPr/>
        </p:nvSpPr>
        <p:spPr>
          <a:xfrm>
            <a:off x="1117600" y="254000"/>
            <a:ext cx="10033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6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值班与二维码打卡：规则校验、异常发现和提醒形成闭环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B67050-5876-4616-91BF-614754C28C33}"/>
              </a:ext>
            </a:extLst>
          </p:cNvPr>
          <p:cNvSpPr txBox="1"/>
          <p:nvPr/>
        </p:nvSpPr>
        <p:spPr>
          <a:xfrm>
            <a:off x="9931400" y="368300"/>
            <a:ext cx="1714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zh-CN" altLang="en-US" sz="11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系统完成情况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B7ACD3C-FA70-41B3-A3A8-FC736820BFC3}"/>
              </a:ext>
            </a:extLst>
          </p:cNvPr>
          <p:cNvCxnSpPr/>
          <p:nvPr/>
        </p:nvCxnSpPr>
        <p:spPr>
          <a:xfrm>
            <a:off x="482600" y="889000"/>
            <a:ext cx="11226800" cy="0"/>
          </a:xfrm>
          <a:prstGeom prst="line">
            <a:avLst/>
          </a:prstGeom>
          <a:ln w="12700">
            <a:solidFill>
              <a:srgbClr val="D4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C05D550A-3026-4415-B63E-EC55EC79E7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674" y="2059046"/>
            <a:ext cx="3164651" cy="1977907"/>
          </a:xfrm>
          <a:prstGeom prst="rect">
            <a:avLst/>
          </a:prstGeom>
          <a:ln w="12700">
            <a:solidFill>
              <a:srgbClr val="D4E0E7"/>
            </a:solidFill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7A13630-F38A-4F5E-9EC8-27057EC0EF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3718" y="2425935"/>
            <a:ext cx="622065" cy="1244130"/>
          </a:xfrm>
          <a:prstGeom prst="rect">
            <a:avLst/>
          </a:prstGeom>
          <a:ln w="12700">
            <a:solidFill>
              <a:srgbClr val="D4E0E7"/>
            </a:solidFill>
          </a:ln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9D0C8FA-A630-4FAC-B874-687E59BA1E0A}"/>
              </a:ext>
            </a:extLst>
          </p:cNvPr>
          <p:cNvSpPr txBox="1"/>
          <p:nvPr/>
        </p:nvSpPr>
        <p:spPr>
          <a:xfrm>
            <a:off x="9906000" y="1333500"/>
            <a:ext cx="1143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2B80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正常链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EBF874E-B961-431A-8D28-648286704427}"/>
              </a:ext>
            </a:extLst>
          </p:cNvPr>
          <p:cNvSpPr txBox="1"/>
          <p:nvPr/>
        </p:nvSpPr>
        <p:spPr>
          <a:xfrm>
            <a:off x="9906000" y="1727200"/>
            <a:ext cx="1841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1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排班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EA1B5A4-A8A8-4570-9BCF-42A5896B7D1C}"/>
              </a:ext>
            </a:extLst>
          </p:cNvPr>
          <p:cNvSpPr txBox="1"/>
          <p:nvPr/>
        </p:nvSpPr>
        <p:spPr>
          <a:xfrm>
            <a:off x="9906000" y="2133600"/>
            <a:ext cx="1841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1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到岗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F757B56-0A21-4531-A28C-5033C6AFCAE6}"/>
              </a:ext>
            </a:extLst>
          </p:cNvPr>
          <p:cNvSpPr txBox="1"/>
          <p:nvPr/>
        </p:nvSpPr>
        <p:spPr>
          <a:xfrm>
            <a:off x="9906000" y="2540000"/>
            <a:ext cx="1841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11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扫码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D9314A8-1EA6-4E89-A113-4A053F1CC2E3}"/>
              </a:ext>
            </a:extLst>
          </p:cNvPr>
          <p:cNvSpPr txBox="1"/>
          <p:nvPr/>
        </p:nvSpPr>
        <p:spPr>
          <a:xfrm>
            <a:off x="9906000" y="2946400"/>
            <a:ext cx="1841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11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身份</a:t>
            </a:r>
            <a:r>
              <a:rPr lang="en-US" altLang="zh-CN" sz="11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1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时段</a:t>
            </a:r>
            <a:r>
              <a:rPr lang="en-US" altLang="zh-CN" sz="11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1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半径校验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D8BB76B-FF36-4DAB-8444-75B0AD9F32C2}"/>
              </a:ext>
            </a:extLst>
          </p:cNvPr>
          <p:cNvSpPr txBox="1"/>
          <p:nvPr/>
        </p:nvSpPr>
        <p:spPr>
          <a:xfrm>
            <a:off x="9906000" y="3352800"/>
            <a:ext cx="1841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11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打卡成功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0D108C6-951F-4519-A443-1848E59367F9}"/>
              </a:ext>
            </a:extLst>
          </p:cNvPr>
          <p:cNvSpPr txBox="1"/>
          <p:nvPr/>
        </p:nvSpPr>
        <p:spPr>
          <a:xfrm>
            <a:off x="9906000" y="3759200"/>
            <a:ext cx="1841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 </a:t>
            </a:r>
            <a:r>
              <a:rPr lang="zh-CN" altLang="en-US" sz="11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D16C25F-5E5A-43CB-B33D-ACFAD0DAF4AA}"/>
              </a:ext>
            </a:extLst>
          </p:cNvPr>
          <p:cNvSpPr txBox="1"/>
          <p:nvPr/>
        </p:nvSpPr>
        <p:spPr>
          <a:xfrm>
            <a:off x="9906000" y="4318000"/>
            <a:ext cx="1143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C94A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异常链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60237CE-7DEE-493E-AF21-E39FD2C695BA}"/>
              </a:ext>
            </a:extLst>
          </p:cNvPr>
          <p:cNvSpPr txBox="1"/>
          <p:nvPr/>
        </p:nvSpPr>
        <p:spPr>
          <a:xfrm>
            <a:off x="9906000" y="4724400"/>
            <a:ext cx="18415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超时未打卡 → 告警 → 统一消息 → 有限重试 → 人工处理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8836B9F-BA68-44C5-A499-EFB8CC96A219}"/>
              </a:ext>
            </a:extLst>
          </p:cNvPr>
          <p:cNvSpPr/>
          <p:nvPr/>
        </p:nvSpPr>
        <p:spPr>
          <a:xfrm>
            <a:off x="889000" y="5461000"/>
            <a:ext cx="8636000" cy="6858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F2618F0-9079-4730-86AC-8C735EE93128}"/>
              </a:ext>
            </a:extLst>
          </p:cNvPr>
          <p:cNvSpPr txBox="1"/>
          <p:nvPr/>
        </p:nvSpPr>
        <p:spPr>
          <a:xfrm>
            <a:off x="1168400" y="5651500"/>
            <a:ext cx="812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重复扫码在同一用户、规则窗口与幂等键下返回首次结果；调整排班保留版本与前后值。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1BC45BC-C312-4875-B805-913D32D25C2B}"/>
              </a:ext>
            </a:extLst>
          </p:cNvPr>
          <p:cNvSpPr txBox="1"/>
          <p:nvPr/>
        </p:nvSpPr>
        <p:spPr>
          <a:xfrm>
            <a:off x="482600" y="64770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某自然博物馆智能运营中心 </a:t>
            </a:r>
            <a:r>
              <a:rPr lang="en-US" altLang="zh-CN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应急管理子系统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2DF368B-CAF2-4507-9D5A-701DD2D0AD11}"/>
              </a:ext>
            </a:extLst>
          </p:cNvPr>
          <p:cNvSpPr txBox="1"/>
          <p:nvPr/>
        </p:nvSpPr>
        <p:spPr>
          <a:xfrm>
            <a:off x="11176000" y="6477000"/>
            <a:ext cx="533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endParaRPr lang="zh-CN" altLang="en-US" sz="900" b="1">
              <a:solidFill>
                <a:srgbClr val="5E718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9907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A49E839-93BB-404E-BF54-7FC412725182}"/>
              </a:ext>
            </a:extLst>
          </p:cNvPr>
          <p:cNvSpPr txBox="1"/>
          <p:nvPr/>
        </p:nvSpPr>
        <p:spPr>
          <a:xfrm>
            <a:off x="482600" y="317500"/>
            <a:ext cx="609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E89A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endParaRPr lang="zh-CN" altLang="en-US" sz="1300" b="1">
              <a:solidFill>
                <a:srgbClr val="E89A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E690259-6DFC-4BE8-81DE-E62460A9BA0F}"/>
              </a:ext>
            </a:extLst>
          </p:cNvPr>
          <p:cNvSpPr txBox="1"/>
          <p:nvPr/>
        </p:nvSpPr>
        <p:spPr>
          <a:xfrm>
            <a:off x="1117600" y="254000"/>
            <a:ext cx="10033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6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演练闭环把计划、执行、评估和整改连成持续改进链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37FCDB9-D092-46AA-87D4-45A624C1B581}"/>
              </a:ext>
            </a:extLst>
          </p:cNvPr>
          <p:cNvSpPr txBox="1"/>
          <p:nvPr/>
        </p:nvSpPr>
        <p:spPr>
          <a:xfrm>
            <a:off x="9931400" y="368300"/>
            <a:ext cx="1714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zh-CN" altLang="en-US" sz="11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系统完成情况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8F3881E-44D8-4C33-8ED1-10D80EED9174}"/>
              </a:ext>
            </a:extLst>
          </p:cNvPr>
          <p:cNvCxnSpPr/>
          <p:nvPr/>
        </p:nvCxnSpPr>
        <p:spPr>
          <a:xfrm>
            <a:off x="482600" y="889000"/>
            <a:ext cx="11226800" cy="0"/>
          </a:xfrm>
          <a:prstGeom prst="line">
            <a:avLst/>
          </a:prstGeom>
          <a:ln w="12700">
            <a:solidFill>
              <a:srgbClr val="D4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475731C-E4CF-4E50-B6D3-962DF98FD239}"/>
              </a:ext>
            </a:extLst>
          </p:cNvPr>
          <p:cNvSpPr/>
          <p:nvPr/>
        </p:nvSpPr>
        <p:spPr>
          <a:xfrm>
            <a:off x="571500" y="1168400"/>
            <a:ext cx="1292225" cy="5080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2749076-B879-4AAF-BF9C-BEC182A91EEA}"/>
              </a:ext>
            </a:extLst>
          </p:cNvPr>
          <p:cNvSpPr txBox="1"/>
          <p:nvPr/>
        </p:nvSpPr>
        <p:spPr>
          <a:xfrm>
            <a:off x="635000" y="1295400"/>
            <a:ext cx="1165225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00" b="1">
                <a:solidFill>
                  <a:srgbClr val="2A879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900" b="1">
                <a:solidFill>
                  <a:srgbClr val="2A879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900" b="1">
                <a:solidFill>
                  <a:srgbClr val="2A879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季</a:t>
            </a:r>
            <a:r>
              <a:rPr lang="en-US" altLang="zh-CN" sz="900" b="1">
                <a:solidFill>
                  <a:srgbClr val="2A879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900" b="1">
                <a:solidFill>
                  <a:srgbClr val="2A879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月计划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0AA7A2E-0AF2-48EB-8E0A-BF8B7E75F557}"/>
              </a:ext>
            </a:extLst>
          </p:cNvPr>
          <p:cNvCxnSpPr/>
          <p:nvPr/>
        </p:nvCxnSpPr>
        <p:spPr>
          <a:xfrm>
            <a:off x="1863725" y="1422400"/>
            <a:ext cx="88900" cy="0"/>
          </a:xfrm>
          <a:prstGeom prst="line">
            <a:avLst/>
          </a:prstGeom>
          <a:ln w="19050">
            <a:solidFill>
              <a:srgbClr val="2A879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7CAB16F-2FF2-4603-86F5-397559145241}"/>
              </a:ext>
            </a:extLst>
          </p:cNvPr>
          <p:cNvSpPr/>
          <p:nvPr/>
        </p:nvSpPr>
        <p:spPr>
          <a:xfrm>
            <a:off x="1965325" y="1168400"/>
            <a:ext cx="1292225" cy="5080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5835040-1F11-49CF-8858-5669C98EB82E}"/>
              </a:ext>
            </a:extLst>
          </p:cNvPr>
          <p:cNvSpPr txBox="1"/>
          <p:nvPr/>
        </p:nvSpPr>
        <p:spPr>
          <a:xfrm>
            <a:off x="2028825" y="1295400"/>
            <a:ext cx="1165225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00" b="1">
                <a:solidFill>
                  <a:srgbClr val="2A879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到期触发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752CA6CD-46FB-4482-A4D1-2426E7B964BB}"/>
              </a:ext>
            </a:extLst>
          </p:cNvPr>
          <p:cNvCxnSpPr/>
          <p:nvPr/>
        </p:nvCxnSpPr>
        <p:spPr>
          <a:xfrm>
            <a:off x="3257550" y="1422400"/>
            <a:ext cx="88900" cy="0"/>
          </a:xfrm>
          <a:prstGeom prst="line">
            <a:avLst/>
          </a:prstGeom>
          <a:ln w="19050">
            <a:solidFill>
              <a:srgbClr val="2A879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B7469CF4-D789-40C5-A242-93337A046E1A}"/>
              </a:ext>
            </a:extLst>
          </p:cNvPr>
          <p:cNvSpPr/>
          <p:nvPr/>
        </p:nvSpPr>
        <p:spPr>
          <a:xfrm>
            <a:off x="3359150" y="1168400"/>
            <a:ext cx="1292225" cy="5080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3C574A9-2A64-43F4-9E7E-034A9CB8A813}"/>
              </a:ext>
            </a:extLst>
          </p:cNvPr>
          <p:cNvSpPr txBox="1"/>
          <p:nvPr/>
        </p:nvSpPr>
        <p:spPr>
          <a:xfrm>
            <a:off x="3422650" y="1295400"/>
            <a:ext cx="1165225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00" b="1">
                <a:solidFill>
                  <a:srgbClr val="2A879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自动任务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B2EA0E3-470A-41EF-A4D3-99E81DC36EC4}"/>
              </a:ext>
            </a:extLst>
          </p:cNvPr>
          <p:cNvCxnSpPr/>
          <p:nvPr/>
        </p:nvCxnSpPr>
        <p:spPr>
          <a:xfrm>
            <a:off x="4651375" y="1422400"/>
            <a:ext cx="88900" cy="0"/>
          </a:xfrm>
          <a:prstGeom prst="line">
            <a:avLst/>
          </a:prstGeom>
          <a:ln w="19050">
            <a:solidFill>
              <a:srgbClr val="2A879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0F1D371-3033-448B-9E11-5DB270A7BA6B}"/>
              </a:ext>
            </a:extLst>
          </p:cNvPr>
          <p:cNvSpPr/>
          <p:nvPr/>
        </p:nvSpPr>
        <p:spPr>
          <a:xfrm>
            <a:off x="4752975" y="1168400"/>
            <a:ext cx="1292225" cy="5080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12ED608-4F7B-489E-A33E-714DCD5F3080}"/>
              </a:ext>
            </a:extLst>
          </p:cNvPr>
          <p:cNvSpPr txBox="1"/>
          <p:nvPr/>
        </p:nvSpPr>
        <p:spPr>
          <a:xfrm>
            <a:off x="4816475" y="1295400"/>
            <a:ext cx="1165225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 b="1">
                <a:solidFill>
                  <a:srgbClr val="2A879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H5 </a:t>
            </a:r>
            <a:r>
              <a:rPr lang="zh-CN" altLang="en-US" sz="900" b="1">
                <a:solidFill>
                  <a:srgbClr val="2A879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4D2621D-FC3A-46DB-9D2F-AF49C16C3A0D}"/>
              </a:ext>
            </a:extLst>
          </p:cNvPr>
          <p:cNvCxnSpPr/>
          <p:nvPr/>
        </p:nvCxnSpPr>
        <p:spPr>
          <a:xfrm>
            <a:off x="6045200" y="1422400"/>
            <a:ext cx="88900" cy="0"/>
          </a:xfrm>
          <a:prstGeom prst="line">
            <a:avLst/>
          </a:prstGeom>
          <a:ln w="19050">
            <a:solidFill>
              <a:srgbClr val="2A879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5FA7EAF-DD54-4722-AAA0-F9CE8E0B9927}"/>
              </a:ext>
            </a:extLst>
          </p:cNvPr>
          <p:cNvSpPr/>
          <p:nvPr/>
        </p:nvSpPr>
        <p:spPr>
          <a:xfrm>
            <a:off x="6146800" y="1168400"/>
            <a:ext cx="1292225" cy="5080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2005EEC-6E22-4A74-B12D-7DC848CC7E72}"/>
              </a:ext>
            </a:extLst>
          </p:cNvPr>
          <p:cNvSpPr txBox="1"/>
          <p:nvPr/>
        </p:nvSpPr>
        <p:spPr>
          <a:xfrm>
            <a:off x="6210300" y="1295400"/>
            <a:ext cx="1165225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00" b="1">
                <a:solidFill>
                  <a:srgbClr val="2A879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模板评估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6C3649C2-8D46-4CBA-9C70-F6CD7F767912}"/>
              </a:ext>
            </a:extLst>
          </p:cNvPr>
          <p:cNvCxnSpPr/>
          <p:nvPr/>
        </p:nvCxnSpPr>
        <p:spPr>
          <a:xfrm>
            <a:off x="7439025" y="1422400"/>
            <a:ext cx="88900" cy="0"/>
          </a:xfrm>
          <a:prstGeom prst="line">
            <a:avLst/>
          </a:prstGeom>
          <a:ln w="19050">
            <a:solidFill>
              <a:srgbClr val="2A879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FDE79E8-E2C9-43D2-BAF9-222583580DF0}"/>
              </a:ext>
            </a:extLst>
          </p:cNvPr>
          <p:cNvSpPr/>
          <p:nvPr/>
        </p:nvSpPr>
        <p:spPr>
          <a:xfrm>
            <a:off x="7540625" y="1168400"/>
            <a:ext cx="1292225" cy="5080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E9A1534-5ACF-46EE-A52D-595D71A636E9}"/>
              </a:ext>
            </a:extLst>
          </p:cNvPr>
          <p:cNvSpPr txBox="1"/>
          <p:nvPr/>
        </p:nvSpPr>
        <p:spPr>
          <a:xfrm>
            <a:off x="7604125" y="1295400"/>
            <a:ext cx="1165225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00" b="1">
                <a:solidFill>
                  <a:srgbClr val="2A879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报告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722823EF-92C3-4C2A-B2C1-EC75BF456E71}"/>
              </a:ext>
            </a:extLst>
          </p:cNvPr>
          <p:cNvCxnSpPr/>
          <p:nvPr/>
        </p:nvCxnSpPr>
        <p:spPr>
          <a:xfrm>
            <a:off x="8832850" y="1422400"/>
            <a:ext cx="88900" cy="0"/>
          </a:xfrm>
          <a:prstGeom prst="line">
            <a:avLst/>
          </a:prstGeom>
          <a:ln w="19050">
            <a:solidFill>
              <a:srgbClr val="2A879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268A4FE4-0EC6-4B61-85C0-646C1B66FC59}"/>
              </a:ext>
            </a:extLst>
          </p:cNvPr>
          <p:cNvSpPr/>
          <p:nvPr/>
        </p:nvSpPr>
        <p:spPr>
          <a:xfrm>
            <a:off x="8934450" y="1168400"/>
            <a:ext cx="1292225" cy="5080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6CBAFED-A4C2-4710-B7D5-3037C174F78C}"/>
              </a:ext>
            </a:extLst>
          </p:cNvPr>
          <p:cNvSpPr txBox="1"/>
          <p:nvPr/>
        </p:nvSpPr>
        <p:spPr>
          <a:xfrm>
            <a:off x="8997950" y="1295400"/>
            <a:ext cx="1165225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00" b="1">
                <a:solidFill>
                  <a:srgbClr val="2A879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整改关闭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EF37177-7696-4D6C-8FC9-7A84B19D3D98}"/>
              </a:ext>
            </a:extLst>
          </p:cNvPr>
          <p:cNvCxnSpPr/>
          <p:nvPr/>
        </p:nvCxnSpPr>
        <p:spPr>
          <a:xfrm>
            <a:off x="10226675" y="1422400"/>
            <a:ext cx="88900" cy="0"/>
          </a:xfrm>
          <a:prstGeom prst="line">
            <a:avLst/>
          </a:prstGeom>
          <a:ln w="19050">
            <a:solidFill>
              <a:srgbClr val="2A879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9034E138-42BF-4B20-A0EB-589334BA2B8F}"/>
              </a:ext>
            </a:extLst>
          </p:cNvPr>
          <p:cNvSpPr/>
          <p:nvPr/>
        </p:nvSpPr>
        <p:spPr>
          <a:xfrm>
            <a:off x="10328275" y="1168400"/>
            <a:ext cx="1292225" cy="5080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4CAC8BC-74D3-4609-9CD6-609483733BC6}"/>
              </a:ext>
            </a:extLst>
          </p:cNvPr>
          <p:cNvSpPr txBox="1"/>
          <p:nvPr/>
        </p:nvSpPr>
        <p:spPr>
          <a:xfrm>
            <a:off x="10391775" y="1295400"/>
            <a:ext cx="1165225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00" b="1">
                <a:solidFill>
                  <a:srgbClr val="2A879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必要时补演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520F7788-C932-42F1-8066-22C96F2AF1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6767" y="2823104"/>
            <a:ext cx="3056467" cy="1910292"/>
          </a:xfrm>
          <a:prstGeom prst="rect">
            <a:avLst/>
          </a:prstGeom>
          <a:ln w="12700">
            <a:solidFill>
              <a:srgbClr val="D4E0E7"/>
            </a:solidFill>
          </a:ln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F8DB9136-0E58-4B1E-ABE9-B2C34EC7C3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5218" y="3156185"/>
            <a:ext cx="622065" cy="1244130"/>
          </a:xfrm>
          <a:prstGeom prst="rect">
            <a:avLst/>
          </a:prstGeom>
          <a:ln w="12700">
            <a:solidFill>
              <a:srgbClr val="D4E0E7"/>
            </a:solidFill>
          </a:ln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A8B9517D-C12C-4423-A237-12225D51C4C6}"/>
              </a:ext>
            </a:extLst>
          </p:cNvPr>
          <p:cNvSpPr txBox="1"/>
          <p:nvPr/>
        </p:nvSpPr>
        <p:spPr>
          <a:xfrm>
            <a:off x="10414000" y="2095500"/>
            <a:ext cx="1206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管理口径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5A0653A-819B-4399-8383-0526A641E680}"/>
              </a:ext>
            </a:extLst>
          </p:cNvPr>
          <p:cNvSpPr txBox="1"/>
          <p:nvPr/>
        </p:nvSpPr>
        <p:spPr>
          <a:xfrm>
            <a:off x="10414000" y="2565400"/>
            <a:ext cx="12700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频次管理</a:t>
            </a:r>
            <a:r>
              <a:rPr lang="en-US" altLang="zh-CN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`n</a:t>
            </a:r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人员执行</a:t>
            </a:r>
            <a:r>
              <a:rPr lang="en-US" altLang="zh-CN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`n</a:t>
            </a:r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评估模板与评分</a:t>
            </a:r>
            <a:r>
              <a:rPr lang="en-US" altLang="zh-CN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`n</a:t>
            </a:r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整改责任与期限</a:t>
            </a:r>
            <a:r>
              <a:rPr lang="en-US" altLang="zh-CN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`n</a:t>
            </a:r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历史记录</a:t>
            </a:r>
            <a:r>
              <a:rPr lang="en-US" altLang="zh-CN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`n</a:t>
            </a:r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实际完成率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4775A7D-8381-415C-9984-695ED37F5942}"/>
              </a:ext>
            </a:extLst>
          </p:cNvPr>
          <p:cNvSpPr txBox="1"/>
          <p:nvPr/>
        </p:nvSpPr>
        <p:spPr>
          <a:xfrm>
            <a:off x="482600" y="64770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某自然博物馆智能运营中心 </a:t>
            </a:r>
            <a:r>
              <a:rPr lang="en-US" altLang="zh-CN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应急管理子系统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3E5B86F-286A-415D-A604-E5F60DF9C5C4}"/>
              </a:ext>
            </a:extLst>
          </p:cNvPr>
          <p:cNvSpPr txBox="1"/>
          <p:nvPr/>
        </p:nvSpPr>
        <p:spPr>
          <a:xfrm>
            <a:off x="11176000" y="6477000"/>
            <a:ext cx="533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endParaRPr lang="zh-CN" altLang="en-US" sz="900" b="1">
              <a:solidFill>
                <a:srgbClr val="5E718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4566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5CAA02-796A-444D-AD75-D0EE38E2BB2C}"/>
              </a:ext>
            </a:extLst>
          </p:cNvPr>
          <p:cNvSpPr txBox="1"/>
          <p:nvPr/>
        </p:nvSpPr>
        <p:spPr>
          <a:xfrm>
            <a:off x="482600" y="317500"/>
            <a:ext cx="609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E89A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endParaRPr lang="zh-CN" altLang="en-US" sz="1300" b="1">
              <a:solidFill>
                <a:srgbClr val="E89A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5C1C4F-114F-485B-9AB9-87880946B150}"/>
              </a:ext>
            </a:extLst>
          </p:cNvPr>
          <p:cNvSpPr txBox="1"/>
          <p:nvPr/>
        </p:nvSpPr>
        <p:spPr>
          <a:xfrm>
            <a:off x="1117600" y="254000"/>
            <a:ext cx="10033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6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H5 </a:t>
            </a:r>
            <a:r>
              <a:rPr lang="zh-CN" altLang="en-US" sz="26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将上报、任务和现场作业带到处置人员手中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A2E9428-5D2B-4F9E-A8E7-6D04C228018E}"/>
              </a:ext>
            </a:extLst>
          </p:cNvPr>
          <p:cNvSpPr txBox="1"/>
          <p:nvPr/>
        </p:nvSpPr>
        <p:spPr>
          <a:xfrm>
            <a:off x="9931400" y="368300"/>
            <a:ext cx="1714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zh-CN" altLang="en-US" sz="11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系统完成情况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184B1A5-79C3-4359-900F-DFDF25A2C1B0}"/>
              </a:ext>
            </a:extLst>
          </p:cNvPr>
          <p:cNvCxnSpPr/>
          <p:nvPr/>
        </p:nvCxnSpPr>
        <p:spPr>
          <a:xfrm>
            <a:off x="482600" y="889000"/>
            <a:ext cx="11226800" cy="0"/>
          </a:xfrm>
          <a:prstGeom prst="line">
            <a:avLst/>
          </a:prstGeom>
          <a:ln w="12700">
            <a:solidFill>
              <a:srgbClr val="D4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98D7F6BC-1FFD-4909-86A0-689DD1B911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833" y="2148417"/>
            <a:ext cx="1058334" cy="2116667"/>
          </a:xfrm>
          <a:prstGeom prst="rect">
            <a:avLst/>
          </a:prstGeom>
          <a:ln w="12700">
            <a:solidFill>
              <a:srgbClr val="D4E0E7"/>
            </a:solidFill>
          </a:ln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09643E2-34B9-40A4-8DC2-F0D90347D489}"/>
              </a:ext>
            </a:extLst>
          </p:cNvPr>
          <p:cNvSpPr txBox="1"/>
          <p:nvPr/>
        </p:nvSpPr>
        <p:spPr>
          <a:xfrm>
            <a:off x="635000" y="5334000"/>
            <a:ext cx="203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移动事件上报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79FFE4B-E155-44D0-B574-FB37456656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5833" y="2148417"/>
            <a:ext cx="1058334" cy="2116667"/>
          </a:xfrm>
          <a:prstGeom prst="rect">
            <a:avLst/>
          </a:prstGeom>
          <a:ln w="12700">
            <a:solidFill>
              <a:srgbClr val="D4E0E7"/>
            </a:solidFill>
          </a:ln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C3DCBB89-8F3F-4E79-9347-80528D8BFFF6}"/>
              </a:ext>
            </a:extLst>
          </p:cNvPr>
          <p:cNvSpPr txBox="1"/>
          <p:nvPr/>
        </p:nvSpPr>
        <p:spPr>
          <a:xfrm>
            <a:off x="3429000" y="5334000"/>
            <a:ext cx="203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我的事件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50843D0-1FE2-4C96-A5D4-6F2830306B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9833" y="2148417"/>
            <a:ext cx="1058334" cy="2116667"/>
          </a:xfrm>
          <a:prstGeom prst="rect">
            <a:avLst/>
          </a:prstGeom>
          <a:ln w="12700">
            <a:solidFill>
              <a:srgbClr val="D4E0E7"/>
            </a:solidFill>
          </a:ln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A136910B-7B07-4BC8-9BF0-C3955FC8D3FD}"/>
              </a:ext>
            </a:extLst>
          </p:cNvPr>
          <p:cNvSpPr txBox="1"/>
          <p:nvPr/>
        </p:nvSpPr>
        <p:spPr>
          <a:xfrm>
            <a:off x="6223000" y="5334000"/>
            <a:ext cx="203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任务接收与反馈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16955BD7-74DB-4A52-A32A-5A3A7A7DF6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3833" y="2148417"/>
            <a:ext cx="1058334" cy="2116667"/>
          </a:xfrm>
          <a:prstGeom prst="rect">
            <a:avLst/>
          </a:prstGeom>
          <a:ln w="12700">
            <a:solidFill>
              <a:srgbClr val="D4E0E7"/>
            </a:solidFill>
          </a:ln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39D4EC16-CF1D-47BE-9BBA-556958989B41}"/>
              </a:ext>
            </a:extLst>
          </p:cNvPr>
          <p:cNvSpPr txBox="1"/>
          <p:nvPr/>
        </p:nvSpPr>
        <p:spPr>
          <a:xfrm>
            <a:off x="9017000" y="5334000"/>
            <a:ext cx="203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移动物资盘点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30C2FC6-370D-45F5-B05D-094BC0731927}"/>
              </a:ext>
            </a:extLst>
          </p:cNvPr>
          <p:cNvSpPr/>
          <p:nvPr/>
        </p:nvSpPr>
        <p:spPr>
          <a:xfrm>
            <a:off x="1587500" y="5867400"/>
            <a:ext cx="9017000" cy="431800"/>
          </a:xfrm>
          <a:prstGeom prst="roundRect">
            <a:avLst/>
          </a:prstGeom>
          <a:solidFill>
            <a:srgbClr val="DCECF6"/>
          </a:solidFill>
          <a:ln w="12700">
            <a:solidFill>
              <a:srgbClr val="DCEC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31A77B8-ABB5-4F9A-85B6-0FC2627C0865}"/>
              </a:ext>
            </a:extLst>
          </p:cNvPr>
          <p:cNvSpPr txBox="1"/>
          <p:nvPr/>
        </p:nvSpPr>
        <p:spPr>
          <a:xfrm>
            <a:off x="1841500" y="5981700"/>
            <a:ext cx="850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2468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H5 </a:t>
            </a:r>
            <a:r>
              <a:rPr lang="zh-CN" altLang="en-US" sz="1200" b="1">
                <a:solidFill>
                  <a:srgbClr val="2468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嵌入既有智慧管理 </a:t>
            </a:r>
            <a:r>
              <a:rPr lang="en-US" altLang="zh-CN" sz="1200" b="1">
                <a:solidFill>
                  <a:srgbClr val="2468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 sz="1200" b="1">
                <a:solidFill>
                  <a:srgbClr val="2468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，复用统一认证与宿主能力，不建设独立原生 </a:t>
            </a:r>
            <a:r>
              <a:rPr lang="en-US" altLang="zh-CN" sz="1200" b="1">
                <a:solidFill>
                  <a:srgbClr val="2468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Android/iOS APP</a:t>
            </a:r>
            <a:r>
              <a:rPr lang="zh-CN" altLang="en-US" sz="1200" b="1">
                <a:solidFill>
                  <a:srgbClr val="2468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6039D2F-CE1B-43D8-BBCC-B381333C951B}"/>
              </a:ext>
            </a:extLst>
          </p:cNvPr>
          <p:cNvSpPr txBox="1"/>
          <p:nvPr/>
        </p:nvSpPr>
        <p:spPr>
          <a:xfrm>
            <a:off x="482600" y="64770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某自然博物馆智能运营中心 </a:t>
            </a:r>
            <a:r>
              <a:rPr lang="en-US" altLang="zh-CN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应急管理子系统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E32219B-DC3A-4DFC-A0C7-D16566479FD7}"/>
              </a:ext>
            </a:extLst>
          </p:cNvPr>
          <p:cNvSpPr txBox="1"/>
          <p:nvPr/>
        </p:nvSpPr>
        <p:spPr>
          <a:xfrm>
            <a:off x="11176000" y="6477000"/>
            <a:ext cx="533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endParaRPr lang="zh-CN" altLang="en-US" sz="900" b="1">
              <a:solidFill>
                <a:srgbClr val="5E718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6095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8519C0B-C916-4730-9B18-6AC87840C10B}"/>
              </a:ext>
            </a:extLst>
          </p:cNvPr>
          <p:cNvSpPr txBox="1"/>
          <p:nvPr/>
        </p:nvSpPr>
        <p:spPr>
          <a:xfrm>
            <a:off x="482600" y="317500"/>
            <a:ext cx="609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E89A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endParaRPr lang="zh-CN" altLang="en-US" sz="1300" b="1">
              <a:solidFill>
                <a:srgbClr val="E89A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5562428-ECB7-4342-904F-9C5C2F2C0374}"/>
              </a:ext>
            </a:extLst>
          </p:cNvPr>
          <p:cNvSpPr txBox="1"/>
          <p:nvPr/>
        </p:nvSpPr>
        <p:spPr>
          <a:xfrm>
            <a:off x="1117600" y="254000"/>
            <a:ext cx="10033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6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多系统联动形成统一应急态势，并保留失败降级路径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548CB33-928E-4279-BFAA-993054A44C18}"/>
              </a:ext>
            </a:extLst>
          </p:cNvPr>
          <p:cNvSpPr txBox="1"/>
          <p:nvPr/>
        </p:nvSpPr>
        <p:spPr>
          <a:xfrm>
            <a:off x="9931400" y="368300"/>
            <a:ext cx="1714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zh-CN" altLang="en-US" sz="11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系统完成情况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0ACAA8A-BBD2-43E3-986E-9923D7869FBC}"/>
              </a:ext>
            </a:extLst>
          </p:cNvPr>
          <p:cNvCxnSpPr/>
          <p:nvPr/>
        </p:nvCxnSpPr>
        <p:spPr>
          <a:xfrm>
            <a:off x="482600" y="889000"/>
            <a:ext cx="11226800" cy="0"/>
          </a:xfrm>
          <a:prstGeom prst="line">
            <a:avLst/>
          </a:prstGeom>
          <a:ln w="12700">
            <a:solidFill>
              <a:srgbClr val="D4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1E6A14D-9CB9-41AD-9BD1-8AB4520008F6}"/>
              </a:ext>
            </a:extLst>
          </p:cNvPr>
          <p:cNvSpPr/>
          <p:nvPr/>
        </p:nvSpPr>
        <p:spPr>
          <a:xfrm>
            <a:off x="4635500" y="2603500"/>
            <a:ext cx="2921000" cy="1206500"/>
          </a:xfrm>
          <a:prstGeom prst="roundRect">
            <a:avLst/>
          </a:prstGeom>
          <a:solidFill>
            <a:srgbClr val="12304B"/>
          </a:solidFill>
          <a:ln w="12700">
            <a:solidFill>
              <a:srgbClr val="1230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9E5299-C3D4-4986-B398-712480D45C60}"/>
              </a:ext>
            </a:extLst>
          </p:cNvPr>
          <p:cNvSpPr txBox="1"/>
          <p:nvPr/>
        </p:nvSpPr>
        <p:spPr>
          <a:xfrm>
            <a:off x="4953000" y="2921000"/>
            <a:ext cx="2286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应急管理子系统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8A39970-802F-4F0B-9BF5-1D1DF0AAA58E}"/>
              </a:ext>
            </a:extLst>
          </p:cNvPr>
          <p:cNvSpPr txBox="1"/>
          <p:nvPr/>
        </p:nvSpPr>
        <p:spPr>
          <a:xfrm>
            <a:off x="4953000" y="3365500"/>
            <a:ext cx="228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100">
                <a:solidFill>
                  <a:srgbClr val="DCEC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 </a:t>
            </a:r>
            <a:r>
              <a:rPr lang="en-US" altLang="zh-CN" sz="1100">
                <a:solidFill>
                  <a:srgbClr val="DCEC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DCEC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 </a:t>
            </a:r>
            <a:r>
              <a:rPr lang="en-US" altLang="zh-CN" sz="1100">
                <a:solidFill>
                  <a:srgbClr val="DCEC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DCEC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态势 </a:t>
            </a:r>
            <a:r>
              <a:rPr lang="en-US" altLang="zh-CN" sz="1100">
                <a:solidFill>
                  <a:srgbClr val="DCEC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DCEC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审计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6D38DC8-68B7-48D2-B61E-FB4EA41D9E9C}"/>
              </a:ext>
            </a:extLst>
          </p:cNvPr>
          <p:cNvSpPr/>
          <p:nvPr/>
        </p:nvSpPr>
        <p:spPr>
          <a:xfrm>
            <a:off x="762000" y="1333500"/>
            <a:ext cx="24130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222C98A-0383-47B9-A0E5-3122E6DB42B5}"/>
              </a:ext>
            </a:extLst>
          </p:cNvPr>
          <p:cNvSpPr txBox="1"/>
          <p:nvPr/>
        </p:nvSpPr>
        <p:spPr>
          <a:xfrm>
            <a:off x="939800" y="1460500"/>
            <a:ext cx="2057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视频监控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C937BD6-A52B-41E1-BCA3-15198F1A91AC}"/>
              </a:ext>
            </a:extLst>
          </p:cNvPr>
          <p:cNvSpPr txBox="1"/>
          <p:nvPr/>
        </p:nvSpPr>
        <p:spPr>
          <a:xfrm>
            <a:off x="889000" y="1790700"/>
            <a:ext cx="215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实时调阅 </a:t>
            </a:r>
            <a:r>
              <a:rPr lang="en-US" altLang="zh-CN" sz="10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0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回放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2BF09DA-9851-4871-8112-F3A52FA9C182}"/>
              </a:ext>
            </a:extLst>
          </p:cNvPr>
          <p:cNvCxnSpPr/>
          <p:nvPr/>
        </p:nvCxnSpPr>
        <p:spPr>
          <a:xfrm>
            <a:off x="3175000" y="1752600"/>
            <a:ext cx="1460500" cy="1447800"/>
          </a:xfrm>
          <a:prstGeom prst="line">
            <a:avLst/>
          </a:prstGeom>
          <a:ln w="12700">
            <a:solidFill>
              <a:srgbClr val="5E718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24803DF-B6E6-41C9-B37A-6476ED9BACDD}"/>
              </a:ext>
            </a:extLst>
          </p:cNvPr>
          <p:cNvSpPr/>
          <p:nvPr/>
        </p:nvSpPr>
        <p:spPr>
          <a:xfrm>
            <a:off x="762000" y="2603500"/>
            <a:ext cx="24130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7F3FDFA-4310-4CBE-A8E3-FA35A97D6987}"/>
              </a:ext>
            </a:extLst>
          </p:cNvPr>
          <p:cNvSpPr txBox="1"/>
          <p:nvPr/>
        </p:nvSpPr>
        <p:spPr>
          <a:xfrm>
            <a:off x="939800" y="2730500"/>
            <a:ext cx="2057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信息发布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498FD94-06DA-400D-AFC0-7368A53A0411}"/>
              </a:ext>
            </a:extLst>
          </p:cNvPr>
          <p:cNvSpPr txBox="1"/>
          <p:nvPr/>
        </p:nvSpPr>
        <p:spPr>
          <a:xfrm>
            <a:off x="889000" y="3060700"/>
            <a:ext cx="215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发布指令 </a:t>
            </a:r>
            <a:r>
              <a:rPr lang="en-US" altLang="zh-CN" sz="10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0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742B4F5F-6A4A-46D4-8F70-CF28C613658B}"/>
              </a:ext>
            </a:extLst>
          </p:cNvPr>
          <p:cNvCxnSpPr/>
          <p:nvPr/>
        </p:nvCxnSpPr>
        <p:spPr>
          <a:xfrm>
            <a:off x="3175000" y="3022600"/>
            <a:ext cx="1460500" cy="177800"/>
          </a:xfrm>
          <a:prstGeom prst="line">
            <a:avLst/>
          </a:prstGeom>
          <a:ln w="12700">
            <a:solidFill>
              <a:srgbClr val="5E718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392EC92-143F-40CC-9F14-0F449BE3FCEE}"/>
              </a:ext>
            </a:extLst>
          </p:cNvPr>
          <p:cNvSpPr/>
          <p:nvPr/>
        </p:nvSpPr>
        <p:spPr>
          <a:xfrm>
            <a:off x="762000" y="3873500"/>
            <a:ext cx="24130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FE99617-5EB1-4DF2-8A52-6F352403D34A}"/>
              </a:ext>
            </a:extLst>
          </p:cNvPr>
          <p:cNvSpPr txBox="1"/>
          <p:nvPr/>
        </p:nvSpPr>
        <p:spPr>
          <a:xfrm>
            <a:off x="939800" y="4000500"/>
            <a:ext cx="2057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入侵 </a:t>
            </a:r>
            <a:r>
              <a:rPr lang="en-US" altLang="zh-CN" sz="14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4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消防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BF34EBE-36B5-402E-8407-5D747D092318}"/>
              </a:ext>
            </a:extLst>
          </p:cNvPr>
          <p:cNvSpPr txBox="1"/>
          <p:nvPr/>
        </p:nvSpPr>
        <p:spPr>
          <a:xfrm>
            <a:off x="889000" y="4330700"/>
            <a:ext cx="215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告警 → 事件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E2AE11E5-2A09-469E-9F8C-C01992B37F1B}"/>
              </a:ext>
            </a:extLst>
          </p:cNvPr>
          <p:cNvCxnSpPr/>
          <p:nvPr/>
        </p:nvCxnSpPr>
        <p:spPr>
          <a:xfrm flipV="1">
            <a:off x="3175000" y="3200400"/>
            <a:ext cx="1460500" cy="1092200"/>
          </a:xfrm>
          <a:prstGeom prst="line">
            <a:avLst/>
          </a:prstGeom>
          <a:ln w="12700">
            <a:solidFill>
              <a:srgbClr val="5E718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D62ABC3E-B187-4E53-9EFC-567AFD653A82}"/>
              </a:ext>
            </a:extLst>
          </p:cNvPr>
          <p:cNvSpPr/>
          <p:nvPr/>
        </p:nvSpPr>
        <p:spPr>
          <a:xfrm>
            <a:off x="762000" y="5143500"/>
            <a:ext cx="24130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169D8F7-BC54-45A9-B469-6A0598775978}"/>
              </a:ext>
            </a:extLst>
          </p:cNvPr>
          <p:cNvSpPr txBox="1"/>
          <p:nvPr/>
        </p:nvSpPr>
        <p:spPr>
          <a:xfrm>
            <a:off x="939800" y="5270500"/>
            <a:ext cx="2057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IoT / </a:t>
            </a:r>
            <a:r>
              <a:rPr lang="zh-CN" altLang="en-US" sz="14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客流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F1FCC74-8D12-409E-ABBE-4C0D0BF979F9}"/>
              </a:ext>
            </a:extLst>
          </p:cNvPr>
          <p:cNvSpPr txBox="1"/>
          <p:nvPr/>
        </p:nvSpPr>
        <p:spPr>
          <a:xfrm>
            <a:off x="889000" y="5600700"/>
            <a:ext cx="215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监测 </a:t>
            </a:r>
            <a:r>
              <a:rPr lang="en-US" altLang="zh-CN" sz="10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0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补传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C62008F5-34DB-46B5-B821-D730D648AE1A}"/>
              </a:ext>
            </a:extLst>
          </p:cNvPr>
          <p:cNvCxnSpPr/>
          <p:nvPr/>
        </p:nvCxnSpPr>
        <p:spPr>
          <a:xfrm flipV="1">
            <a:off x="3175000" y="3200400"/>
            <a:ext cx="1460500" cy="2362200"/>
          </a:xfrm>
          <a:prstGeom prst="line">
            <a:avLst/>
          </a:prstGeom>
          <a:ln w="12700">
            <a:solidFill>
              <a:srgbClr val="5E718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B804C657-A379-45D4-B451-E443F279990F}"/>
              </a:ext>
            </a:extLst>
          </p:cNvPr>
          <p:cNvSpPr/>
          <p:nvPr/>
        </p:nvSpPr>
        <p:spPr>
          <a:xfrm>
            <a:off x="9017000" y="1333500"/>
            <a:ext cx="24130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9F1BA5E-B368-40F3-87C7-8DAE47293B53}"/>
              </a:ext>
            </a:extLst>
          </p:cNvPr>
          <p:cNvSpPr txBox="1"/>
          <p:nvPr/>
        </p:nvSpPr>
        <p:spPr>
          <a:xfrm>
            <a:off x="9194800" y="1460500"/>
            <a:ext cx="2057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门禁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8B0C7E0-2B56-4872-B60F-E2D8DBDFEFFA}"/>
              </a:ext>
            </a:extLst>
          </p:cNvPr>
          <p:cNvSpPr txBox="1"/>
          <p:nvPr/>
        </p:nvSpPr>
        <p:spPr>
          <a:xfrm>
            <a:off x="9144000" y="1790700"/>
            <a:ext cx="215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授权开启 </a:t>
            </a:r>
            <a:r>
              <a:rPr lang="en-US" altLang="zh-CN" sz="10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0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联锁 </a:t>
            </a:r>
            <a:r>
              <a:rPr lang="en-US" altLang="zh-CN" sz="10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0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回执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A39EF182-B05F-4E97-BE0A-B056115BD266}"/>
              </a:ext>
            </a:extLst>
          </p:cNvPr>
          <p:cNvCxnSpPr/>
          <p:nvPr/>
        </p:nvCxnSpPr>
        <p:spPr>
          <a:xfrm flipH="1">
            <a:off x="7556500" y="1752600"/>
            <a:ext cx="1460500" cy="1447800"/>
          </a:xfrm>
          <a:prstGeom prst="line">
            <a:avLst/>
          </a:prstGeom>
          <a:ln w="12700">
            <a:solidFill>
              <a:srgbClr val="5E718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077B7C0D-614C-498E-A655-DB8A49D7FE14}"/>
              </a:ext>
            </a:extLst>
          </p:cNvPr>
          <p:cNvSpPr/>
          <p:nvPr/>
        </p:nvSpPr>
        <p:spPr>
          <a:xfrm>
            <a:off x="9017000" y="2603500"/>
            <a:ext cx="24130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7C574CA-8002-4278-B818-53DF4731D48C}"/>
              </a:ext>
            </a:extLst>
          </p:cNvPr>
          <p:cNvSpPr txBox="1"/>
          <p:nvPr/>
        </p:nvSpPr>
        <p:spPr>
          <a:xfrm>
            <a:off x="9194800" y="2730500"/>
            <a:ext cx="2057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统一消息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98152ED-F80B-4ECF-8652-376ABC679BB4}"/>
              </a:ext>
            </a:extLst>
          </p:cNvPr>
          <p:cNvSpPr txBox="1"/>
          <p:nvPr/>
        </p:nvSpPr>
        <p:spPr>
          <a:xfrm>
            <a:off x="9144000" y="3060700"/>
            <a:ext cx="215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通知 </a:t>
            </a:r>
            <a:r>
              <a:rPr lang="en-US" altLang="zh-CN" sz="10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0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缺卡 </a:t>
            </a:r>
            <a:r>
              <a:rPr lang="en-US" altLang="zh-CN" sz="10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0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回执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FABB179F-1945-4627-8555-4DC0DDE81B06}"/>
              </a:ext>
            </a:extLst>
          </p:cNvPr>
          <p:cNvCxnSpPr/>
          <p:nvPr/>
        </p:nvCxnSpPr>
        <p:spPr>
          <a:xfrm flipH="1">
            <a:off x="7556500" y="3022600"/>
            <a:ext cx="1460500" cy="177800"/>
          </a:xfrm>
          <a:prstGeom prst="line">
            <a:avLst/>
          </a:prstGeom>
          <a:ln w="12700">
            <a:solidFill>
              <a:srgbClr val="5E718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E62C190A-3C80-44C3-A5BE-F6966C759C72}"/>
              </a:ext>
            </a:extLst>
          </p:cNvPr>
          <p:cNvSpPr/>
          <p:nvPr/>
        </p:nvSpPr>
        <p:spPr>
          <a:xfrm>
            <a:off x="9017000" y="3873500"/>
            <a:ext cx="24130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CE1DC0A-7CC0-4BFC-BE7F-0AA41738DA19}"/>
              </a:ext>
            </a:extLst>
          </p:cNvPr>
          <p:cNvSpPr txBox="1"/>
          <p:nvPr/>
        </p:nvSpPr>
        <p:spPr>
          <a:xfrm>
            <a:off x="9194800" y="4000500"/>
            <a:ext cx="2057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统一中台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4088C8B-D702-4EC4-BE75-217610573EC5}"/>
              </a:ext>
            </a:extLst>
          </p:cNvPr>
          <p:cNvSpPr txBox="1"/>
          <p:nvPr/>
        </p:nvSpPr>
        <p:spPr>
          <a:xfrm>
            <a:off x="9144000" y="4330700"/>
            <a:ext cx="215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身份 </a:t>
            </a:r>
            <a:r>
              <a:rPr lang="en-US" altLang="zh-CN" sz="10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0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组织 </a:t>
            </a:r>
            <a:r>
              <a:rPr lang="en-US" altLang="zh-CN" sz="10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0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 </a:t>
            </a:r>
            <a:r>
              <a:rPr lang="en-US" altLang="zh-CN" sz="10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0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D73D3CDC-8864-476B-9DB2-82EE0AE6FEAF}"/>
              </a:ext>
            </a:extLst>
          </p:cNvPr>
          <p:cNvCxnSpPr/>
          <p:nvPr/>
        </p:nvCxnSpPr>
        <p:spPr>
          <a:xfrm flipH="1" flipV="1">
            <a:off x="7556500" y="3200400"/>
            <a:ext cx="1460500" cy="1092200"/>
          </a:xfrm>
          <a:prstGeom prst="line">
            <a:avLst/>
          </a:prstGeom>
          <a:ln w="12700">
            <a:solidFill>
              <a:srgbClr val="5E718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AB25D1FE-989E-4212-A12E-FAAE4ED8707F}"/>
              </a:ext>
            </a:extLst>
          </p:cNvPr>
          <p:cNvSpPr/>
          <p:nvPr/>
        </p:nvSpPr>
        <p:spPr>
          <a:xfrm>
            <a:off x="9017000" y="5143500"/>
            <a:ext cx="2413000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0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0AF517C-E0EB-4CD9-898B-7157B6AB3ED3}"/>
              </a:ext>
            </a:extLst>
          </p:cNvPr>
          <p:cNvSpPr txBox="1"/>
          <p:nvPr/>
        </p:nvSpPr>
        <p:spPr>
          <a:xfrm>
            <a:off x="9194800" y="5270500"/>
            <a:ext cx="2057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4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GIS / </a:t>
            </a:r>
            <a:r>
              <a:rPr lang="zh-CN" altLang="en-US" sz="14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20D0894-752B-4F2A-ACD9-004034B3067C}"/>
              </a:ext>
            </a:extLst>
          </p:cNvPr>
          <p:cNvSpPr txBox="1"/>
          <p:nvPr/>
        </p:nvSpPr>
        <p:spPr>
          <a:xfrm>
            <a:off x="9144000" y="5600700"/>
            <a:ext cx="215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地图 </a:t>
            </a:r>
            <a:r>
              <a:rPr lang="en-US" altLang="zh-CN" sz="10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0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楼层 </a:t>
            </a:r>
            <a:r>
              <a:rPr lang="en-US" altLang="zh-CN" sz="10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0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位置</a:t>
            </a: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BBAE5634-EA50-44AC-AB80-B30128F2042E}"/>
              </a:ext>
            </a:extLst>
          </p:cNvPr>
          <p:cNvCxnSpPr/>
          <p:nvPr/>
        </p:nvCxnSpPr>
        <p:spPr>
          <a:xfrm flipH="1" flipV="1">
            <a:off x="7556500" y="3200400"/>
            <a:ext cx="1460500" cy="2362200"/>
          </a:xfrm>
          <a:prstGeom prst="line">
            <a:avLst/>
          </a:prstGeom>
          <a:ln w="12700">
            <a:solidFill>
              <a:srgbClr val="5E718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DD8A43A8-3EFE-450B-8ED9-7C461D102F28}"/>
              </a:ext>
            </a:extLst>
          </p:cNvPr>
          <p:cNvSpPr/>
          <p:nvPr/>
        </p:nvSpPr>
        <p:spPr>
          <a:xfrm>
            <a:off x="4000500" y="4445000"/>
            <a:ext cx="889000" cy="292100"/>
          </a:xfrm>
          <a:prstGeom prst="roundRect">
            <a:avLst/>
          </a:prstGeom>
          <a:solidFill>
            <a:srgbClr val="DCECF6"/>
          </a:solidFill>
          <a:ln w="12700">
            <a:solidFill>
              <a:srgbClr val="DCEC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3F5EB847-A846-4B89-B7C3-97FE02A1EAC5}"/>
              </a:ext>
            </a:extLst>
          </p:cNvPr>
          <p:cNvSpPr txBox="1"/>
          <p:nvPr/>
        </p:nvSpPr>
        <p:spPr>
          <a:xfrm>
            <a:off x="4089400" y="4495800"/>
            <a:ext cx="711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2468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正常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ACFF7DB0-614D-4E3B-9139-C60723C033A1}"/>
              </a:ext>
            </a:extLst>
          </p:cNvPr>
          <p:cNvSpPr/>
          <p:nvPr/>
        </p:nvSpPr>
        <p:spPr>
          <a:xfrm>
            <a:off x="5016500" y="4445000"/>
            <a:ext cx="889000" cy="2921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990FB120-F7BD-404D-95CE-1ECB8A4DC398}"/>
              </a:ext>
            </a:extLst>
          </p:cNvPr>
          <p:cNvSpPr txBox="1"/>
          <p:nvPr/>
        </p:nvSpPr>
        <p:spPr>
          <a:xfrm>
            <a:off x="5105400" y="4495800"/>
            <a:ext cx="711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E89A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超时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507A3C6F-931D-437F-9B7C-A984C43DB1EE}"/>
              </a:ext>
            </a:extLst>
          </p:cNvPr>
          <p:cNvSpPr/>
          <p:nvPr/>
        </p:nvSpPr>
        <p:spPr>
          <a:xfrm>
            <a:off x="6032500" y="4445000"/>
            <a:ext cx="889000" cy="2921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B94643A4-5A5E-47A5-83F3-5D41F156F53A}"/>
              </a:ext>
            </a:extLst>
          </p:cNvPr>
          <p:cNvSpPr txBox="1"/>
          <p:nvPr/>
        </p:nvSpPr>
        <p:spPr>
          <a:xfrm>
            <a:off x="6121400" y="4495800"/>
            <a:ext cx="711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C94A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失败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84AF655C-EDA7-40C9-92F6-FA8000EA67F3}"/>
              </a:ext>
            </a:extLst>
          </p:cNvPr>
          <p:cNvSpPr/>
          <p:nvPr/>
        </p:nvSpPr>
        <p:spPr>
          <a:xfrm>
            <a:off x="7048500" y="4445000"/>
            <a:ext cx="1143000" cy="2921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5BE14E3-A143-464A-B8B0-D9BBBFEA8684}"/>
              </a:ext>
            </a:extLst>
          </p:cNvPr>
          <p:cNvSpPr txBox="1"/>
          <p:nvPr/>
        </p:nvSpPr>
        <p:spPr>
          <a:xfrm>
            <a:off x="7137400" y="4495800"/>
            <a:ext cx="965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人工处置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AEED0C2-B503-4AC7-8E0D-337A1BD9FB8B}"/>
              </a:ext>
            </a:extLst>
          </p:cNvPr>
          <p:cNvSpPr txBox="1"/>
          <p:nvPr/>
        </p:nvSpPr>
        <p:spPr>
          <a:xfrm>
            <a:off x="4254500" y="5143500"/>
            <a:ext cx="3683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C94A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控制指令结果未知时禁止自动重放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7345E7D6-A168-41B5-BC74-B027E0C3E5F1}"/>
              </a:ext>
            </a:extLst>
          </p:cNvPr>
          <p:cNvSpPr txBox="1"/>
          <p:nvPr/>
        </p:nvSpPr>
        <p:spPr>
          <a:xfrm>
            <a:off x="3492500" y="5689600"/>
            <a:ext cx="5207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1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课程项目以 </a:t>
            </a:r>
            <a:r>
              <a:rPr lang="en-US" altLang="zh-CN" sz="11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simulated-integrations </a:t>
            </a:r>
            <a:r>
              <a:rPr lang="zh-CN" altLang="en-US" sz="11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验证正常、无权、超时和失败语义；真实现场联调仍需甲方接口、账号与环境。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0B0CC67A-2C02-4B45-912A-1EB1BEB71557}"/>
              </a:ext>
            </a:extLst>
          </p:cNvPr>
          <p:cNvSpPr txBox="1"/>
          <p:nvPr/>
        </p:nvSpPr>
        <p:spPr>
          <a:xfrm>
            <a:off x="482600" y="64770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某自然博物馆智能运营中心 </a:t>
            </a:r>
            <a:r>
              <a:rPr lang="en-US" altLang="zh-CN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应急管理子系统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BDC1B9B4-433E-4CA4-BCC8-6BB3DE5F2CFF}"/>
              </a:ext>
            </a:extLst>
          </p:cNvPr>
          <p:cNvSpPr txBox="1"/>
          <p:nvPr/>
        </p:nvSpPr>
        <p:spPr>
          <a:xfrm>
            <a:off x="11176000" y="6477000"/>
            <a:ext cx="533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endParaRPr lang="zh-CN" altLang="en-US" sz="900" b="1">
              <a:solidFill>
                <a:srgbClr val="5E718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732900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B725F10-39D3-4196-8CBB-92AB956A6A43}"/>
              </a:ext>
            </a:extLst>
          </p:cNvPr>
          <p:cNvSpPr txBox="1"/>
          <p:nvPr/>
        </p:nvSpPr>
        <p:spPr>
          <a:xfrm>
            <a:off x="482600" y="317500"/>
            <a:ext cx="609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E89A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lang="zh-CN" altLang="en-US" sz="1300" b="1">
              <a:solidFill>
                <a:srgbClr val="E89A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7679136-2CBE-4DB7-B2D1-C05E505A37DB}"/>
              </a:ext>
            </a:extLst>
          </p:cNvPr>
          <p:cNvSpPr txBox="1"/>
          <p:nvPr/>
        </p:nvSpPr>
        <p:spPr>
          <a:xfrm>
            <a:off x="1117600" y="254000"/>
            <a:ext cx="10033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6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统计、知识与基础配置支撑复盘和日常运营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3F690DB-B094-4558-B887-C4195BB0E124}"/>
              </a:ext>
            </a:extLst>
          </p:cNvPr>
          <p:cNvSpPr txBox="1"/>
          <p:nvPr/>
        </p:nvSpPr>
        <p:spPr>
          <a:xfrm>
            <a:off x="9931400" y="368300"/>
            <a:ext cx="1714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zh-CN" altLang="en-US" sz="11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系统完成情况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DE295B7-F1AE-4B27-8743-8E8644AE9A8D}"/>
              </a:ext>
            </a:extLst>
          </p:cNvPr>
          <p:cNvCxnSpPr/>
          <p:nvPr/>
        </p:nvCxnSpPr>
        <p:spPr>
          <a:xfrm>
            <a:off x="482600" y="889000"/>
            <a:ext cx="11226800" cy="0"/>
          </a:xfrm>
          <a:prstGeom prst="line">
            <a:avLst/>
          </a:prstGeom>
          <a:ln w="12700">
            <a:solidFill>
              <a:srgbClr val="D4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FDCCF070-494A-4FF1-9439-408534A179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2067" y="2061104"/>
            <a:ext cx="2446867" cy="1529292"/>
          </a:xfrm>
          <a:prstGeom prst="rect">
            <a:avLst/>
          </a:prstGeom>
          <a:ln w="12700">
            <a:solidFill>
              <a:srgbClr val="D4E0E7"/>
            </a:solidFill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B36E1FF-837D-4B84-9978-7FA58E88CF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2219" y="2490887"/>
            <a:ext cx="1071563" cy="669727"/>
          </a:xfrm>
          <a:prstGeom prst="rect">
            <a:avLst/>
          </a:prstGeom>
          <a:ln w="12700">
            <a:solidFill>
              <a:srgbClr val="D4E0E7"/>
            </a:solidFill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C9DFD34-F458-4ED8-8682-AB861880D9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9833" y="2148417"/>
            <a:ext cx="677334" cy="1354667"/>
          </a:xfrm>
          <a:prstGeom prst="rect">
            <a:avLst/>
          </a:prstGeom>
          <a:ln w="12700">
            <a:solidFill>
              <a:srgbClr val="D4E0E7"/>
            </a:solidFill>
          </a:ln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8D3053C-130E-41C1-861D-B4CA624B53E6}"/>
              </a:ext>
            </a:extLst>
          </p:cNvPr>
          <p:cNvSpPr txBox="1"/>
          <p:nvPr/>
        </p:nvSpPr>
        <p:spPr>
          <a:xfrm>
            <a:off x="698500" y="4826000"/>
            <a:ext cx="279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2468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统计分析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4DE789D-0689-4DE7-88AB-DBB5F19A380F}"/>
              </a:ext>
            </a:extLst>
          </p:cNvPr>
          <p:cNvSpPr txBox="1"/>
          <p:nvPr/>
        </p:nvSpPr>
        <p:spPr>
          <a:xfrm>
            <a:off x="698500" y="5207000"/>
            <a:ext cx="3365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事件与状态、处置效率、任务、安防、打卡、演练；筛选、钻取与年度报表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856A028-1F1D-423B-8C23-D9D38A2FF969}"/>
              </a:ext>
            </a:extLst>
          </p:cNvPr>
          <p:cNvSpPr txBox="1"/>
          <p:nvPr/>
        </p:nvSpPr>
        <p:spPr>
          <a:xfrm>
            <a:off x="4508500" y="4826000"/>
            <a:ext cx="279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2A879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知识沉淀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0335F06-22B7-4770-94C0-EBB224D1902C}"/>
              </a:ext>
            </a:extLst>
          </p:cNvPr>
          <p:cNvSpPr txBox="1"/>
          <p:nvPr/>
        </p:nvSpPr>
        <p:spPr>
          <a:xfrm>
            <a:off x="4508500" y="5207000"/>
            <a:ext cx="3365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关闭事件与完成演练形成知识条目；分类、关键字和 </a:t>
            </a:r>
            <a:r>
              <a:rPr lang="en-US" altLang="zh-CN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H5 </a:t>
            </a:r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权限检索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3598482-D10B-48DA-A963-B50EC77E0DFA}"/>
              </a:ext>
            </a:extLst>
          </p:cNvPr>
          <p:cNvSpPr txBox="1"/>
          <p:nvPr/>
        </p:nvSpPr>
        <p:spPr>
          <a:xfrm>
            <a:off x="8318500" y="4826000"/>
            <a:ext cx="279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E89A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基础配置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3174512-3B07-4A7B-9A62-09C7C32082FE}"/>
              </a:ext>
            </a:extLst>
          </p:cNvPr>
          <p:cNvSpPr txBox="1"/>
          <p:nvPr/>
        </p:nvSpPr>
        <p:spPr>
          <a:xfrm>
            <a:off x="8318500" y="5207000"/>
            <a:ext cx="3365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预案类型、事件类型、物资站点、评估模板、核实审批配置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DC46DBA-E9C4-4658-8D41-05479255FD04}"/>
              </a:ext>
            </a:extLst>
          </p:cNvPr>
          <p:cNvSpPr txBox="1"/>
          <p:nvPr/>
        </p:nvSpPr>
        <p:spPr>
          <a:xfrm>
            <a:off x="482600" y="64770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某自然博物馆智能运营中心 </a:t>
            </a:r>
            <a:r>
              <a:rPr lang="en-US" altLang="zh-CN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应急管理子系统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D19B191-0E7A-4CB5-89CF-06F7A37547C3}"/>
              </a:ext>
            </a:extLst>
          </p:cNvPr>
          <p:cNvSpPr txBox="1"/>
          <p:nvPr/>
        </p:nvSpPr>
        <p:spPr>
          <a:xfrm>
            <a:off x="11176000" y="6477000"/>
            <a:ext cx="533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lang="zh-CN" altLang="en-US" sz="900" b="1">
              <a:solidFill>
                <a:srgbClr val="5E718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90672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2CF0FDB-DF59-4FAE-8CA5-7AD12FB68772}"/>
              </a:ext>
            </a:extLst>
          </p:cNvPr>
          <p:cNvSpPr txBox="1"/>
          <p:nvPr/>
        </p:nvSpPr>
        <p:spPr>
          <a:xfrm>
            <a:off x="482600" y="317500"/>
            <a:ext cx="609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E89A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r>
            <a:endParaRPr lang="zh-CN" altLang="en-US" sz="1300" b="1">
              <a:solidFill>
                <a:srgbClr val="E89A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7776851-307D-4A59-A8ED-9FCBB7C163D1}"/>
              </a:ext>
            </a:extLst>
          </p:cNvPr>
          <p:cNvSpPr txBox="1"/>
          <p:nvPr/>
        </p:nvSpPr>
        <p:spPr>
          <a:xfrm>
            <a:off x="1117600" y="254000"/>
            <a:ext cx="10033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6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模块化单体与契约优先支撑可追踪、可测试的研发交付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501FD31-02D2-4D98-B72D-8019ED178508}"/>
              </a:ext>
            </a:extLst>
          </p:cNvPr>
          <p:cNvSpPr txBox="1"/>
          <p:nvPr/>
        </p:nvSpPr>
        <p:spPr>
          <a:xfrm>
            <a:off x="9931400" y="368300"/>
            <a:ext cx="1714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zh-CN" altLang="en-US" sz="11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研发技术总结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10C4CF0-40B0-4156-9923-E80B896FBEB7}"/>
              </a:ext>
            </a:extLst>
          </p:cNvPr>
          <p:cNvCxnSpPr/>
          <p:nvPr/>
        </p:nvCxnSpPr>
        <p:spPr>
          <a:xfrm>
            <a:off x="482600" y="889000"/>
            <a:ext cx="11226800" cy="0"/>
          </a:xfrm>
          <a:prstGeom prst="line">
            <a:avLst/>
          </a:prstGeom>
          <a:ln w="12700">
            <a:solidFill>
              <a:srgbClr val="D4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1ED3A6B-8F3C-4784-B13C-731146760222}"/>
              </a:ext>
            </a:extLst>
          </p:cNvPr>
          <p:cNvSpPr/>
          <p:nvPr/>
        </p:nvSpPr>
        <p:spPr>
          <a:xfrm>
            <a:off x="698500" y="1206500"/>
            <a:ext cx="514350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68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F47B495-6FC1-429C-9FD4-3663011D4E22}"/>
              </a:ext>
            </a:extLst>
          </p:cNvPr>
          <p:cNvSpPr txBox="1"/>
          <p:nvPr/>
        </p:nvSpPr>
        <p:spPr>
          <a:xfrm>
            <a:off x="927100" y="1384300"/>
            <a:ext cx="1206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2468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7407924-79C6-4964-93AD-67E67E299883}"/>
              </a:ext>
            </a:extLst>
          </p:cNvPr>
          <p:cNvSpPr txBox="1"/>
          <p:nvPr/>
        </p:nvSpPr>
        <p:spPr>
          <a:xfrm>
            <a:off x="2197100" y="1358900"/>
            <a:ext cx="3365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 3 · Web / H5 </a:t>
            </a:r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共用路由与类型化 </a:t>
            </a:r>
            <a:r>
              <a:rPr lang="en-US" altLang="zh-CN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 Client</a:t>
            </a:r>
            <a:endParaRPr lang="zh-CN" altLang="en-US" sz="1200">
              <a:solidFill>
                <a:srgbClr val="1732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69338B94-DCA1-4961-A59D-359D5E249618}"/>
              </a:ext>
            </a:extLst>
          </p:cNvPr>
          <p:cNvSpPr/>
          <p:nvPr/>
        </p:nvSpPr>
        <p:spPr>
          <a:xfrm>
            <a:off x="6286500" y="1206500"/>
            <a:ext cx="514350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87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5A8AB39-9927-4A45-BCCA-CEC64DB6778F}"/>
              </a:ext>
            </a:extLst>
          </p:cNvPr>
          <p:cNvSpPr txBox="1"/>
          <p:nvPr/>
        </p:nvSpPr>
        <p:spPr>
          <a:xfrm>
            <a:off x="6515100" y="1384300"/>
            <a:ext cx="1206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2A879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后端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730033E-E703-417E-9424-132861B9E09D}"/>
              </a:ext>
            </a:extLst>
          </p:cNvPr>
          <p:cNvSpPr txBox="1"/>
          <p:nvPr/>
        </p:nvSpPr>
        <p:spPr>
          <a:xfrm>
            <a:off x="7785100" y="1358900"/>
            <a:ext cx="3365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Node.js </a:t>
            </a:r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模块化单体 </a:t>
            </a:r>
            <a:r>
              <a:rPr lang="en-US" altLang="zh-CN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领域模块与端口适配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5936DC9-E864-4F6F-A211-D2793F7B9E30}"/>
              </a:ext>
            </a:extLst>
          </p:cNvPr>
          <p:cNvSpPr/>
          <p:nvPr/>
        </p:nvSpPr>
        <p:spPr>
          <a:xfrm>
            <a:off x="698500" y="2476500"/>
            <a:ext cx="514350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30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C920305-F2F5-4836-B56B-DE8F837CE788}"/>
              </a:ext>
            </a:extLst>
          </p:cNvPr>
          <p:cNvSpPr txBox="1"/>
          <p:nvPr/>
        </p:nvSpPr>
        <p:spPr>
          <a:xfrm>
            <a:off x="927100" y="2654300"/>
            <a:ext cx="1206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A7A8F8F-6A7B-4CAF-97B4-AE9D71D393A6}"/>
              </a:ext>
            </a:extLst>
          </p:cNvPr>
          <p:cNvSpPr txBox="1"/>
          <p:nvPr/>
        </p:nvSpPr>
        <p:spPr>
          <a:xfrm>
            <a:off x="2197100" y="2628900"/>
            <a:ext cx="3365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PostgreSQL · </a:t>
            </a:r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领域数据单一写入主责 </a:t>
            </a:r>
            <a:r>
              <a:rPr lang="en-US" altLang="zh-CN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成对迁移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4E6603B-13B9-4E3B-A4FA-8A1548037354}"/>
              </a:ext>
            </a:extLst>
          </p:cNvPr>
          <p:cNvSpPr/>
          <p:nvPr/>
        </p:nvSpPr>
        <p:spPr>
          <a:xfrm>
            <a:off x="6286500" y="2476500"/>
            <a:ext cx="514350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9A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84CAE3D-4DB5-4FDE-840C-03052339CAF6}"/>
              </a:ext>
            </a:extLst>
          </p:cNvPr>
          <p:cNvSpPr txBox="1"/>
          <p:nvPr/>
        </p:nvSpPr>
        <p:spPr>
          <a:xfrm>
            <a:off x="6515100" y="2654300"/>
            <a:ext cx="1206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E89A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CCFA819-FC5C-4233-9987-386ED696AF30}"/>
              </a:ext>
            </a:extLst>
          </p:cNvPr>
          <p:cNvSpPr txBox="1"/>
          <p:nvPr/>
        </p:nvSpPr>
        <p:spPr>
          <a:xfrm>
            <a:off x="7785100" y="2628900"/>
            <a:ext cx="3365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OpenAPI 3.0 · Adapter · </a:t>
            </a:r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稳定错误码与资源版本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DF6B058-5387-4445-A473-1AC01F0186EB}"/>
              </a:ext>
            </a:extLst>
          </p:cNvPr>
          <p:cNvSpPr/>
          <p:nvPr/>
        </p:nvSpPr>
        <p:spPr>
          <a:xfrm>
            <a:off x="698500" y="3746500"/>
            <a:ext cx="514350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87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B7E3B38-F1BB-4069-85D4-30A4511A7C06}"/>
              </a:ext>
            </a:extLst>
          </p:cNvPr>
          <p:cNvSpPr txBox="1"/>
          <p:nvPr/>
        </p:nvSpPr>
        <p:spPr>
          <a:xfrm>
            <a:off x="927100" y="3924300"/>
            <a:ext cx="1206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2A879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一致性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D10D777-4F33-4166-B93B-546AB1787A3E}"/>
              </a:ext>
            </a:extLst>
          </p:cNvPr>
          <p:cNvSpPr txBox="1"/>
          <p:nvPr/>
        </p:nvSpPr>
        <p:spPr>
          <a:xfrm>
            <a:off x="2197100" y="3898900"/>
            <a:ext cx="3365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事务 </a:t>
            </a:r>
            <a:r>
              <a:rPr lang="en-US" altLang="zh-CN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Outbox · </a:t>
            </a:r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幂等键 </a:t>
            </a:r>
            <a:r>
              <a:rPr lang="en-US" altLang="zh-CN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外部失败不回滚业务事实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27B6DC1-2D40-43B6-914C-2CC49FBD9396}"/>
              </a:ext>
            </a:extLst>
          </p:cNvPr>
          <p:cNvSpPr/>
          <p:nvPr/>
        </p:nvSpPr>
        <p:spPr>
          <a:xfrm>
            <a:off x="6286500" y="3746500"/>
            <a:ext cx="514350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68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7F39EE5-E5EF-4FB1-B16F-9F9480A8DB68}"/>
              </a:ext>
            </a:extLst>
          </p:cNvPr>
          <p:cNvSpPr txBox="1"/>
          <p:nvPr/>
        </p:nvSpPr>
        <p:spPr>
          <a:xfrm>
            <a:off x="6515100" y="3924300"/>
            <a:ext cx="1206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2468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安全与工程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36C675E-BFE2-4C04-AF6C-6CC0632D6CDD}"/>
              </a:ext>
            </a:extLst>
          </p:cNvPr>
          <p:cNvSpPr txBox="1"/>
          <p:nvPr/>
        </p:nvSpPr>
        <p:spPr>
          <a:xfrm>
            <a:off x="7785100" y="3898900"/>
            <a:ext cx="3365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鉴权、权限、审计、</a:t>
            </a:r>
            <a:r>
              <a:rPr lang="en-US" altLang="zh-CN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traceId · Git / PR Review / </a:t>
            </a:r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本地质量门禁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41FDFFCA-4701-4073-A08B-9AB038C9F4C3}"/>
              </a:ext>
            </a:extLst>
          </p:cNvPr>
          <p:cNvSpPr/>
          <p:nvPr/>
        </p:nvSpPr>
        <p:spPr>
          <a:xfrm>
            <a:off x="698500" y="5270500"/>
            <a:ext cx="10731500" cy="8128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FEA4723-3461-4A6E-9EE0-EB2B9E3F79B1}"/>
              </a:ext>
            </a:extLst>
          </p:cNvPr>
          <p:cNvSpPr txBox="1"/>
          <p:nvPr/>
        </p:nvSpPr>
        <p:spPr>
          <a:xfrm>
            <a:off x="914400" y="5435600"/>
            <a:ext cx="152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E89A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当前研发证据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0A53090-3338-43F2-B79D-A379EC7B7997}"/>
              </a:ext>
            </a:extLst>
          </p:cNvPr>
          <p:cNvSpPr txBox="1"/>
          <p:nvPr/>
        </p:nvSpPr>
        <p:spPr>
          <a:xfrm>
            <a:off x="2476500" y="5397500"/>
            <a:ext cx="8699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Sprint 1 </a:t>
            </a:r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核心事件闭环已通过契约、集成、</a:t>
            </a:r>
            <a:r>
              <a:rPr lang="en-US" altLang="zh-CN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E2E</a:t>
            </a:r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、覆盖率、安全与本地质量门禁；</a:t>
            </a:r>
            <a:r>
              <a:rPr lang="en-US" altLang="zh-CN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Sprint 2 </a:t>
            </a:r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将完成剩余 </a:t>
            </a:r>
            <a:r>
              <a:rPr lang="en-US" altLang="zh-CN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MVP </a:t>
            </a:r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与外部适配验证。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CF1E313-79E1-4E83-B68E-940A3D45860F}"/>
              </a:ext>
            </a:extLst>
          </p:cNvPr>
          <p:cNvSpPr txBox="1"/>
          <p:nvPr/>
        </p:nvSpPr>
        <p:spPr>
          <a:xfrm>
            <a:off x="482600" y="64770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某自然博物馆智能运营中心 </a:t>
            </a:r>
            <a:r>
              <a:rPr lang="en-US" altLang="zh-CN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应急管理子系统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96176D1-BE23-45E3-8603-88AC33DDEC6F}"/>
              </a:ext>
            </a:extLst>
          </p:cNvPr>
          <p:cNvSpPr txBox="1"/>
          <p:nvPr/>
        </p:nvSpPr>
        <p:spPr>
          <a:xfrm>
            <a:off x="11176000" y="6477000"/>
            <a:ext cx="533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r>
            <a:endParaRPr lang="zh-CN" altLang="en-US" sz="900" b="1">
              <a:solidFill>
                <a:srgbClr val="5E718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37190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2B30BD7-D899-48D8-863F-C2D5ACA55AE8}"/>
              </a:ext>
            </a:extLst>
          </p:cNvPr>
          <p:cNvSpPr txBox="1"/>
          <p:nvPr/>
        </p:nvSpPr>
        <p:spPr>
          <a:xfrm>
            <a:off x="482600" y="317500"/>
            <a:ext cx="609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E89A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endParaRPr lang="zh-CN" altLang="en-US" sz="1300" b="1">
              <a:solidFill>
                <a:srgbClr val="E89A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D84668C-9180-4EB9-8122-D81EA8EAD3A1}"/>
              </a:ext>
            </a:extLst>
          </p:cNvPr>
          <p:cNvSpPr txBox="1"/>
          <p:nvPr/>
        </p:nvSpPr>
        <p:spPr>
          <a:xfrm>
            <a:off x="1117600" y="254000"/>
            <a:ext cx="10033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6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需求、设计、代码与测试通过同一追踪链闭环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9403E29-7506-4BDA-B639-0012CF56F4D8}"/>
              </a:ext>
            </a:extLst>
          </p:cNvPr>
          <p:cNvSpPr txBox="1"/>
          <p:nvPr/>
        </p:nvSpPr>
        <p:spPr>
          <a:xfrm>
            <a:off x="9931400" y="368300"/>
            <a:ext cx="1714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zh-CN" altLang="en-US" sz="11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项目实施管理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3AD41E3-30CE-476E-B929-AD8B7B0D2750}"/>
              </a:ext>
            </a:extLst>
          </p:cNvPr>
          <p:cNvCxnSpPr/>
          <p:nvPr/>
        </p:nvCxnSpPr>
        <p:spPr>
          <a:xfrm>
            <a:off x="482600" y="889000"/>
            <a:ext cx="11226800" cy="0"/>
          </a:xfrm>
          <a:prstGeom prst="line">
            <a:avLst/>
          </a:prstGeom>
          <a:ln w="12700">
            <a:solidFill>
              <a:srgbClr val="D4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A242943-F12A-4579-A39F-39E91DE07461}"/>
              </a:ext>
            </a:extLst>
          </p:cNvPr>
          <p:cNvSpPr/>
          <p:nvPr/>
        </p:nvSpPr>
        <p:spPr>
          <a:xfrm>
            <a:off x="571500" y="1333500"/>
            <a:ext cx="1013460" cy="5080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186C956-E490-44BF-8BB4-CAA959450282}"/>
              </a:ext>
            </a:extLst>
          </p:cNvPr>
          <p:cNvSpPr txBox="1"/>
          <p:nvPr/>
        </p:nvSpPr>
        <p:spPr>
          <a:xfrm>
            <a:off x="635000" y="1460500"/>
            <a:ext cx="88646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28821D3-14EF-4ACB-8FCD-A483EC88468B}"/>
              </a:ext>
            </a:extLst>
          </p:cNvPr>
          <p:cNvCxnSpPr/>
          <p:nvPr/>
        </p:nvCxnSpPr>
        <p:spPr>
          <a:xfrm>
            <a:off x="1584960" y="1587500"/>
            <a:ext cx="88900" cy="0"/>
          </a:xfrm>
          <a:prstGeom prst="line">
            <a:avLst/>
          </a:prstGeom>
          <a:ln w="19050">
            <a:solidFill>
              <a:srgbClr val="12304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1214F16-CBF5-4E9B-AD6A-3465793256F2}"/>
              </a:ext>
            </a:extLst>
          </p:cNvPr>
          <p:cNvSpPr/>
          <p:nvPr/>
        </p:nvSpPr>
        <p:spPr>
          <a:xfrm>
            <a:off x="1686560" y="1333500"/>
            <a:ext cx="1013460" cy="5080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5A0A8E3-3965-4D73-9C44-534200D965E5}"/>
              </a:ext>
            </a:extLst>
          </p:cNvPr>
          <p:cNvSpPr txBox="1"/>
          <p:nvPr/>
        </p:nvSpPr>
        <p:spPr>
          <a:xfrm>
            <a:off x="1750060" y="1460500"/>
            <a:ext cx="88646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SRS / spec</a:t>
            </a:r>
            <a:endParaRPr lang="zh-CN" altLang="en-US" sz="900" b="1">
              <a:solidFill>
                <a:srgbClr val="12304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21E8DF53-A79A-490F-B074-D22C7FEDAE3E}"/>
              </a:ext>
            </a:extLst>
          </p:cNvPr>
          <p:cNvCxnSpPr/>
          <p:nvPr/>
        </p:nvCxnSpPr>
        <p:spPr>
          <a:xfrm>
            <a:off x="2700020" y="1587500"/>
            <a:ext cx="88900" cy="0"/>
          </a:xfrm>
          <a:prstGeom prst="line">
            <a:avLst/>
          </a:prstGeom>
          <a:ln w="19050">
            <a:solidFill>
              <a:srgbClr val="12304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7DB6947-DA98-4ABF-8F5F-615C07DAA533}"/>
              </a:ext>
            </a:extLst>
          </p:cNvPr>
          <p:cNvSpPr/>
          <p:nvPr/>
        </p:nvSpPr>
        <p:spPr>
          <a:xfrm>
            <a:off x="2801620" y="1333500"/>
            <a:ext cx="1013460" cy="5080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A110241-48E7-42D5-9E14-8960A04F343C}"/>
              </a:ext>
            </a:extLst>
          </p:cNvPr>
          <p:cNvSpPr txBox="1"/>
          <p:nvPr/>
        </p:nvSpPr>
        <p:spPr>
          <a:xfrm>
            <a:off x="2865120" y="1460500"/>
            <a:ext cx="88646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CFE4112-5F65-44D2-836D-076A67D527CA}"/>
              </a:ext>
            </a:extLst>
          </p:cNvPr>
          <p:cNvCxnSpPr/>
          <p:nvPr/>
        </p:nvCxnSpPr>
        <p:spPr>
          <a:xfrm>
            <a:off x="3815080" y="1587500"/>
            <a:ext cx="88900" cy="0"/>
          </a:xfrm>
          <a:prstGeom prst="line">
            <a:avLst/>
          </a:prstGeom>
          <a:ln w="19050">
            <a:solidFill>
              <a:srgbClr val="12304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5784CA6-9A4C-4020-AE79-AF006C9F4980}"/>
              </a:ext>
            </a:extLst>
          </p:cNvPr>
          <p:cNvSpPr/>
          <p:nvPr/>
        </p:nvSpPr>
        <p:spPr>
          <a:xfrm>
            <a:off x="3916680" y="1333500"/>
            <a:ext cx="1013460" cy="5080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CB8A01C-08DD-436D-81E9-48886414B5D2}"/>
              </a:ext>
            </a:extLst>
          </p:cNvPr>
          <p:cNvSpPr txBox="1"/>
          <p:nvPr/>
        </p:nvSpPr>
        <p:spPr>
          <a:xfrm>
            <a:off x="3980180" y="1460500"/>
            <a:ext cx="88646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原子任务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1300A31-780E-46D3-9663-010A662090D5}"/>
              </a:ext>
            </a:extLst>
          </p:cNvPr>
          <p:cNvCxnSpPr/>
          <p:nvPr/>
        </p:nvCxnSpPr>
        <p:spPr>
          <a:xfrm>
            <a:off x="4930140" y="1587500"/>
            <a:ext cx="88900" cy="0"/>
          </a:xfrm>
          <a:prstGeom prst="line">
            <a:avLst/>
          </a:prstGeom>
          <a:ln w="19050">
            <a:solidFill>
              <a:srgbClr val="12304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883DA71-F748-41C2-90BE-86016F41E16B}"/>
              </a:ext>
            </a:extLst>
          </p:cNvPr>
          <p:cNvSpPr/>
          <p:nvPr/>
        </p:nvSpPr>
        <p:spPr>
          <a:xfrm>
            <a:off x="5031740" y="1333500"/>
            <a:ext cx="1013460" cy="5080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3A43E57-BEC3-4B5C-A520-49F5523CA598}"/>
              </a:ext>
            </a:extLst>
          </p:cNvPr>
          <p:cNvSpPr txBox="1"/>
          <p:nvPr/>
        </p:nvSpPr>
        <p:spPr>
          <a:xfrm>
            <a:off x="5095240" y="1460500"/>
            <a:ext cx="88646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9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辅助编码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23585465-D344-43BD-9665-C083B9D9F293}"/>
              </a:ext>
            </a:extLst>
          </p:cNvPr>
          <p:cNvCxnSpPr/>
          <p:nvPr/>
        </p:nvCxnSpPr>
        <p:spPr>
          <a:xfrm>
            <a:off x="6045200" y="1587500"/>
            <a:ext cx="88900" cy="0"/>
          </a:xfrm>
          <a:prstGeom prst="line">
            <a:avLst/>
          </a:prstGeom>
          <a:ln w="19050">
            <a:solidFill>
              <a:srgbClr val="12304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05F0A6F-00B1-4565-B4D7-0D2BCA7FAB04}"/>
              </a:ext>
            </a:extLst>
          </p:cNvPr>
          <p:cNvSpPr/>
          <p:nvPr/>
        </p:nvSpPr>
        <p:spPr>
          <a:xfrm>
            <a:off x="6146800" y="1333500"/>
            <a:ext cx="1013460" cy="5080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6A6E20E-0802-4C70-86D4-9831F2073718}"/>
              </a:ext>
            </a:extLst>
          </p:cNvPr>
          <p:cNvSpPr txBox="1"/>
          <p:nvPr/>
        </p:nvSpPr>
        <p:spPr>
          <a:xfrm>
            <a:off x="6210300" y="1460500"/>
            <a:ext cx="88646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主责自检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266491D4-37C9-4079-951B-F90596F3FFDB}"/>
              </a:ext>
            </a:extLst>
          </p:cNvPr>
          <p:cNvCxnSpPr/>
          <p:nvPr/>
        </p:nvCxnSpPr>
        <p:spPr>
          <a:xfrm>
            <a:off x="7160260" y="1587500"/>
            <a:ext cx="88900" cy="0"/>
          </a:xfrm>
          <a:prstGeom prst="line">
            <a:avLst/>
          </a:prstGeom>
          <a:ln w="19050">
            <a:solidFill>
              <a:srgbClr val="12304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441DC1E-BFF7-459D-8030-2D5AFF2904A9}"/>
              </a:ext>
            </a:extLst>
          </p:cNvPr>
          <p:cNvSpPr/>
          <p:nvPr/>
        </p:nvSpPr>
        <p:spPr>
          <a:xfrm>
            <a:off x="7261860" y="1333500"/>
            <a:ext cx="1013460" cy="5080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86B7664-E10B-420B-B307-49619BC11EC7}"/>
              </a:ext>
            </a:extLst>
          </p:cNvPr>
          <p:cNvSpPr txBox="1"/>
          <p:nvPr/>
        </p:nvSpPr>
        <p:spPr>
          <a:xfrm>
            <a:off x="7325360" y="1460500"/>
            <a:ext cx="88646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队友 </a:t>
            </a:r>
            <a:r>
              <a:rPr lang="en-US" altLang="zh-CN" sz="9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Review</a:t>
            </a:r>
            <a:endParaRPr lang="zh-CN" altLang="en-US" sz="900" b="1">
              <a:solidFill>
                <a:srgbClr val="12304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1226FE4D-D745-4D22-B7AB-A16BC2E57A0A}"/>
              </a:ext>
            </a:extLst>
          </p:cNvPr>
          <p:cNvCxnSpPr/>
          <p:nvPr/>
        </p:nvCxnSpPr>
        <p:spPr>
          <a:xfrm>
            <a:off x="8275320" y="1587500"/>
            <a:ext cx="88900" cy="0"/>
          </a:xfrm>
          <a:prstGeom prst="line">
            <a:avLst/>
          </a:prstGeom>
          <a:ln w="19050">
            <a:solidFill>
              <a:srgbClr val="12304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73B3CC21-5F05-4E28-8482-BA93723E59EA}"/>
              </a:ext>
            </a:extLst>
          </p:cNvPr>
          <p:cNvSpPr/>
          <p:nvPr/>
        </p:nvSpPr>
        <p:spPr>
          <a:xfrm>
            <a:off x="8376920" y="1333500"/>
            <a:ext cx="1013460" cy="5080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94DF8C5-B604-46B3-9965-5486959503B8}"/>
              </a:ext>
            </a:extLst>
          </p:cNvPr>
          <p:cNvSpPr txBox="1"/>
          <p:nvPr/>
        </p:nvSpPr>
        <p:spPr>
          <a:xfrm>
            <a:off x="8440420" y="1460500"/>
            <a:ext cx="88646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FFAFDE2-1347-486C-B238-E04A732749DD}"/>
              </a:ext>
            </a:extLst>
          </p:cNvPr>
          <p:cNvCxnSpPr/>
          <p:nvPr/>
        </p:nvCxnSpPr>
        <p:spPr>
          <a:xfrm>
            <a:off x="9390380" y="1587500"/>
            <a:ext cx="88900" cy="0"/>
          </a:xfrm>
          <a:prstGeom prst="line">
            <a:avLst/>
          </a:prstGeom>
          <a:ln w="19050">
            <a:solidFill>
              <a:srgbClr val="12304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D673ECD9-49D8-477D-A782-57C8414AB02D}"/>
              </a:ext>
            </a:extLst>
          </p:cNvPr>
          <p:cNvSpPr/>
          <p:nvPr/>
        </p:nvSpPr>
        <p:spPr>
          <a:xfrm>
            <a:off x="9491980" y="1333500"/>
            <a:ext cx="1013460" cy="5080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EF7AC08-956D-483F-84D8-8996F52609E7}"/>
              </a:ext>
            </a:extLst>
          </p:cNvPr>
          <p:cNvSpPr txBox="1"/>
          <p:nvPr/>
        </p:nvSpPr>
        <p:spPr>
          <a:xfrm>
            <a:off x="9555480" y="1460500"/>
            <a:ext cx="88646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 Merge</a:t>
            </a:r>
            <a:endParaRPr lang="zh-CN" altLang="en-US" sz="900" b="1">
              <a:solidFill>
                <a:srgbClr val="12304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14859CB2-9D23-4DC4-B793-43BBCDB56B00}"/>
              </a:ext>
            </a:extLst>
          </p:cNvPr>
          <p:cNvCxnSpPr/>
          <p:nvPr/>
        </p:nvCxnSpPr>
        <p:spPr>
          <a:xfrm>
            <a:off x="10505440" y="1587500"/>
            <a:ext cx="88900" cy="0"/>
          </a:xfrm>
          <a:prstGeom prst="line">
            <a:avLst/>
          </a:prstGeom>
          <a:ln w="19050">
            <a:solidFill>
              <a:srgbClr val="12304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7830FBF5-7B1F-475C-806D-9351871F966F}"/>
              </a:ext>
            </a:extLst>
          </p:cNvPr>
          <p:cNvSpPr/>
          <p:nvPr/>
        </p:nvSpPr>
        <p:spPr>
          <a:xfrm>
            <a:off x="10607040" y="1333500"/>
            <a:ext cx="1013460" cy="5080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C2AF1C4-CF73-4219-90CD-F7375DA09F96}"/>
              </a:ext>
            </a:extLst>
          </p:cNvPr>
          <p:cNvSpPr txBox="1"/>
          <p:nvPr/>
        </p:nvSpPr>
        <p:spPr>
          <a:xfrm>
            <a:off x="10670540" y="1460500"/>
            <a:ext cx="88646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RTM </a:t>
            </a:r>
            <a:r>
              <a:rPr lang="zh-CN" altLang="en-US" sz="9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更新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4563CC5-6648-404E-972F-F6645E48018F}"/>
              </a:ext>
            </a:extLst>
          </p:cNvPr>
          <p:cNvSpPr txBox="1"/>
          <p:nvPr/>
        </p:nvSpPr>
        <p:spPr>
          <a:xfrm>
            <a:off x="698500" y="2540000"/>
            <a:ext cx="2540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三人责任分工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3D1B1F0D-FB6F-4D49-89B6-F805595CF926}"/>
              </a:ext>
            </a:extLst>
          </p:cNvPr>
          <p:cNvSpPr/>
          <p:nvPr/>
        </p:nvSpPr>
        <p:spPr>
          <a:xfrm>
            <a:off x="698500" y="3073400"/>
            <a:ext cx="3365500" cy="146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68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C8B0937-F75D-416A-B8B1-1AA18A5A0201}"/>
              </a:ext>
            </a:extLst>
          </p:cNvPr>
          <p:cNvSpPr txBox="1"/>
          <p:nvPr/>
        </p:nvSpPr>
        <p:spPr>
          <a:xfrm>
            <a:off x="927100" y="3302000"/>
            <a:ext cx="5715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2500" b="1">
                <a:solidFill>
                  <a:srgbClr val="2468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2500" b="1">
              <a:solidFill>
                <a:srgbClr val="2468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B954A9C-7843-4F69-9168-31A52EEBCEB9}"/>
              </a:ext>
            </a:extLst>
          </p:cNvPr>
          <p:cNvSpPr txBox="1"/>
          <p:nvPr/>
        </p:nvSpPr>
        <p:spPr>
          <a:xfrm>
            <a:off x="1689100" y="3238500"/>
            <a:ext cx="2095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项目管理与前端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474D690-8C6C-4893-9943-CA157419148C}"/>
              </a:ext>
            </a:extLst>
          </p:cNvPr>
          <p:cNvSpPr txBox="1"/>
          <p:nvPr/>
        </p:nvSpPr>
        <p:spPr>
          <a:xfrm>
            <a:off x="1689100" y="3644900"/>
            <a:ext cx="20955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整合范围、节奏、</a:t>
            </a:r>
            <a:r>
              <a:rPr lang="en-US" altLang="zh-CN" sz="11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Web/H5 </a:t>
            </a:r>
            <a:r>
              <a:rPr lang="zh-CN" altLang="en-US" sz="11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与最终一致性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B5842815-BC0E-4EB7-90D0-418AD48C84D6}"/>
              </a:ext>
            </a:extLst>
          </p:cNvPr>
          <p:cNvSpPr/>
          <p:nvPr/>
        </p:nvSpPr>
        <p:spPr>
          <a:xfrm>
            <a:off x="4445000" y="3073400"/>
            <a:ext cx="3365500" cy="146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87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6D57E036-71A5-422D-A619-123B0DB23D91}"/>
              </a:ext>
            </a:extLst>
          </p:cNvPr>
          <p:cNvSpPr txBox="1"/>
          <p:nvPr/>
        </p:nvSpPr>
        <p:spPr>
          <a:xfrm>
            <a:off x="4673600" y="3302000"/>
            <a:ext cx="5715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2500" b="1">
                <a:solidFill>
                  <a:srgbClr val="2A879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2500" b="1">
              <a:solidFill>
                <a:srgbClr val="2A879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5D44749-23D5-4175-8D67-5972E19C42BE}"/>
              </a:ext>
            </a:extLst>
          </p:cNvPr>
          <p:cNvSpPr txBox="1"/>
          <p:nvPr/>
        </p:nvSpPr>
        <p:spPr>
          <a:xfrm>
            <a:off x="5435600" y="3238500"/>
            <a:ext cx="2095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架构与后端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5343652-06EC-46ED-AF53-2C143A908D06}"/>
              </a:ext>
            </a:extLst>
          </p:cNvPr>
          <p:cNvSpPr txBox="1"/>
          <p:nvPr/>
        </p:nvSpPr>
        <p:spPr>
          <a:xfrm>
            <a:off x="5435600" y="3644900"/>
            <a:ext cx="20955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架构、数据库、接口、后端与技术正确性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71B21223-AF5B-4ADC-B6FF-B321980606B8}"/>
              </a:ext>
            </a:extLst>
          </p:cNvPr>
          <p:cNvSpPr/>
          <p:nvPr/>
        </p:nvSpPr>
        <p:spPr>
          <a:xfrm>
            <a:off x="8191500" y="3073400"/>
            <a:ext cx="3365500" cy="146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9A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2A7ED43C-6FE2-43FA-B69D-53711E043D7B}"/>
              </a:ext>
            </a:extLst>
          </p:cNvPr>
          <p:cNvSpPr txBox="1"/>
          <p:nvPr/>
        </p:nvSpPr>
        <p:spPr>
          <a:xfrm>
            <a:off x="8420100" y="3302000"/>
            <a:ext cx="5715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2500" b="1">
                <a:solidFill>
                  <a:srgbClr val="E89A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2500" b="1">
              <a:solidFill>
                <a:srgbClr val="E89A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CDFA3EBF-33EF-4120-AEC6-5D1C1FF32A94}"/>
              </a:ext>
            </a:extLst>
          </p:cNvPr>
          <p:cNvSpPr txBox="1"/>
          <p:nvPr/>
        </p:nvSpPr>
        <p:spPr>
          <a:xfrm>
            <a:off x="9182100" y="3238500"/>
            <a:ext cx="2095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需求与质量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511C0EF-8DA6-4CD2-9EE8-0D8238421B0C}"/>
              </a:ext>
            </a:extLst>
          </p:cNvPr>
          <p:cNvSpPr txBox="1"/>
          <p:nvPr/>
        </p:nvSpPr>
        <p:spPr>
          <a:xfrm>
            <a:off x="9182100" y="3644900"/>
            <a:ext cx="2095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需求、</a:t>
            </a:r>
            <a:r>
              <a:rPr lang="en-US" altLang="zh-CN" sz="11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RTM</a:t>
            </a:r>
            <a:r>
              <a:rPr lang="zh-CN" altLang="en-US" sz="11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、合规、测试和审计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52600E03-5BCA-4583-825D-F856AAEEFE34}"/>
              </a:ext>
            </a:extLst>
          </p:cNvPr>
          <p:cNvSpPr/>
          <p:nvPr/>
        </p:nvSpPr>
        <p:spPr>
          <a:xfrm>
            <a:off x="1524000" y="5105400"/>
            <a:ext cx="9144000" cy="825500"/>
          </a:xfrm>
          <a:prstGeom prst="roundRect">
            <a:avLst/>
          </a:prstGeom>
          <a:solidFill>
            <a:srgbClr val="DCECF6"/>
          </a:solidFill>
          <a:ln w="12700">
            <a:solidFill>
              <a:srgbClr val="DCEC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40022CE2-4133-4892-8140-279461806D22}"/>
              </a:ext>
            </a:extLst>
          </p:cNvPr>
          <p:cNvSpPr txBox="1"/>
          <p:nvPr/>
        </p:nvSpPr>
        <p:spPr>
          <a:xfrm>
            <a:off x="1841500" y="5283200"/>
            <a:ext cx="1397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2468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1300" b="1">
                <a:solidFill>
                  <a:srgbClr val="2468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辅助范围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F1112DB-5A37-4D52-92E9-79095AA33D8A}"/>
              </a:ext>
            </a:extLst>
          </p:cNvPr>
          <p:cNvSpPr txBox="1"/>
          <p:nvPr/>
        </p:nvSpPr>
        <p:spPr>
          <a:xfrm>
            <a:off x="3302000" y="5245100"/>
            <a:ext cx="698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需求解析、设计草稿、编码、</a:t>
            </a:r>
            <a:r>
              <a:rPr lang="en-US" altLang="zh-CN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Review</a:t>
            </a:r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、测试与追踪均保留 </a:t>
            </a:r>
            <a:r>
              <a:rPr lang="en-US" altLang="zh-CN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Prompt</a:t>
            </a:r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、人工自检、审核结论和 </a:t>
            </a:r>
            <a:r>
              <a:rPr lang="en-US" altLang="zh-CN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commit</a:t>
            </a:r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12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不替代唯一审核人。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13205CC8-F5A8-46F5-BF28-D35E6B9B2F5F}"/>
              </a:ext>
            </a:extLst>
          </p:cNvPr>
          <p:cNvSpPr txBox="1"/>
          <p:nvPr/>
        </p:nvSpPr>
        <p:spPr>
          <a:xfrm>
            <a:off x="482600" y="64770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某自然博物馆智能运营中心 </a:t>
            </a:r>
            <a:r>
              <a:rPr lang="en-US" altLang="zh-CN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应急管理子系统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5E8A3F7B-137B-4610-9ECB-E9321B1BB15A}"/>
              </a:ext>
            </a:extLst>
          </p:cNvPr>
          <p:cNvSpPr txBox="1"/>
          <p:nvPr/>
        </p:nvSpPr>
        <p:spPr>
          <a:xfrm>
            <a:off x="11176000" y="6477000"/>
            <a:ext cx="533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endParaRPr lang="zh-CN" altLang="en-US" sz="900" b="1">
              <a:solidFill>
                <a:srgbClr val="5E718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1706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604BFD1-6B6C-4C97-980B-6E7A801A174D}"/>
              </a:ext>
            </a:extLst>
          </p:cNvPr>
          <p:cNvSpPr txBox="1"/>
          <p:nvPr/>
        </p:nvSpPr>
        <p:spPr>
          <a:xfrm>
            <a:off x="482600" y="317500"/>
            <a:ext cx="609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E89A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endParaRPr lang="zh-CN" altLang="en-US" sz="1300" b="1">
              <a:solidFill>
                <a:srgbClr val="E89A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243ECCA-96ED-4543-AEC3-2210ADC13373}"/>
              </a:ext>
            </a:extLst>
          </p:cNvPr>
          <p:cNvSpPr txBox="1"/>
          <p:nvPr/>
        </p:nvSpPr>
        <p:spPr>
          <a:xfrm>
            <a:off x="1117600" y="254000"/>
            <a:ext cx="10033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6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主演示围绕一个事件跑通 </a:t>
            </a:r>
            <a:r>
              <a:rPr lang="en-US" altLang="zh-CN" sz="26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 </a:t>
            </a:r>
            <a:r>
              <a:rPr lang="zh-CN" altLang="en-US" sz="26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26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H5 </a:t>
            </a:r>
            <a:r>
              <a:rPr lang="zh-CN" altLang="en-US" sz="26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协同闭环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1122452-CEC4-4B79-895B-E2BEDDCF8781}"/>
              </a:ext>
            </a:extLst>
          </p:cNvPr>
          <p:cNvSpPr txBox="1"/>
          <p:nvPr/>
        </p:nvSpPr>
        <p:spPr>
          <a:xfrm>
            <a:off x="9931400" y="368300"/>
            <a:ext cx="1714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zh-CN" altLang="en-US" sz="11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系统演示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C46723F-0B21-4D0E-9E0E-0EF97BEC7F1E}"/>
              </a:ext>
            </a:extLst>
          </p:cNvPr>
          <p:cNvCxnSpPr/>
          <p:nvPr/>
        </p:nvCxnSpPr>
        <p:spPr>
          <a:xfrm>
            <a:off x="482600" y="889000"/>
            <a:ext cx="11226800" cy="0"/>
          </a:xfrm>
          <a:prstGeom prst="line">
            <a:avLst/>
          </a:prstGeom>
          <a:ln w="12700">
            <a:solidFill>
              <a:srgbClr val="D4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381A70B-6857-419D-9934-0CD499BB3866}"/>
              </a:ext>
            </a:extLst>
          </p:cNvPr>
          <p:cNvSpPr/>
          <p:nvPr/>
        </p:nvSpPr>
        <p:spPr>
          <a:xfrm>
            <a:off x="571500" y="1270000"/>
            <a:ext cx="1968500" cy="609600"/>
          </a:xfrm>
          <a:prstGeom prst="roundRect">
            <a:avLst/>
          </a:prstGeom>
          <a:solidFill>
            <a:srgbClr val="DCECF6"/>
          </a:solidFill>
          <a:ln w="12700">
            <a:solidFill>
              <a:srgbClr val="2468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C15B401-AEA6-44B7-9153-39B2FB1BC23C}"/>
              </a:ext>
            </a:extLst>
          </p:cNvPr>
          <p:cNvSpPr txBox="1"/>
          <p:nvPr/>
        </p:nvSpPr>
        <p:spPr>
          <a:xfrm>
            <a:off x="698500" y="1435100"/>
            <a:ext cx="1714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1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  H5 </a:t>
            </a:r>
            <a:r>
              <a:rPr lang="zh-CN" altLang="en-US" sz="11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上报事件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1DE914A-5BE6-4F52-9B33-4B330EF1BD3A}"/>
              </a:ext>
            </a:extLst>
          </p:cNvPr>
          <p:cNvCxnSpPr/>
          <p:nvPr/>
        </p:nvCxnSpPr>
        <p:spPr>
          <a:xfrm>
            <a:off x="2540000" y="1574800"/>
            <a:ext cx="241300" cy="0"/>
          </a:xfrm>
          <a:prstGeom prst="line">
            <a:avLst/>
          </a:prstGeom>
          <a:ln w="19050">
            <a:solidFill>
              <a:srgbClr val="5E718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D8F179D-24F5-4780-9253-DD35D06F5F98}"/>
              </a:ext>
            </a:extLst>
          </p:cNvPr>
          <p:cNvSpPr/>
          <p:nvPr/>
        </p:nvSpPr>
        <p:spPr>
          <a:xfrm>
            <a:off x="2832100" y="1270000"/>
            <a:ext cx="1968500" cy="6096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2468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43DE47A-448B-4F11-87DF-C7EE95D926D2}"/>
              </a:ext>
            </a:extLst>
          </p:cNvPr>
          <p:cNvSpPr txBox="1"/>
          <p:nvPr/>
        </p:nvSpPr>
        <p:spPr>
          <a:xfrm>
            <a:off x="2959100" y="1435100"/>
            <a:ext cx="1714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1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  Web </a:t>
            </a:r>
            <a:r>
              <a:rPr lang="zh-CN" altLang="en-US" sz="11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收到事件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02642CD-2C55-42C6-925E-54669C30CB9D}"/>
              </a:ext>
            </a:extLst>
          </p:cNvPr>
          <p:cNvCxnSpPr/>
          <p:nvPr/>
        </p:nvCxnSpPr>
        <p:spPr>
          <a:xfrm>
            <a:off x="4800600" y="1574800"/>
            <a:ext cx="241300" cy="0"/>
          </a:xfrm>
          <a:prstGeom prst="line">
            <a:avLst/>
          </a:prstGeom>
          <a:ln w="19050">
            <a:solidFill>
              <a:srgbClr val="5E718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D6676C1-2FD1-445E-A343-CE52D341F3ED}"/>
              </a:ext>
            </a:extLst>
          </p:cNvPr>
          <p:cNvSpPr/>
          <p:nvPr/>
        </p:nvSpPr>
        <p:spPr>
          <a:xfrm>
            <a:off x="5092700" y="1270000"/>
            <a:ext cx="1968500" cy="609600"/>
          </a:xfrm>
          <a:prstGeom prst="roundRect">
            <a:avLst/>
          </a:prstGeom>
          <a:solidFill>
            <a:srgbClr val="DCECF6"/>
          </a:solidFill>
          <a:ln w="12700">
            <a:solidFill>
              <a:srgbClr val="2468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1680B2E-ED08-43B5-BE6D-B93E7CADAC64}"/>
              </a:ext>
            </a:extLst>
          </p:cNvPr>
          <p:cNvSpPr txBox="1"/>
          <p:nvPr/>
        </p:nvSpPr>
        <p:spPr>
          <a:xfrm>
            <a:off x="5219700" y="1435100"/>
            <a:ext cx="1714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1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  </a:t>
            </a:r>
            <a:r>
              <a:rPr lang="zh-CN" altLang="en-US" sz="11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核实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BF33CA44-5525-42C9-9BDB-E113D8A3B7EE}"/>
              </a:ext>
            </a:extLst>
          </p:cNvPr>
          <p:cNvCxnSpPr/>
          <p:nvPr/>
        </p:nvCxnSpPr>
        <p:spPr>
          <a:xfrm>
            <a:off x="7061200" y="1574800"/>
            <a:ext cx="241300" cy="0"/>
          </a:xfrm>
          <a:prstGeom prst="line">
            <a:avLst/>
          </a:prstGeom>
          <a:ln w="19050">
            <a:solidFill>
              <a:srgbClr val="5E718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64451E3-203A-49BF-B4E9-B9435C2412B5}"/>
              </a:ext>
            </a:extLst>
          </p:cNvPr>
          <p:cNvSpPr/>
          <p:nvPr/>
        </p:nvSpPr>
        <p:spPr>
          <a:xfrm>
            <a:off x="7353300" y="1270000"/>
            <a:ext cx="1968500" cy="6096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2468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2520E31-EA5D-4858-B7F2-45DC16883A19}"/>
              </a:ext>
            </a:extLst>
          </p:cNvPr>
          <p:cNvSpPr txBox="1"/>
          <p:nvPr/>
        </p:nvSpPr>
        <p:spPr>
          <a:xfrm>
            <a:off x="7480300" y="1435100"/>
            <a:ext cx="1714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1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 </a:t>
            </a:r>
            <a:r>
              <a:rPr lang="zh-CN" altLang="en-US" sz="11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启动预案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DCB5EC8-7B35-44AF-AAF2-8C7B40823F8B}"/>
              </a:ext>
            </a:extLst>
          </p:cNvPr>
          <p:cNvCxnSpPr/>
          <p:nvPr/>
        </p:nvCxnSpPr>
        <p:spPr>
          <a:xfrm>
            <a:off x="9321800" y="1574800"/>
            <a:ext cx="241300" cy="0"/>
          </a:xfrm>
          <a:prstGeom prst="line">
            <a:avLst/>
          </a:prstGeom>
          <a:ln w="19050">
            <a:solidFill>
              <a:srgbClr val="5E718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7451CA7-75DF-43D8-B436-F231CF34DF90}"/>
              </a:ext>
            </a:extLst>
          </p:cNvPr>
          <p:cNvSpPr/>
          <p:nvPr/>
        </p:nvSpPr>
        <p:spPr>
          <a:xfrm>
            <a:off x="9613900" y="1270000"/>
            <a:ext cx="1968500" cy="609600"/>
          </a:xfrm>
          <a:prstGeom prst="roundRect">
            <a:avLst/>
          </a:prstGeom>
          <a:solidFill>
            <a:srgbClr val="DCECF6"/>
          </a:solidFill>
          <a:ln w="12700">
            <a:solidFill>
              <a:srgbClr val="2468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CE6F151-0107-4875-A990-5C0BBEA68AEE}"/>
              </a:ext>
            </a:extLst>
          </p:cNvPr>
          <p:cNvSpPr txBox="1"/>
          <p:nvPr/>
        </p:nvSpPr>
        <p:spPr>
          <a:xfrm>
            <a:off x="9740900" y="1435100"/>
            <a:ext cx="1714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1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  </a:t>
            </a:r>
            <a:r>
              <a:rPr lang="zh-CN" altLang="en-US" sz="11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自动生成任务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685A2D6-32F4-4709-B47C-11A7AFD763A2}"/>
              </a:ext>
            </a:extLst>
          </p:cNvPr>
          <p:cNvSpPr/>
          <p:nvPr/>
        </p:nvSpPr>
        <p:spPr>
          <a:xfrm>
            <a:off x="571500" y="2260600"/>
            <a:ext cx="1968500" cy="6096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2A87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46FDFF1-2416-49F0-A0DF-23B2F7A9B258}"/>
              </a:ext>
            </a:extLst>
          </p:cNvPr>
          <p:cNvSpPr txBox="1"/>
          <p:nvPr/>
        </p:nvSpPr>
        <p:spPr>
          <a:xfrm>
            <a:off x="698500" y="2425700"/>
            <a:ext cx="1714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1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  H5 </a:t>
            </a:r>
            <a:r>
              <a:rPr lang="zh-CN" altLang="en-US" sz="11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接收任务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4B81AE4-5414-4D12-B4A9-B54ECF6A1E8B}"/>
              </a:ext>
            </a:extLst>
          </p:cNvPr>
          <p:cNvCxnSpPr/>
          <p:nvPr/>
        </p:nvCxnSpPr>
        <p:spPr>
          <a:xfrm>
            <a:off x="2540000" y="2565400"/>
            <a:ext cx="241300" cy="0"/>
          </a:xfrm>
          <a:prstGeom prst="line">
            <a:avLst/>
          </a:prstGeom>
          <a:ln w="19050">
            <a:solidFill>
              <a:srgbClr val="5E718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9963B75-6804-48B2-864A-1985A342E257}"/>
              </a:ext>
            </a:extLst>
          </p:cNvPr>
          <p:cNvSpPr/>
          <p:nvPr/>
        </p:nvSpPr>
        <p:spPr>
          <a:xfrm>
            <a:off x="2832100" y="2260600"/>
            <a:ext cx="1968500" cy="609600"/>
          </a:xfrm>
          <a:prstGeom prst="roundRect">
            <a:avLst/>
          </a:prstGeom>
          <a:solidFill>
            <a:srgbClr val="DCECF6"/>
          </a:solidFill>
          <a:ln w="12700">
            <a:solidFill>
              <a:srgbClr val="2A87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F5147EA-75A5-43BA-8FDA-7591746F1D16}"/>
              </a:ext>
            </a:extLst>
          </p:cNvPr>
          <p:cNvSpPr txBox="1"/>
          <p:nvPr/>
        </p:nvSpPr>
        <p:spPr>
          <a:xfrm>
            <a:off x="2959100" y="2425700"/>
            <a:ext cx="1714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1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  </a:t>
            </a:r>
            <a:r>
              <a:rPr lang="zh-CN" altLang="en-US" sz="11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提交进度 </a:t>
            </a:r>
            <a:r>
              <a:rPr lang="en-US" altLang="zh-CN" sz="11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1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07280754-2B82-4D08-AC7A-491F2E06A6B3}"/>
              </a:ext>
            </a:extLst>
          </p:cNvPr>
          <p:cNvCxnSpPr/>
          <p:nvPr/>
        </p:nvCxnSpPr>
        <p:spPr>
          <a:xfrm>
            <a:off x="4800600" y="2565400"/>
            <a:ext cx="241300" cy="0"/>
          </a:xfrm>
          <a:prstGeom prst="line">
            <a:avLst/>
          </a:prstGeom>
          <a:ln w="19050">
            <a:solidFill>
              <a:srgbClr val="5E718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F9342E78-44A7-496C-8F12-A8C4EC81956D}"/>
              </a:ext>
            </a:extLst>
          </p:cNvPr>
          <p:cNvSpPr/>
          <p:nvPr/>
        </p:nvSpPr>
        <p:spPr>
          <a:xfrm>
            <a:off x="5092700" y="2260600"/>
            <a:ext cx="1968500" cy="6096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2A87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ADAE10E-0AC7-4473-B9A1-EE188E14D7E7}"/>
              </a:ext>
            </a:extLst>
          </p:cNvPr>
          <p:cNvSpPr txBox="1"/>
          <p:nvPr/>
        </p:nvSpPr>
        <p:spPr>
          <a:xfrm>
            <a:off x="5219700" y="2425700"/>
            <a:ext cx="1714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1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08  Web </a:t>
            </a:r>
            <a:r>
              <a:rPr lang="zh-CN" altLang="en-US" sz="11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查看处置状态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9F756B9-A82D-4C65-B284-DD369CB6873D}"/>
              </a:ext>
            </a:extLst>
          </p:cNvPr>
          <p:cNvCxnSpPr/>
          <p:nvPr/>
        </p:nvCxnSpPr>
        <p:spPr>
          <a:xfrm>
            <a:off x="7061200" y="2565400"/>
            <a:ext cx="241300" cy="0"/>
          </a:xfrm>
          <a:prstGeom prst="line">
            <a:avLst/>
          </a:prstGeom>
          <a:ln w="19050">
            <a:solidFill>
              <a:srgbClr val="5E718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4B82677D-54C1-4A7E-BB87-816C1533CB0D}"/>
              </a:ext>
            </a:extLst>
          </p:cNvPr>
          <p:cNvSpPr/>
          <p:nvPr/>
        </p:nvSpPr>
        <p:spPr>
          <a:xfrm>
            <a:off x="7353300" y="2260600"/>
            <a:ext cx="1968500" cy="609600"/>
          </a:xfrm>
          <a:prstGeom prst="roundRect">
            <a:avLst/>
          </a:prstGeom>
          <a:solidFill>
            <a:srgbClr val="DCECF6"/>
          </a:solidFill>
          <a:ln w="12700">
            <a:solidFill>
              <a:srgbClr val="2A87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277B6B5-3329-4E22-9408-EDF96758FFD6}"/>
              </a:ext>
            </a:extLst>
          </p:cNvPr>
          <p:cNvSpPr txBox="1"/>
          <p:nvPr/>
        </p:nvSpPr>
        <p:spPr>
          <a:xfrm>
            <a:off x="7480300" y="2425700"/>
            <a:ext cx="1714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1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09  </a:t>
            </a:r>
            <a:r>
              <a:rPr lang="zh-CN" altLang="en-US" sz="11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完成任务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41B5A47A-BA30-4214-876A-84F9B5522CC6}"/>
              </a:ext>
            </a:extLst>
          </p:cNvPr>
          <p:cNvCxnSpPr/>
          <p:nvPr/>
        </p:nvCxnSpPr>
        <p:spPr>
          <a:xfrm>
            <a:off x="9321800" y="2565400"/>
            <a:ext cx="241300" cy="0"/>
          </a:xfrm>
          <a:prstGeom prst="line">
            <a:avLst/>
          </a:prstGeom>
          <a:ln w="19050">
            <a:solidFill>
              <a:srgbClr val="5E718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9EA43351-4C65-4413-8782-D71646817EA5}"/>
              </a:ext>
            </a:extLst>
          </p:cNvPr>
          <p:cNvSpPr/>
          <p:nvPr/>
        </p:nvSpPr>
        <p:spPr>
          <a:xfrm>
            <a:off x="9613900" y="2260600"/>
            <a:ext cx="1968500" cy="6096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2A87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EAE2FDA-F0CC-4A0F-A61B-FE354CA8FA8D}"/>
              </a:ext>
            </a:extLst>
          </p:cNvPr>
          <p:cNvSpPr txBox="1"/>
          <p:nvPr/>
        </p:nvSpPr>
        <p:spPr>
          <a:xfrm>
            <a:off x="9740900" y="2425700"/>
            <a:ext cx="1714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1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 </a:t>
            </a:r>
            <a:r>
              <a:rPr lang="zh-CN" altLang="en-US" sz="11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关闭事件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9E8A696-5C39-41D7-A7D0-4A19219B5127}"/>
              </a:ext>
            </a:extLst>
          </p:cNvPr>
          <p:cNvSpPr txBox="1"/>
          <p:nvPr/>
        </p:nvSpPr>
        <p:spPr>
          <a:xfrm>
            <a:off x="698500" y="3708400"/>
            <a:ext cx="203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辅助展示入口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D2A2E065-5B0C-478F-AD2E-D5A2850853E2}"/>
              </a:ext>
            </a:extLst>
          </p:cNvPr>
          <p:cNvSpPr/>
          <p:nvPr/>
        </p:nvSpPr>
        <p:spPr>
          <a:xfrm>
            <a:off x="698500" y="4254500"/>
            <a:ext cx="2413000" cy="2921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AC0B870-FED2-41E2-B318-5AF0A71383EB}"/>
              </a:ext>
            </a:extLst>
          </p:cNvPr>
          <p:cNvSpPr txBox="1"/>
          <p:nvPr/>
        </p:nvSpPr>
        <p:spPr>
          <a:xfrm>
            <a:off x="787400" y="4305300"/>
            <a:ext cx="2235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指挥态势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7164BA99-67C2-4B7E-B7A4-1540E2080C3F}"/>
              </a:ext>
            </a:extLst>
          </p:cNvPr>
          <p:cNvSpPr/>
          <p:nvPr/>
        </p:nvSpPr>
        <p:spPr>
          <a:xfrm>
            <a:off x="3429000" y="4254500"/>
            <a:ext cx="2413000" cy="292100"/>
          </a:xfrm>
          <a:prstGeom prst="roundRect">
            <a:avLst/>
          </a:prstGeom>
          <a:solidFill>
            <a:srgbClr val="DCECF6"/>
          </a:solidFill>
          <a:ln w="12700">
            <a:solidFill>
              <a:srgbClr val="DCEC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8C6BCD9-2CE1-4B51-A26F-463436B30211}"/>
              </a:ext>
            </a:extLst>
          </p:cNvPr>
          <p:cNvSpPr txBox="1"/>
          <p:nvPr/>
        </p:nvSpPr>
        <p:spPr>
          <a:xfrm>
            <a:off x="3517900" y="4305300"/>
            <a:ext cx="2235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人员位置 </a:t>
            </a:r>
            <a:r>
              <a:rPr lang="en-US" altLang="zh-CN" sz="10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0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视频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A885875A-A543-4C1C-BC07-95DE1E09F802}"/>
              </a:ext>
            </a:extLst>
          </p:cNvPr>
          <p:cNvSpPr/>
          <p:nvPr/>
        </p:nvSpPr>
        <p:spPr>
          <a:xfrm>
            <a:off x="6159500" y="4254500"/>
            <a:ext cx="2413000" cy="2921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19C2EA9-38D5-44DF-8605-656C1F145878}"/>
              </a:ext>
            </a:extLst>
          </p:cNvPr>
          <p:cNvSpPr txBox="1"/>
          <p:nvPr/>
        </p:nvSpPr>
        <p:spPr>
          <a:xfrm>
            <a:off x="6248400" y="4305300"/>
            <a:ext cx="2235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物资与移动盘点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08334E64-5976-4C68-9F7F-20732CC21792}"/>
              </a:ext>
            </a:extLst>
          </p:cNvPr>
          <p:cNvSpPr/>
          <p:nvPr/>
        </p:nvSpPr>
        <p:spPr>
          <a:xfrm>
            <a:off x="8890000" y="4254500"/>
            <a:ext cx="2413000" cy="292100"/>
          </a:xfrm>
          <a:prstGeom prst="roundRect">
            <a:avLst/>
          </a:prstGeom>
          <a:solidFill>
            <a:srgbClr val="DCECF6"/>
          </a:solidFill>
          <a:ln w="12700">
            <a:solidFill>
              <a:srgbClr val="DCEC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1F4C7E1-A3D4-41B4-8740-1D42AD759762}"/>
              </a:ext>
            </a:extLst>
          </p:cNvPr>
          <p:cNvSpPr txBox="1"/>
          <p:nvPr/>
        </p:nvSpPr>
        <p:spPr>
          <a:xfrm>
            <a:off x="8978900" y="4305300"/>
            <a:ext cx="2235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演练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6A29A665-1153-4799-B473-4834B17470DB}"/>
              </a:ext>
            </a:extLst>
          </p:cNvPr>
          <p:cNvSpPr/>
          <p:nvPr/>
        </p:nvSpPr>
        <p:spPr>
          <a:xfrm>
            <a:off x="698500" y="4864100"/>
            <a:ext cx="2413000" cy="2921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CACEBB5-E2ED-4FD6-B210-DC0F2A68D799}"/>
              </a:ext>
            </a:extLst>
          </p:cNvPr>
          <p:cNvSpPr txBox="1"/>
          <p:nvPr/>
        </p:nvSpPr>
        <p:spPr>
          <a:xfrm>
            <a:off x="787400" y="4914900"/>
            <a:ext cx="2235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值班扫码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7834F58A-F5B9-4552-8EB6-9E44EAFCEEEA}"/>
              </a:ext>
            </a:extLst>
          </p:cNvPr>
          <p:cNvSpPr/>
          <p:nvPr/>
        </p:nvSpPr>
        <p:spPr>
          <a:xfrm>
            <a:off x="3429000" y="4864100"/>
            <a:ext cx="2413000" cy="292100"/>
          </a:xfrm>
          <a:prstGeom prst="roundRect">
            <a:avLst/>
          </a:prstGeom>
          <a:solidFill>
            <a:srgbClr val="DCECF6"/>
          </a:solidFill>
          <a:ln w="12700">
            <a:solidFill>
              <a:srgbClr val="DCEC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3EF7435-3BB2-431E-AFCA-979530E8C467}"/>
              </a:ext>
            </a:extLst>
          </p:cNvPr>
          <p:cNvSpPr txBox="1"/>
          <p:nvPr/>
        </p:nvSpPr>
        <p:spPr>
          <a:xfrm>
            <a:off x="3517900" y="4914900"/>
            <a:ext cx="2235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综合安防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FA1A3836-600E-4431-8646-1B448133D134}"/>
              </a:ext>
            </a:extLst>
          </p:cNvPr>
          <p:cNvSpPr/>
          <p:nvPr/>
        </p:nvSpPr>
        <p:spPr>
          <a:xfrm>
            <a:off x="6159500" y="4864100"/>
            <a:ext cx="2413000" cy="2921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2BDC0FA-C310-49CC-95CA-0EA254A6E1EE}"/>
              </a:ext>
            </a:extLst>
          </p:cNvPr>
          <p:cNvSpPr txBox="1"/>
          <p:nvPr/>
        </p:nvSpPr>
        <p:spPr>
          <a:xfrm>
            <a:off x="6248400" y="4914900"/>
            <a:ext cx="2235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 b="1">
                <a:solidFill>
                  <a:srgbClr val="1230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统计与知识库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306019CF-A956-450F-B232-70D171F1A55E}"/>
              </a:ext>
            </a:extLst>
          </p:cNvPr>
          <p:cNvSpPr/>
          <p:nvPr/>
        </p:nvSpPr>
        <p:spPr>
          <a:xfrm>
            <a:off x="698500" y="5689600"/>
            <a:ext cx="10795000" cy="482600"/>
          </a:xfrm>
          <a:prstGeom prst="roundRect">
            <a:avLst/>
          </a:prstGeom>
          <a:solidFill>
            <a:srgbClr val="EEF4F7"/>
          </a:solidFill>
          <a:ln w="12700">
            <a:solidFill>
              <a:srgbClr val="EEF4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992A632-AAA7-4BE5-B79B-8B70C2912A7E}"/>
              </a:ext>
            </a:extLst>
          </p:cNvPr>
          <p:cNvSpPr txBox="1"/>
          <p:nvPr/>
        </p:nvSpPr>
        <p:spPr>
          <a:xfrm>
            <a:off x="1016000" y="5816600"/>
            <a:ext cx="1016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演示原则：先跑通主演示，再根据时间选择辅助入口；每个外部状态明确标注模拟或目标界面来源。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9D30B9E6-BBFD-4FF8-9AE0-FC5E9527D9F3}"/>
              </a:ext>
            </a:extLst>
          </p:cNvPr>
          <p:cNvSpPr txBox="1"/>
          <p:nvPr/>
        </p:nvSpPr>
        <p:spPr>
          <a:xfrm>
            <a:off x="482600" y="64770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某自然博物馆智能运营中心 </a:t>
            </a:r>
            <a:r>
              <a:rPr lang="en-US" altLang="zh-CN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应急管理子系统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3988C76A-6667-46CD-850D-4E463E4929B9}"/>
              </a:ext>
            </a:extLst>
          </p:cNvPr>
          <p:cNvSpPr txBox="1"/>
          <p:nvPr/>
        </p:nvSpPr>
        <p:spPr>
          <a:xfrm>
            <a:off x="11176000" y="6477000"/>
            <a:ext cx="533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endParaRPr lang="zh-CN" altLang="en-US" sz="900" b="1">
              <a:solidFill>
                <a:srgbClr val="5E718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721847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69A7C76-7C94-4915-8FC5-E2C0093D3487}"/>
              </a:ext>
            </a:extLst>
          </p:cNvPr>
          <p:cNvSpPr txBox="1"/>
          <p:nvPr/>
        </p:nvSpPr>
        <p:spPr>
          <a:xfrm>
            <a:off x="482600" y="317500"/>
            <a:ext cx="609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E89A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endParaRPr lang="zh-CN" altLang="en-US" sz="1300" b="1">
              <a:solidFill>
                <a:srgbClr val="E89A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F14D1F0-CE6E-4AB6-9E65-78FAAF3B35EF}"/>
              </a:ext>
            </a:extLst>
          </p:cNvPr>
          <p:cNvSpPr txBox="1"/>
          <p:nvPr/>
        </p:nvSpPr>
        <p:spPr>
          <a:xfrm>
            <a:off x="1117600" y="254000"/>
            <a:ext cx="10033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600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从事件接报到复盘沉淀，系统建立统一应急协同链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5983636-171D-4733-ABC7-A6A33A6230D2}"/>
              </a:ext>
            </a:extLst>
          </p:cNvPr>
          <p:cNvSpPr txBox="1"/>
          <p:nvPr/>
        </p:nvSpPr>
        <p:spPr>
          <a:xfrm>
            <a:off x="9931400" y="368300"/>
            <a:ext cx="1714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zh-CN" altLang="en-US" sz="11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总结与后期规划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039B771-B8DB-4398-8B0F-25E7E8D2E70F}"/>
              </a:ext>
            </a:extLst>
          </p:cNvPr>
          <p:cNvCxnSpPr/>
          <p:nvPr/>
        </p:nvCxnSpPr>
        <p:spPr>
          <a:xfrm>
            <a:off x="482600" y="889000"/>
            <a:ext cx="11226800" cy="0"/>
          </a:xfrm>
          <a:prstGeom prst="line">
            <a:avLst/>
          </a:prstGeom>
          <a:ln w="12700">
            <a:solidFill>
              <a:srgbClr val="D4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C09DD72B-0DB7-4C3B-8B3C-441A747FFA7C}"/>
              </a:ext>
            </a:extLst>
          </p:cNvPr>
          <p:cNvSpPr txBox="1"/>
          <p:nvPr/>
        </p:nvSpPr>
        <p:spPr>
          <a:xfrm>
            <a:off x="698500" y="12700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建设成果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B812B63-D577-46A1-A5CF-DC68835C0846}"/>
              </a:ext>
            </a:extLst>
          </p:cNvPr>
          <p:cNvSpPr/>
          <p:nvPr/>
        </p:nvSpPr>
        <p:spPr>
          <a:xfrm>
            <a:off x="825500" y="1841500"/>
            <a:ext cx="127000" cy="127000"/>
          </a:xfrm>
          <a:prstGeom prst="ellipse">
            <a:avLst/>
          </a:prstGeom>
          <a:solidFill>
            <a:srgbClr val="2B806A"/>
          </a:solidFill>
          <a:ln w="12700">
            <a:solidFill>
              <a:srgbClr val="2B80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07973D9-B8CB-48D8-A0B7-C5AC591A80E7}"/>
              </a:ext>
            </a:extLst>
          </p:cNvPr>
          <p:cNvSpPr txBox="1"/>
          <p:nvPr/>
        </p:nvSpPr>
        <p:spPr>
          <a:xfrm>
            <a:off x="1168400" y="1752600"/>
            <a:ext cx="711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完整覆盖事前准备、事中处置和事后闭环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8D912E3-EF73-48F3-A751-924FC75ABD70}"/>
              </a:ext>
            </a:extLst>
          </p:cNvPr>
          <p:cNvSpPr/>
          <p:nvPr/>
        </p:nvSpPr>
        <p:spPr>
          <a:xfrm>
            <a:off x="825500" y="2425700"/>
            <a:ext cx="127000" cy="127000"/>
          </a:xfrm>
          <a:prstGeom prst="ellipse">
            <a:avLst/>
          </a:prstGeom>
          <a:solidFill>
            <a:srgbClr val="2B806A"/>
          </a:solidFill>
          <a:ln w="12700">
            <a:solidFill>
              <a:srgbClr val="2B80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5AD7FFB-E156-492F-8661-6A6DE673A838}"/>
              </a:ext>
            </a:extLst>
          </p:cNvPr>
          <p:cNvSpPr txBox="1"/>
          <p:nvPr/>
        </p:nvSpPr>
        <p:spPr>
          <a:xfrm>
            <a:off x="1168400" y="2336800"/>
            <a:ext cx="711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 </a:t>
            </a:r>
            <a:r>
              <a:rPr lang="zh-CN" altLang="en-US" sz="14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指挥与 </a:t>
            </a:r>
            <a:r>
              <a:rPr lang="en-US" altLang="zh-CN" sz="14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H5 </a:t>
            </a:r>
            <a:r>
              <a:rPr lang="zh-CN" altLang="en-US" sz="14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现场协同，共用事件、任务和时间线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83E5EF5-DE95-4188-BF6A-484F0EC3792E}"/>
              </a:ext>
            </a:extLst>
          </p:cNvPr>
          <p:cNvSpPr/>
          <p:nvPr/>
        </p:nvSpPr>
        <p:spPr>
          <a:xfrm>
            <a:off x="825500" y="3009900"/>
            <a:ext cx="127000" cy="127000"/>
          </a:xfrm>
          <a:prstGeom prst="ellipse">
            <a:avLst/>
          </a:prstGeom>
          <a:solidFill>
            <a:srgbClr val="2B806A"/>
          </a:solidFill>
          <a:ln w="12700">
            <a:solidFill>
              <a:srgbClr val="2B80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366B927-4EBC-457F-ADBF-5E487A747FB2}"/>
              </a:ext>
            </a:extLst>
          </p:cNvPr>
          <p:cNvSpPr txBox="1"/>
          <p:nvPr/>
        </p:nvSpPr>
        <p:spPr>
          <a:xfrm>
            <a:off x="1168400" y="2921000"/>
            <a:ext cx="711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模块化架构、标准接口和可审计数据支撑持续演进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85B79E5-B8DA-43F7-8235-F9B373E935CF}"/>
              </a:ext>
            </a:extLst>
          </p:cNvPr>
          <p:cNvSpPr/>
          <p:nvPr/>
        </p:nvSpPr>
        <p:spPr>
          <a:xfrm>
            <a:off x="825500" y="3594100"/>
            <a:ext cx="127000" cy="127000"/>
          </a:xfrm>
          <a:prstGeom prst="ellipse">
            <a:avLst/>
          </a:prstGeom>
          <a:solidFill>
            <a:srgbClr val="2B806A"/>
          </a:solidFill>
          <a:ln w="12700">
            <a:solidFill>
              <a:srgbClr val="2B80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06ADB6D-6E3F-4CF8-8018-93C18174D2DA}"/>
              </a:ext>
            </a:extLst>
          </p:cNvPr>
          <p:cNvSpPr txBox="1"/>
          <p:nvPr/>
        </p:nvSpPr>
        <p:spPr>
          <a:xfrm>
            <a:off x="1168400" y="3505200"/>
            <a:ext cx="711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需求、设计、代码、测试与 </a:t>
            </a:r>
            <a:r>
              <a:rPr lang="en-US" altLang="zh-CN" sz="14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RTM </a:t>
            </a:r>
            <a:r>
              <a:rPr lang="zh-CN" altLang="en-US" sz="140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双向追踪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B20269D-71B2-4EEF-8C9F-EA2FC84EC69C}"/>
              </a:ext>
            </a:extLst>
          </p:cNvPr>
          <p:cNvSpPr/>
          <p:nvPr/>
        </p:nvSpPr>
        <p:spPr>
          <a:xfrm>
            <a:off x="8572500" y="1206500"/>
            <a:ext cx="2921000" cy="2667000"/>
          </a:xfrm>
          <a:prstGeom prst="roundRect">
            <a:avLst/>
          </a:prstGeom>
          <a:solidFill>
            <a:srgbClr val="12304B"/>
          </a:solidFill>
          <a:ln w="12700">
            <a:solidFill>
              <a:srgbClr val="1230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F3C0E18-B0C0-4823-B3BC-411D208C92C2}"/>
              </a:ext>
            </a:extLst>
          </p:cNvPr>
          <p:cNvSpPr txBox="1"/>
          <p:nvPr/>
        </p:nvSpPr>
        <p:spPr>
          <a:xfrm>
            <a:off x="8953500" y="14986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下一阶段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311E051-B3C5-4884-9C74-6BF682327A24}"/>
              </a:ext>
            </a:extLst>
          </p:cNvPr>
          <p:cNvSpPr txBox="1"/>
          <p:nvPr/>
        </p:nvSpPr>
        <p:spPr>
          <a:xfrm>
            <a:off x="8978900" y="2095500"/>
            <a:ext cx="2095500" cy="10002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300">
                <a:solidFill>
                  <a:srgbClr val="DCEC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完成剩余 </a:t>
            </a:r>
            <a:r>
              <a:rPr lang="en-US" altLang="zh-CN" sz="1300">
                <a:solidFill>
                  <a:srgbClr val="DCEC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MVP`n</a:t>
            </a:r>
            <a:r>
              <a:rPr lang="zh-CN" altLang="en-US" sz="1300">
                <a:solidFill>
                  <a:srgbClr val="DCEC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态势与安防正式接线</a:t>
            </a:r>
            <a:r>
              <a:rPr lang="en-US" altLang="zh-CN" sz="1300">
                <a:solidFill>
                  <a:srgbClr val="DCEC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`n</a:t>
            </a:r>
            <a:r>
              <a:rPr lang="zh-CN" altLang="en-US" sz="1300">
                <a:solidFill>
                  <a:srgbClr val="DCEC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真实接口资料与现场联调</a:t>
            </a:r>
            <a:r>
              <a:rPr lang="en-US" altLang="zh-CN" sz="1300">
                <a:solidFill>
                  <a:srgbClr val="DCEC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`n</a:t>
            </a:r>
            <a:r>
              <a:rPr lang="zh-CN" altLang="en-US" sz="1300">
                <a:solidFill>
                  <a:srgbClr val="DCEC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最终集成、安全与性能验证</a:t>
            </a:r>
            <a:r>
              <a:rPr lang="en-US" altLang="zh-CN" sz="1300">
                <a:solidFill>
                  <a:srgbClr val="DCEC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`n</a:t>
            </a:r>
            <a:r>
              <a:rPr lang="zh-CN" altLang="en-US" sz="1300">
                <a:solidFill>
                  <a:srgbClr val="DCEC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试运行、培训与竣工验收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DA20EC1F-4E8D-4C12-88D4-4D610A5E769E}"/>
              </a:ext>
            </a:extLst>
          </p:cNvPr>
          <p:cNvCxnSpPr/>
          <p:nvPr/>
        </p:nvCxnSpPr>
        <p:spPr>
          <a:xfrm>
            <a:off x="698500" y="4445000"/>
            <a:ext cx="10795000" cy="0"/>
          </a:xfrm>
          <a:prstGeom prst="line">
            <a:avLst/>
          </a:prstGeom>
          <a:ln w="38100">
            <a:solidFill>
              <a:srgbClr val="E89A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37ACFD40-4B7F-49A3-9E3B-FE295AD3AE28}"/>
              </a:ext>
            </a:extLst>
          </p:cNvPr>
          <p:cNvSpPr txBox="1"/>
          <p:nvPr/>
        </p:nvSpPr>
        <p:spPr>
          <a:xfrm>
            <a:off x="1143000" y="4826000"/>
            <a:ext cx="9906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2100" b="1">
                <a:solidFill>
                  <a:srgbClr val="2468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系统把分散的告警、预案、任务、人员、物资和外部系统，组织成一条可执行、可追溯、可复盘的应急链。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CD99BFF-03CB-4365-9605-029767AC4649}"/>
              </a:ext>
            </a:extLst>
          </p:cNvPr>
          <p:cNvSpPr txBox="1"/>
          <p:nvPr/>
        </p:nvSpPr>
        <p:spPr>
          <a:xfrm>
            <a:off x="4953000" y="59436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b="1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感谢聆听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B7ED07A-B8C3-4AAC-AFAA-461A00BAF508}"/>
              </a:ext>
            </a:extLst>
          </p:cNvPr>
          <p:cNvSpPr txBox="1"/>
          <p:nvPr/>
        </p:nvSpPr>
        <p:spPr>
          <a:xfrm>
            <a:off x="482600" y="6477000"/>
            <a:ext cx="889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某自然博物馆智能运营中心 </a:t>
            </a:r>
            <a:r>
              <a:rPr lang="en-US" altLang="zh-CN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900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应急管理子系统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48DA31D-7C45-4D18-B3D2-7ADF78FC32FC}"/>
              </a:ext>
            </a:extLst>
          </p:cNvPr>
          <p:cNvSpPr txBox="1"/>
          <p:nvPr/>
        </p:nvSpPr>
        <p:spPr>
          <a:xfrm>
            <a:off x="11176000" y="6477000"/>
            <a:ext cx="533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900" b="1">
                <a:solidFill>
                  <a:srgbClr val="5E71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endParaRPr lang="zh-CN" altLang="en-US" sz="900" b="1">
              <a:solidFill>
                <a:srgbClr val="5E718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92641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3945</Words>
  <Application>Microsoft Office PowerPoint</Application>
  <PresentationFormat>自定义</PresentationFormat>
  <Paragraphs>392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15801502143@163.com</dc:creator>
  <cp:lastModifiedBy>15801502143@163.com</cp:lastModifiedBy>
  <cp:revision>1</cp:revision>
  <dcterms:created xsi:type="dcterms:W3CDTF">2026-09-26T06:52:41Z</dcterms:created>
  <dcterms:modified xsi:type="dcterms:W3CDTF">2026-09-26T06:52:41Z</dcterms:modified>
</cp:coreProperties>
</file>