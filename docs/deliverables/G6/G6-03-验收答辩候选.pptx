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B2BA98-EB1A-4DA6-9B55-2AAE6ADBFAB5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6E106-DC41-4082-98AA-5BCDE38605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79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本次汇报对应</a:t>
            </a:r>
            <a:r>
              <a:rPr lang="en-US" altLang="zh-CN"/>
              <a:t>tasks</a:t>
            </a:r>
            <a:r>
              <a:rPr lang="zh-CN" altLang="en-US"/>
              <a:t>中的</a:t>
            </a:r>
            <a:r>
              <a:rPr lang="en-US" altLang="zh-CN"/>
              <a:t>G6-03</a:t>
            </a:r>
            <a:r>
              <a:rPr lang="zh-CN" altLang="en-US"/>
              <a:t>验收答辩、现场演示与质询。最新用户纠偏要求以远端</a:t>
            </a:r>
            <a:r>
              <a:rPr lang="en-US" altLang="zh-CN"/>
              <a:t>master</a:t>
            </a:r>
            <a:r>
              <a:rPr lang="zh-CN" altLang="en-US"/>
              <a:t>的任务边界执行，并授权生成合理模拟数据。开发总结属于</a:t>
            </a:r>
            <a:r>
              <a:rPr lang="en-US" altLang="zh-CN"/>
              <a:t>G6-04</a:t>
            </a:r>
            <a:r>
              <a:rPr lang="zh-CN" altLang="en-US"/>
              <a:t>，本轮不提交总结。请始终把模拟业务输入、本地实际执行和甲方真实验收区分清楚。本轮采用模拟数据和本地实际执行。</a:t>
            </a:r>
            <a:r>
              <a:rPr lang="en-US" altLang="zh-CN"/>
              <a:t>C</a:t>
            </a:r>
            <a:r>
              <a:rPr lang="zh-CN" altLang="en-US"/>
              <a:t>复核</a:t>
            </a:r>
            <a:r>
              <a:rPr lang="en-US" altLang="zh-CN"/>
              <a:t>CHANGES_REQUIRED</a:t>
            </a:r>
            <a:r>
              <a:rPr lang="zh-CN" altLang="en-US"/>
              <a:t>；状态</a:t>
            </a:r>
            <a:r>
              <a:rPr lang="en-US" altLang="zh-CN"/>
              <a:t>/</a:t>
            </a:r>
            <a:r>
              <a:rPr lang="zh-CN" altLang="en-US"/>
              <a:t>来源已整改，待</a:t>
            </a:r>
            <a:r>
              <a:rPr lang="en-US" altLang="zh-CN"/>
              <a:t>C</a:t>
            </a:r>
            <a:r>
              <a:rPr lang="zh-CN" altLang="en-US"/>
              <a:t>定向复验；真实项目验收继续延期。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tasks.md</a:t>
            </a:r>
          </a:p>
          <a:p>
            <a:r>
              <a:rPr lang="en-US" altLang="zh-CN"/>
              <a:t>docs/work/G6/g6_03_execution_baseline.md</a:t>
            </a:r>
          </a:p>
          <a:p>
            <a:r>
              <a:rPr lang="en-US" altLang="zh-CN"/>
              <a:t>control/overrides.md#OVR-039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0061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项目先后形成投标、需求、设计与研发成果。</a:t>
            </a:r>
            <a:r>
              <a:rPr lang="en-US" altLang="zh-CN"/>
              <a:t>G3</a:t>
            </a:r>
            <a:r>
              <a:rPr lang="zh-CN" altLang="en-US"/>
              <a:t>工程基线冻结为</a:t>
            </a:r>
            <a:r>
              <a:rPr lang="en-US" altLang="zh-CN"/>
              <a:t>BASELINE-G3-M3-R1.0</a:t>
            </a:r>
            <a:r>
              <a:rPr lang="zh-CN" altLang="en-US"/>
              <a:t>；</a:t>
            </a:r>
            <a:r>
              <a:rPr lang="en-US" altLang="zh-CN"/>
              <a:t>G4</a:t>
            </a:r>
            <a:r>
              <a:rPr lang="zh-CN" altLang="en-US"/>
              <a:t>任务在</a:t>
            </a:r>
            <a:r>
              <a:rPr lang="en-US" altLang="zh-CN"/>
              <a:t>master</a:t>
            </a:r>
            <a:r>
              <a:rPr lang="zh-CN" altLang="en-US"/>
              <a:t>收口。</a:t>
            </a:r>
            <a:r>
              <a:rPr lang="en-US" altLang="zh-CN"/>
              <a:t>G5-03</a:t>
            </a:r>
            <a:r>
              <a:rPr lang="zh-CN" altLang="en-US"/>
              <a:t>由</a:t>
            </a:r>
            <a:r>
              <a:rPr lang="en-US" altLang="zh-CN"/>
              <a:t>C</a:t>
            </a:r>
            <a:r>
              <a:rPr lang="zh-CN" altLang="en-US"/>
              <a:t>独立最终复核接受的是课程条件结论，真实实现、证据和环境延期仍在。</a:t>
            </a:r>
            <a:r>
              <a:rPr lang="en-US" altLang="zh-CN"/>
              <a:t>G6-01</a:t>
            </a:r>
            <a:r>
              <a:rPr lang="zh-CN" altLang="en-US"/>
              <a:t>已由</a:t>
            </a:r>
            <a:r>
              <a:rPr lang="en-US" altLang="zh-CN"/>
              <a:t>A</a:t>
            </a:r>
            <a:r>
              <a:rPr lang="zh-CN" altLang="en-US"/>
              <a:t>接受并</a:t>
            </a:r>
            <a:r>
              <a:rPr lang="en-US" altLang="zh-CN"/>
              <a:t>DONE</a:t>
            </a:r>
            <a:r>
              <a:rPr lang="zh-CN" altLang="en-US"/>
              <a:t>；</a:t>
            </a:r>
            <a:r>
              <a:rPr lang="en-US" altLang="zh-CN"/>
              <a:t>G6-02</a:t>
            </a:r>
            <a:r>
              <a:rPr lang="zh-CN" altLang="en-US"/>
              <a:t>已获</a:t>
            </a:r>
            <a:r>
              <a:rPr lang="en-US" altLang="zh-CN"/>
              <a:t>B</a:t>
            </a:r>
            <a:r>
              <a:rPr lang="zh-CN" altLang="en-US"/>
              <a:t>最终接受及</a:t>
            </a:r>
            <a:r>
              <a:rPr lang="en-US" altLang="zh-CN"/>
              <a:t>A</a:t>
            </a:r>
            <a:r>
              <a:rPr lang="zh-CN" altLang="en-US"/>
              <a:t>一致性接受并</a:t>
            </a:r>
            <a:r>
              <a:rPr lang="en-US" altLang="zh-CN"/>
              <a:t>DONE</a:t>
            </a:r>
            <a:r>
              <a:rPr lang="zh-CN" altLang="en-US"/>
              <a:t>。</a:t>
            </a:r>
            <a:r>
              <a:rPr lang="en-US" altLang="zh-CN"/>
              <a:t>C</a:t>
            </a:r>
            <a:r>
              <a:rPr lang="zh-CN" altLang="en-US"/>
              <a:t>已整体复核</a:t>
            </a:r>
            <a:r>
              <a:rPr lang="en-US" altLang="zh-CN"/>
              <a:t>G6-03</a:t>
            </a:r>
            <a:r>
              <a:rPr lang="zh-CN" altLang="en-US"/>
              <a:t>，结论</a:t>
            </a:r>
            <a:r>
              <a:rPr lang="en-US" altLang="zh-CN"/>
              <a:t>CHANGES_REQUIRED</a:t>
            </a:r>
            <a:r>
              <a:rPr lang="zh-CN" altLang="en-US"/>
              <a:t>，仅状态</a:t>
            </a:r>
            <a:r>
              <a:rPr lang="en-US" altLang="zh-CN"/>
              <a:t>/</a:t>
            </a:r>
            <a:r>
              <a:rPr lang="zh-CN" altLang="en-US"/>
              <a:t>来源整改待定向复验。不能把课程任务</a:t>
            </a:r>
            <a:r>
              <a:rPr lang="en-US" altLang="zh-CN"/>
              <a:t>DONE</a:t>
            </a:r>
            <a:r>
              <a:rPr lang="zh-CN" altLang="en-US"/>
              <a:t>当作</a:t>
            </a:r>
            <a:r>
              <a:rPr lang="en-US" altLang="zh-CN"/>
              <a:t>117</a:t>
            </a:r>
            <a:r>
              <a:rPr lang="zh-CN" altLang="en-US"/>
              <a:t>条验收条件全部通过。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tasks.md</a:t>
            </a:r>
          </a:p>
          <a:p>
            <a:r>
              <a:rPr lang="en-US" altLang="zh-CN"/>
              <a:t>control/baselines/BASELINE-G3-M3-R1.0.md</a:t>
            </a:r>
          </a:p>
          <a:p>
            <a:r>
              <a:rPr lang="en-US" altLang="zh-CN"/>
              <a:t>evidence/g5/G5-03/c-final-acceptance.json</a:t>
            </a:r>
          </a:p>
          <a:p>
            <a:r>
              <a:rPr lang="en-US" altLang="zh-CN"/>
              <a:t>evidence/g6/G6-02/b-review.json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8157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39 FR</a:t>
            </a:r>
            <a:r>
              <a:rPr lang="zh-CN" altLang="en-US"/>
              <a:t>、</a:t>
            </a:r>
            <a:r>
              <a:rPr lang="en-US" altLang="zh-CN"/>
              <a:t>34</a:t>
            </a:r>
            <a:r>
              <a:rPr lang="zh-CN" altLang="en-US"/>
              <a:t>项★</a:t>
            </a:r>
            <a:r>
              <a:rPr lang="en-US" altLang="zh-CN"/>
              <a:t>FR</a:t>
            </a:r>
            <a:r>
              <a:rPr lang="zh-CN" altLang="en-US"/>
              <a:t>和</a:t>
            </a:r>
            <a:r>
              <a:rPr lang="en-US" altLang="zh-CN"/>
              <a:t>117 AC</a:t>
            </a:r>
            <a:r>
              <a:rPr lang="zh-CN" altLang="en-US"/>
              <a:t>取自</a:t>
            </a:r>
            <a:r>
              <a:rPr lang="en-US" altLang="zh-CN"/>
              <a:t>G6-02</a:t>
            </a:r>
            <a:r>
              <a:rPr lang="zh-CN" altLang="en-US"/>
              <a:t>唯一指标账和</a:t>
            </a:r>
            <a:r>
              <a:rPr lang="en-US" altLang="zh-CN"/>
              <a:t>B</a:t>
            </a:r>
            <a:r>
              <a:rPr lang="zh-CN" altLang="en-US"/>
              <a:t>机械复验，不能将页面数、工作台数或套件通过数当作需求通过数。</a:t>
            </a:r>
            <a:r>
              <a:rPr lang="en-US" altLang="zh-CN"/>
              <a:t>H5</a:t>
            </a:r>
            <a:r>
              <a:rPr lang="zh-CN" altLang="en-US"/>
              <a:t>交付与宿主责任来源</a:t>
            </a:r>
            <a:r>
              <a:rPr lang="en-US" altLang="zh-CN"/>
              <a:t>F-008</a:t>
            </a:r>
            <a:r>
              <a:rPr lang="zh-CN" altLang="en-US"/>
              <a:t>，地图责任来源</a:t>
            </a:r>
            <a:r>
              <a:rPr lang="en-US" altLang="zh-CN"/>
              <a:t>F-009</a:t>
            </a:r>
            <a:r>
              <a:rPr lang="zh-CN" altLang="en-US"/>
              <a:t>，外部接口责任来源</a:t>
            </a:r>
            <a:r>
              <a:rPr lang="en-US" altLang="zh-CN"/>
              <a:t>F-005</a:t>
            </a:r>
            <a:r>
              <a:rPr lang="zh-CN" altLang="en-US"/>
              <a:t>。原型与演示数据可以解释页面，但不能充当正式数据库或甲方联调证据。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control/facts.md#F-005</a:t>
            </a:r>
          </a:p>
          <a:p>
            <a:r>
              <a:rPr lang="en-US" altLang="zh-CN"/>
              <a:t>control/facts.md#F-008</a:t>
            </a:r>
          </a:p>
          <a:p>
            <a:r>
              <a:rPr lang="en-US" altLang="zh-CN"/>
              <a:t>control/facts.md#F-009</a:t>
            </a:r>
          </a:p>
          <a:p>
            <a:r>
              <a:rPr lang="en-US" altLang="zh-CN"/>
              <a:t>control/key_numbers.md#KN-063</a:t>
            </a:r>
          </a:p>
          <a:p>
            <a:r>
              <a:rPr lang="en-US" altLang="zh-CN"/>
              <a:t>evidence/g6/G6-02/metrics-ledger.md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8862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本轮从</a:t>
            </a:r>
            <a:r>
              <a:rPr lang="en-US" altLang="zh-CN"/>
              <a:t>deaddc6</a:t>
            </a:r>
            <a:r>
              <a:rPr lang="zh-CN" altLang="en-US"/>
              <a:t>快照开始。启动时应用代码与</a:t>
            </a:r>
            <a:r>
              <a:rPr lang="en-US" altLang="zh-CN"/>
              <a:t>G6-01</a:t>
            </a:r>
            <a:r>
              <a:rPr lang="zh-CN" altLang="en-US"/>
              <a:t>发布快照</a:t>
            </a:r>
            <a:r>
              <a:rPr lang="en-US" altLang="zh-CN"/>
              <a:t>beb605f</a:t>
            </a:r>
            <a:r>
              <a:rPr lang="zh-CN" altLang="en-US"/>
              <a:t>的</a:t>
            </a:r>
            <a:r>
              <a:rPr lang="en-US" altLang="zh-CN"/>
              <a:t>Git</a:t>
            </a:r>
            <a:r>
              <a:rPr lang="zh-CN" altLang="en-US"/>
              <a:t>差异为零，证据在</a:t>
            </a:r>
            <a:r>
              <a:rPr lang="en-US" altLang="zh-CN"/>
              <a:t>input-manifest</a:t>
            </a:r>
            <a:r>
              <a:rPr lang="zh-CN" altLang="en-US"/>
              <a:t>。实际试演发现</a:t>
            </a:r>
            <a:r>
              <a:rPr lang="en-US" altLang="zh-CN"/>
              <a:t>H5</a:t>
            </a:r>
            <a:r>
              <a:rPr lang="zh-CN" altLang="en-US"/>
              <a:t>进度显示问题后透明登记</a:t>
            </a:r>
            <a:r>
              <a:rPr lang="en-US" altLang="zh-CN"/>
              <a:t>Issue</a:t>
            </a:r>
            <a:r>
              <a:rPr lang="zh-CN" altLang="en-US"/>
              <a:t>，仅修正进度映射并新增回归断言，</a:t>
            </a:r>
            <a:r>
              <a:rPr lang="en-US" altLang="zh-CN"/>
              <a:t>quality</a:t>
            </a:r>
            <a:r>
              <a:rPr lang="zh-CN" altLang="en-US"/>
              <a:t>与完整试演复跑。新候选使用</a:t>
            </a:r>
            <a:r>
              <a:rPr lang="en-US" altLang="zh-CN"/>
              <a:t>rehearsal-release-lock</a:t>
            </a:r>
            <a:r>
              <a:rPr lang="zh-CN" altLang="en-US"/>
              <a:t>的文件哈希，不把新结果挂回旧</a:t>
            </a:r>
            <a:r>
              <a:rPr lang="en-US" altLang="zh-CN"/>
              <a:t>commit</a:t>
            </a:r>
            <a:r>
              <a:rPr lang="zh-CN" altLang="en-US"/>
              <a:t>。生产设计使用</a:t>
            </a:r>
            <a:r>
              <a:rPr lang="en-US" altLang="zh-CN"/>
              <a:t>PostgreSQL</a:t>
            </a:r>
            <a:r>
              <a:rPr lang="zh-CN" altLang="en-US"/>
              <a:t>与持久</a:t>
            </a:r>
            <a:r>
              <a:rPr lang="en-US" altLang="zh-CN"/>
              <a:t>Outbox</a:t>
            </a:r>
            <a:r>
              <a:rPr lang="zh-CN" altLang="en-US"/>
              <a:t>；本轮采用现有后端内存路径，注入模拟身份、消息和预案端口，不证明持久化或崩溃恢复。</a:t>
            </a:r>
            <a:r>
              <a:rPr lang="en-US" altLang="zh-CN"/>
              <a:t>ADR</a:t>
            </a:r>
            <a:r>
              <a:rPr lang="zh-CN" altLang="en-US"/>
              <a:t>接受不等于全部机制已被本轮验证。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evidence/g6/G6-01/release-lock.json</a:t>
            </a:r>
          </a:p>
          <a:p>
            <a:r>
              <a:rPr lang="en-US" altLang="zh-CN"/>
              <a:t>evidence/g6/G6-03/input-manifest.json</a:t>
            </a:r>
          </a:p>
          <a:p>
            <a:r>
              <a:rPr lang="en-US" altLang="zh-CN"/>
              <a:t>evidence/g6/G6-03/rehearsal-release-lock.json</a:t>
            </a:r>
          </a:p>
          <a:p>
            <a:r>
              <a:rPr lang="en-US" altLang="zh-CN"/>
              <a:t>backend/src/server.mjs</a:t>
            </a:r>
          </a:p>
          <a:p>
            <a:r>
              <a:rPr lang="en-US" altLang="zh-CN"/>
              <a:t>frontend/src/main.ts</a:t>
            </a:r>
          </a:p>
          <a:p>
            <a:r>
              <a:rPr lang="en-US" altLang="zh-CN"/>
              <a:t>docs/work/B_TECH/adr/ADR-001-</a:t>
            </a:r>
            <a:r>
              <a:rPr lang="zh-CN" altLang="en-US"/>
              <a:t>应用拆分与部署单元</a:t>
            </a:r>
            <a:r>
              <a:rPr lang="en-US" altLang="zh-CN"/>
              <a:t>.md</a:t>
            </a:r>
          </a:p>
          <a:p>
            <a:r>
              <a:rPr lang="en-US" altLang="zh-CN"/>
              <a:t>docs/work/B_TECH/adr/ADR-002-</a:t>
            </a:r>
            <a:r>
              <a:rPr lang="zh-CN" altLang="en-US"/>
              <a:t>事务</a:t>
            </a:r>
            <a:r>
              <a:rPr lang="en-US" altLang="zh-CN"/>
              <a:t>Outbox</a:t>
            </a:r>
            <a:r>
              <a:rPr lang="zh-CN" altLang="en-US"/>
              <a:t>与持久任务</a:t>
            </a:r>
            <a:r>
              <a:rPr lang="en-US" altLang="zh-CN"/>
              <a:t>.md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68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G6-02</a:t>
            </a:r>
            <a:r>
              <a:rPr lang="zh-CN" altLang="en-US"/>
              <a:t>账本与</a:t>
            </a:r>
            <a:r>
              <a:rPr lang="en-US" altLang="zh-CN"/>
              <a:t>G5</a:t>
            </a:r>
            <a:r>
              <a:rPr lang="zh-CN" altLang="en-US"/>
              <a:t>最终</a:t>
            </a:r>
            <a:r>
              <a:rPr lang="en-US" altLang="zh-CN"/>
              <a:t>Review</a:t>
            </a:r>
            <a:r>
              <a:rPr lang="zh-CN" altLang="en-US"/>
              <a:t>一致：</a:t>
            </a:r>
            <a:r>
              <a:rPr lang="en-US" altLang="zh-CN"/>
              <a:t>39 FR</a:t>
            </a:r>
            <a:r>
              <a:rPr lang="zh-CN" altLang="en-US"/>
              <a:t>、</a:t>
            </a:r>
            <a:r>
              <a:rPr lang="en-US" altLang="zh-CN"/>
              <a:t>34</a:t>
            </a:r>
            <a:r>
              <a:rPr lang="zh-CN" altLang="en-US"/>
              <a:t>项★</a:t>
            </a:r>
            <a:r>
              <a:rPr lang="en-US" altLang="zh-CN"/>
              <a:t>FR</a:t>
            </a:r>
            <a:r>
              <a:rPr lang="zh-CN" altLang="en-US"/>
              <a:t>、</a:t>
            </a:r>
            <a:r>
              <a:rPr lang="en-US" altLang="zh-CN"/>
              <a:t>117 AC</a:t>
            </a:r>
            <a:r>
              <a:rPr lang="zh-CN" altLang="en-US"/>
              <a:t>。</a:t>
            </a:r>
            <a:r>
              <a:rPr lang="en-US" altLang="zh-CN"/>
              <a:t>PASS 11</a:t>
            </a:r>
            <a:r>
              <a:rPr lang="zh-CN" altLang="en-US"/>
              <a:t>、</a:t>
            </a:r>
            <a:r>
              <a:rPr lang="en-US" altLang="zh-CN"/>
              <a:t>NOT_RUN 59</a:t>
            </a:r>
            <a:r>
              <a:rPr lang="zh-CN" altLang="en-US"/>
              <a:t>、</a:t>
            </a:r>
            <a:r>
              <a:rPr lang="en-US" altLang="zh-CN"/>
              <a:t>BLOCKED 47</a:t>
            </a:r>
            <a:r>
              <a:rPr lang="zh-CN" altLang="en-US"/>
              <a:t>。完整通过的★</a:t>
            </a:r>
            <a:r>
              <a:rPr lang="en-US" altLang="zh-CN"/>
              <a:t>FR</a:t>
            </a:r>
            <a:r>
              <a:rPr lang="zh-CN" altLang="en-US"/>
              <a:t>只有</a:t>
            </a:r>
            <a:r>
              <a:rPr lang="en-US" altLang="zh-CN"/>
              <a:t>1</a:t>
            </a:r>
            <a:r>
              <a:rPr lang="zh-CN" altLang="en-US"/>
              <a:t>项，</a:t>
            </a:r>
            <a:r>
              <a:rPr lang="en-US" altLang="zh-CN"/>
              <a:t>33</a:t>
            </a:r>
            <a:r>
              <a:rPr lang="zh-CN" altLang="en-US"/>
              <a:t>项仍</a:t>
            </a:r>
            <a:r>
              <a:rPr lang="en-US" altLang="zh-CN"/>
              <a:t>BLOCKED</a:t>
            </a:r>
            <a:r>
              <a:rPr lang="zh-CN" altLang="en-US"/>
              <a:t>。性能</a:t>
            </a:r>
            <a:r>
              <a:rPr lang="en-US" altLang="zh-CN"/>
              <a:t>1160</a:t>
            </a:r>
            <a:r>
              <a:rPr lang="zh-CN" altLang="en-US"/>
              <a:t>样本来自</a:t>
            </a:r>
            <a:r>
              <a:rPr lang="en-US" altLang="zh-CN"/>
              <a:t>8</a:t>
            </a:r>
            <a:r>
              <a:rPr lang="zh-CN" altLang="en-US"/>
              <a:t>组本地内存</a:t>
            </a:r>
            <a:r>
              <a:rPr lang="en-US" altLang="zh-CN"/>
              <a:t>HTTP</a:t>
            </a:r>
            <a:r>
              <a:rPr lang="zh-CN" altLang="en-US"/>
              <a:t>和模拟适配，</a:t>
            </a:r>
            <a:r>
              <a:rPr lang="en-US" altLang="zh-CN"/>
              <a:t>0</a:t>
            </a:r>
            <a:r>
              <a:rPr lang="zh-CN" altLang="en-US"/>
              <a:t>失败也不能推断生产</a:t>
            </a:r>
            <a:r>
              <a:rPr lang="en-US" altLang="zh-CN"/>
              <a:t>SLA</a:t>
            </a:r>
            <a:r>
              <a:rPr lang="zh-CN" altLang="en-US"/>
              <a:t>或目标规模已通过。本轮试演增加的是具体路径证据，不改写这份历史分母或结果。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evidence/g6/G6-02/metrics-ledger.md</a:t>
            </a:r>
          </a:p>
          <a:p>
            <a:r>
              <a:rPr lang="en-US" altLang="zh-CN"/>
              <a:t>evidence/g6/G6-02/b-review.json</a:t>
            </a:r>
          </a:p>
          <a:p>
            <a:r>
              <a:rPr lang="en-US" altLang="zh-CN"/>
              <a:t>evidence/g5/G5-03/c-final-acceptance.json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1250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唯一交付索引由</a:t>
            </a:r>
            <a:r>
              <a:rPr lang="en-US" altLang="zh-CN"/>
              <a:t>C</a:t>
            </a:r>
            <a:r>
              <a:rPr lang="zh-CN" altLang="en-US"/>
              <a:t>维护，首版为</a:t>
            </a:r>
            <a:r>
              <a:rPr lang="en-US" altLang="zh-CN"/>
              <a:t>29</a:t>
            </a:r>
            <a:r>
              <a:rPr lang="zh-CN" altLang="en-US"/>
              <a:t>项，其中</a:t>
            </a:r>
            <a:r>
              <a:rPr lang="en-US" altLang="zh-CN"/>
              <a:t>20</a:t>
            </a:r>
            <a:r>
              <a:rPr lang="zh-CN" altLang="en-US"/>
              <a:t>可用、</a:t>
            </a:r>
            <a:r>
              <a:rPr lang="en-US" altLang="zh-CN"/>
              <a:t>9</a:t>
            </a:r>
            <a:r>
              <a:rPr lang="zh-CN" altLang="en-US"/>
              <a:t>缺项，这是首版存在性快照，不是当前齐套或验收通过率。本轮不修改</a:t>
            </a:r>
            <a:r>
              <a:rPr lang="en-US" altLang="zh-CN"/>
              <a:t>C</a:t>
            </a:r>
            <a:r>
              <a:rPr lang="zh-CN" altLang="en-US"/>
              <a:t>的索引和</a:t>
            </a:r>
            <a:r>
              <a:rPr lang="en-US" altLang="zh-CN"/>
              <a:t>RTM</a:t>
            </a:r>
            <a:r>
              <a:rPr lang="zh-CN" altLang="en-US"/>
              <a:t>，提供一份行级增量交接请求。</a:t>
            </a:r>
            <a:r>
              <a:rPr lang="en-US" altLang="zh-CN"/>
              <a:t>G6-01 V0.2</a:t>
            </a:r>
            <a:r>
              <a:rPr lang="zh-CN" altLang="en-US"/>
              <a:t>及</a:t>
            </a:r>
            <a:r>
              <a:rPr lang="en-US" altLang="zh-CN"/>
              <a:t>26</a:t>
            </a:r>
            <a:r>
              <a:rPr lang="zh-CN" altLang="en-US"/>
              <a:t>步命令证据已由</a:t>
            </a:r>
            <a:r>
              <a:rPr lang="en-US" altLang="zh-CN"/>
              <a:t>A</a:t>
            </a:r>
            <a:r>
              <a:rPr lang="zh-CN" altLang="en-US"/>
              <a:t>接受；</a:t>
            </a:r>
            <a:r>
              <a:rPr lang="en-US" altLang="zh-CN"/>
              <a:t>G6-02</a:t>
            </a:r>
            <a:r>
              <a:rPr lang="zh-CN" altLang="en-US"/>
              <a:t>最终审计经</a:t>
            </a:r>
            <a:r>
              <a:rPr lang="en-US" altLang="zh-CN"/>
              <a:t>B</a:t>
            </a:r>
            <a:r>
              <a:rPr lang="zh-CN" altLang="en-US"/>
              <a:t>再复验与</a:t>
            </a:r>
            <a:r>
              <a:rPr lang="en-US" altLang="zh-CN"/>
              <a:t>A</a:t>
            </a:r>
            <a:r>
              <a:rPr lang="zh-CN" altLang="en-US"/>
              <a:t>一致性复验接受。首版</a:t>
            </a:r>
            <a:r>
              <a:rPr lang="en-US" altLang="zh-CN"/>
              <a:t>29</a:t>
            </a:r>
            <a:r>
              <a:rPr lang="zh-CN" altLang="en-US"/>
              <a:t>项快照保留，增量</a:t>
            </a:r>
            <a:r>
              <a:rPr lang="en-US" altLang="zh-CN"/>
              <a:t>GI</a:t>
            </a:r>
            <a:r>
              <a:rPr lang="zh-CN" altLang="en-US"/>
              <a:t>三段</a:t>
            </a:r>
            <a:r>
              <a:rPr lang="en-US" altLang="zh-CN"/>
              <a:t>21/18/11</a:t>
            </a:r>
            <a:r>
              <a:rPr lang="zh-CN" altLang="en-US"/>
              <a:t>分列。此次修订作为后续增量交接，不倒改已锁历史指纹。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evidence/g6/G6-02/delivery-index.json</a:t>
            </a:r>
          </a:p>
          <a:p>
            <a:r>
              <a:rPr lang="en-US" altLang="zh-CN"/>
              <a:t>evidence/g6/G6-02/b-review.json</a:t>
            </a:r>
          </a:p>
          <a:p>
            <a:r>
              <a:rPr lang="en-US" altLang="zh-CN"/>
              <a:t>tasks.md</a:t>
            </a:r>
          </a:p>
          <a:p>
            <a:r>
              <a:rPr lang="en-US" altLang="zh-CN"/>
              <a:t>evidence/g6/G6-01/command-execution-ledger.md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24223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上述场景、标题、任务、角色都是本轮按用户授权生成的模拟输入，不是仓库事实源中的真实事故或真实人员。实际时间来自机器运行，数据发生时间也是生成输入的一部分。操作使用生产构建的前端、当前后端</a:t>
            </a:r>
            <a:r>
              <a:rPr lang="en-US" altLang="zh-CN"/>
              <a:t>HTTP</a:t>
            </a:r>
            <a:r>
              <a:rPr lang="zh-CN" altLang="en-US"/>
              <a:t>和真实浏览器，保留原始请求响应和审计。</a:t>
            </a:r>
            <a:r>
              <a:rPr lang="en-US" altLang="zh-CN"/>
              <a:t>health</a:t>
            </a:r>
            <a:r>
              <a:rPr lang="zh-CN" altLang="en-US"/>
              <a:t>为</a:t>
            </a:r>
            <a:r>
              <a:rPr lang="en-US" altLang="zh-CN"/>
              <a:t>200</a:t>
            </a:r>
            <a:r>
              <a:rPr lang="zh-CN" altLang="en-US"/>
              <a:t>；没有数据库的</a:t>
            </a:r>
            <a:r>
              <a:rPr lang="en-US" altLang="zh-CN"/>
              <a:t>ready</a:t>
            </a:r>
            <a:r>
              <a:rPr lang="zh-CN" altLang="en-US"/>
              <a:t>明确</a:t>
            </a:r>
            <a:r>
              <a:rPr lang="en-US" altLang="zh-CN"/>
              <a:t>503</a:t>
            </a:r>
            <a:r>
              <a:rPr lang="zh-CN" altLang="en-US"/>
              <a:t>，不能称数据库就绪或生产部署通过。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evidence/g6/G6-03/simulated-dataset.json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control/overrides.md#OVR-039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03484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切换到</a:t>
            </a:r>
            <a:r>
              <a:rPr lang="en-US" altLang="zh-CN"/>
              <a:t>Web</a:t>
            </a:r>
            <a:r>
              <a:rPr lang="zh-CN" altLang="en-US"/>
              <a:t>事件页面，先展示底部模拟标识。本轮事件由实际页面表单提交，核实和启动通过实际</a:t>
            </a:r>
            <a:r>
              <a:rPr lang="en-US" altLang="zh-CN"/>
              <a:t>HTTP</a:t>
            </a:r>
            <a:r>
              <a:rPr lang="zh-CN" altLang="en-US"/>
              <a:t>执行。服务端生成任务并返回</a:t>
            </a:r>
            <a:r>
              <a:rPr lang="en-US" altLang="zh-CN"/>
              <a:t>RESPONDING</a:t>
            </a:r>
            <a:r>
              <a:rPr lang="zh-CN" altLang="en-US"/>
              <a:t>，当前页面重新加载显示相同状态。这里核实的人物和灾情都是模拟输入，自动任务消息回执也是明确模拟端口返回，不代表短信或甲方</a:t>
            </a:r>
            <a:r>
              <a:rPr lang="en-US" altLang="zh-CN"/>
              <a:t>APP</a:t>
            </a:r>
            <a:r>
              <a:rPr lang="zh-CN" altLang="en-US"/>
              <a:t>已送达。截图来自本轮成功闭环的同一</a:t>
            </a:r>
            <a:r>
              <a:rPr lang="en-US" altLang="zh-CN"/>
              <a:t>runId</a:t>
            </a:r>
            <a:r>
              <a:rPr lang="zh-CN" altLang="en-US"/>
              <a:t>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evidence/g6/G6-03/simulated-dataset.json</a:t>
            </a:r>
          </a:p>
          <a:p>
            <a:r>
              <a:rPr lang="en-US" altLang="zh-CN"/>
              <a:t>scripts/g6/run-g6-03-rehearsal.mjs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9503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H5</a:t>
            </a:r>
            <a:r>
              <a:rPr lang="zh-CN" altLang="en-US"/>
              <a:t>接收和反馈按钮在实际浏览器中执行。旧候选后端反馈保存</a:t>
            </a:r>
            <a:r>
              <a:rPr lang="en-US" altLang="zh-CN"/>
              <a:t>60</a:t>
            </a:r>
            <a:r>
              <a:rPr lang="zh-CN" altLang="en-US"/>
              <a:t>，页面显示</a:t>
            </a:r>
            <a:r>
              <a:rPr lang="en-US" altLang="zh-CN"/>
              <a:t>0</a:t>
            </a:r>
            <a:r>
              <a:rPr lang="zh-CN" altLang="en-US"/>
              <a:t>，原因是映射漏读反馈数组。本轮登记</a:t>
            </a:r>
            <a:r>
              <a:rPr lang="en-US" altLang="zh-CN"/>
              <a:t>Issue</a:t>
            </a:r>
            <a:r>
              <a:rPr lang="zh-CN" altLang="en-US"/>
              <a:t>后仅修正映射，并用回归断言保护显式零值；完整</a:t>
            </a:r>
            <a:r>
              <a:rPr lang="en-US" altLang="zh-CN"/>
              <a:t>quality</a:t>
            </a:r>
            <a:r>
              <a:rPr lang="zh-CN" altLang="en-US"/>
              <a:t>及</a:t>
            </a:r>
            <a:r>
              <a:rPr lang="en-US" altLang="zh-CN"/>
              <a:t>Web/H5</a:t>
            </a:r>
            <a:r>
              <a:rPr lang="zh-CN" altLang="en-US"/>
              <a:t>正常异常路径重跑。最新截图和原始响应均显示</a:t>
            </a:r>
            <a:r>
              <a:rPr lang="en-US" altLang="zh-CN"/>
              <a:t>60</a:t>
            </a:r>
            <a:r>
              <a:rPr lang="zh-CN" altLang="en-US"/>
              <a:t>，任务为</a:t>
            </a:r>
            <a:r>
              <a:rPr lang="en-US" altLang="zh-CN"/>
              <a:t>IN_PROGRESS</a:t>
            </a:r>
            <a:r>
              <a:rPr lang="zh-CN" altLang="en-US"/>
              <a:t>。旧</a:t>
            </a:r>
            <a:r>
              <a:rPr lang="en-US" altLang="zh-CN"/>
              <a:t>FAIL</a:t>
            </a:r>
            <a:r>
              <a:rPr lang="zh-CN" altLang="en-US"/>
              <a:t>与带问题试演保留，</a:t>
            </a:r>
            <a:r>
              <a:rPr lang="en-US" altLang="zh-CN"/>
              <a:t>B</a:t>
            </a:r>
            <a:r>
              <a:rPr lang="zh-CN" altLang="en-US"/>
              <a:t>技术确认和</a:t>
            </a:r>
            <a:r>
              <a:rPr lang="en-US" altLang="zh-CN"/>
              <a:t>C</a:t>
            </a:r>
            <a:r>
              <a:rPr lang="zh-CN" altLang="en-US"/>
              <a:t>独立复演均有实际记录；问题已</a:t>
            </a:r>
            <a:r>
              <a:rPr lang="en-US" altLang="zh-CN"/>
              <a:t>CLOSED / VERIFIED_BY_B_AND_C</a:t>
            </a:r>
            <a:r>
              <a:rPr lang="zh-CN" altLang="en-US"/>
              <a:t>。当前</a:t>
            </a:r>
            <a:r>
              <a:rPr lang="en-US" altLang="zh-CN"/>
              <a:t>002</a:t>
            </a:r>
            <a:r>
              <a:rPr lang="zh-CN" altLang="en-US"/>
              <a:t>状态</a:t>
            </a:r>
            <a:r>
              <a:rPr lang="en-US" altLang="zh-CN"/>
              <a:t>/</a:t>
            </a:r>
            <a:r>
              <a:rPr lang="zh-CN" altLang="en-US"/>
              <a:t>来源修订仍待</a:t>
            </a:r>
            <a:r>
              <a:rPr lang="en-US" altLang="zh-CN"/>
              <a:t>C</a:t>
            </a:r>
            <a:r>
              <a:rPr lang="zh-CN" altLang="en-US"/>
              <a:t>定向复验。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evidence/g6/G6-03/quality-gate.log</a:t>
            </a:r>
          </a:p>
          <a:p>
            <a:r>
              <a:rPr lang="en-US" altLang="zh-CN"/>
              <a:t>frontend/src/features/response/workflow.ts</a:t>
            </a:r>
          </a:p>
          <a:p>
            <a:r>
              <a:rPr lang="en-US" altLang="zh-CN"/>
              <a:t>backend/src/event-workflow.mjs</a:t>
            </a:r>
          </a:p>
          <a:p>
            <a:r>
              <a:rPr lang="en-US" altLang="zh-CN"/>
              <a:t>control/issues.md#ISSUE-G6-03-001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80520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异常分支通过真实状态变化制造：页面仍持有旧版本，另一终端已经接收同一任务。随后点击旧页面接收按钮，服务器实际返回</a:t>
            </a:r>
            <a:r>
              <a:rPr lang="en-US" altLang="zh-CN"/>
              <a:t>409</a:t>
            </a:r>
            <a:r>
              <a:rPr lang="zh-CN" altLang="en-US"/>
              <a:t>，页面显示冲突信息与</a:t>
            </a:r>
            <a:r>
              <a:rPr lang="en-US" altLang="zh-CN"/>
              <a:t>traceId</a:t>
            </a:r>
            <a:r>
              <a:rPr lang="zh-CN" altLang="en-US"/>
              <a:t>。另有事件启动旧版本请求同样返回</a:t>
            </a:r>
            <a:r>
              <a:rPr lang="en-US" altLang="zh-CN"/>
              <a:t>409</a:t>
            </a:r>
            <a:r>
              <a:rPr lang="zh-CN" altLang="en-US"/>
              <a:t>。这是模拟业务输入下的真实异常运行，不是手工画出的错误截图。故障处置为刷新核对版本，不重复盲提交；门禁等物理控制不纳入这次异常验证。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scripts/g6/run-g6-03-rehearsal.mjs</a:t>
            </a:r>
          </a:p>
          <a:p>
            <a:r>
              <a:rPr lang="en-US" altLang="zh-CN"/>
              <a:t>docs/work/B_TECH/g6_user_manual.md#7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7211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权限验证分两层：只读模拟角色对事件写入</a:t>
            </a:r>
            <a:r>
              <a:rPr lang="en-US" altLang="zh-CN"/>
              <a:t>API</a:t>
            </a:r>
            <a:r>
              <a:rPr lang="zh-CN" altLang="en-US"/>
              <a:t>发起实际请求，后端返回</a:t>
            </a:r>
            <a:r>
              <a:rPr lang="en-US" altLang="zh-CN"/>
              <a:t>403</a:t>
            </a:r>
            <a:r>
              <a:rPr lang="zh-CN" altLang="en-US"/>
              <a:t>，拒绝前后的事件数量没有增加；只读角色打开缺少</a:t>
            </a:r>
            <a:r>
              <a:rPr lang="en-US" altLang="zh-CN"/>
              <a:t>plan:read</a:t>
            </a:r>
            <a:r>
              <a:rPr lang="zh-CN" altLang="en-US"/>
              <a:t>权限的页面，路由守卫转到无访问权限页面。原始审计含</a:t>
            </a:r>
            <a:r>
              <a:rPr lang="en-US" altLang="zh-CN"/>
              <a:t>denied</a:t>
            </a:r>
            <a:r>
              <a:rPr lang="zh-CN" altLang="en-US"/>
              <a:t>。注入模拟</a:t>
            </a:r>
            <a:r>
              <a:rPr lang="en-US" altLang="zh-CN"/>
              <a:t>Bearer</a:t>
            </a:r>
            <a:r>
              <a:rPr lang="zh-CN" altLang="en-US"/>
              <a:t>只为本地试演，未使用开发身份头绕过生产约束，不构成甲方真实统一身份平台验收。</a:t>
            </a:r>
            <a:r>
              <a:rPr lang="en-US" altLang="zh-CN"/>
              <a:t>A</a:t>
            </a:r>
            <a:r>
              <a:rPr lang="zh-CN" altLang="en-US"/>
              <a:t>负责叙事、</a:t>
            </a:r>
            <a:r>
              <a:rPr lang="en-US" altLang="zh-CN"/>
              <a:t>B</a:t>
            </a:r>
            <a:r>
              <a:rPr lang="zh-CN" altLang="en-US"/>
              <a:t>负责技术边界、</a:t>
            </a:r>
            <a:r>
              <a:rPr lang="en-US" altLang="zh-CN"/>
              <a:t>C</a:t>
            </a:r>
            <a:r>
              <a:rPr lang="zh-CN" altLang="en-US"/>
              <a:t>负责数字与证据复核。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backend/src/identity.mjs</a:t>
            </a:r>
          </a:p>
          <a:p>
            <a:r>
              <a:rPr lang="en-US" altLang="zh-CN"/>
              <a:t>frontend/src/router/index.ts</a:t>
            </a:r>
          </a:p>
          <a:p>
            <a:r>
              <a:rPr lang="en-US" altLang="zh-CN"/>
              <a:t>docs/work/B_TECH/g6_user_manual.md#3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91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当前后端实际完成两条任务，关闭事件并在</a:t>
            </a:r>
            <a:r>
              <a:rPr lang="en-US" altLang="zh-CN"/>
              <a:t>Web</a:t>
            </a:r>
            <a:r>
              <a:rPr lang="zh-CN" altLang="en-US"/>
              <a:t>页面显示</a:t>
            </a:r>
            <a:r>
              <a:rPr lang="en-US" altLang="zh-CN"/>
              <a:t>CLOSED</a:t>
            </a:r>
            <a:r>
              <a:rPr lang="zh-CN" altLang="en-US"/>
              <a:t>。本轮自动化运行耗时</a:t>
            </a:r>
            <a:r>
              <a:rPr lang="en-US" altLang="zh-CN"/>
              <a:t>3.983</a:t>
            </a:r>
            <a:r>
              <a:rPr lang="zh-CN" altLang="en-US"/>
              <a:t>秒，来自机器计时，不是人的现场讲述时长，也不能说明性能</a:t>
            </a:r>
            <a:r>
              <a:rPr lang="en-US" altLang="zh-CN"/>
              <a:t>SLA</a:t>
            </a:r>
            <a:r>
              <a:rPr lang="zh-CN" altLang="en-US"/>
              <a:t>。整改后本轮结果为</a:t>
            </a:r>
            <a:r>
              <a:rPr lang="en-US" altLang="zh-CN"/>
              <a:t>PASS</a:t>
            </a:r>
            <a:r>
              <a:rPr lang="zh-CN" altLang="en-US"/>
              <a:t>，</a:t>
            </a:r>
            <a:r>
              <a:rPr lang="en-US" altLang="zh-CN"/>
              <a:t>H5</a:t>
            </a:r>
            <a:r>
              <a:rPr lang="zh-CN" altLang="en-US"/>
              <a:t>显示和其他路径实际断言见原始记录。此前记录器</a:t>
            </a:r>
            <a:r>
              <a:rPr lang="en-US" altLang="zh-CN"/>
              <a:t>404</a:t>
            </a:r>
            <a:r>
              <a:rPr lang="zh-CN" altLang="en-US"/>
              <a:t>和进度问题失败均保留，没有隐藏或把整个过程写成一次成功。</a:t>
            </a:r>
            <a:r>
              <a:rPr lang="en-US" altLang="zh-CN"/>
              <a:t>PASS</a:t>
            </a:r>
            <a:r>
              <a:rPr lang="zh-CN" altLang="en-US"/>
              <a:t>仅描述本轮模拟试演自检，不能替代</a:t>
            </a:r>
            <a:r>
              <a:rPr lang="en-US" altLang="zh-CN"/>
              <a:t>C</a:t>
            </a:r>
            <a:r>
              <a:rPr lang="zh-CN" altLang="en-US"/>
              <a:t>整体复核或真实项目验收。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evidence/g6/G6-03/raw/</a:t>
            </a:r>
          </a:p>
          <a:p>
            <a:r>
              <a:rPr lang="en-US" altLang="zh-CN"/>
              <a:t>control/issues.md#ISSUE-G6-03-001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25798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H5</a:t>
            </a:r>
            <a:r>
              <a:rPr lang="zh-CN" altLang="en-US"/>
              <a:t>进度显示问题属于本轮新增技术输入。</a:t>
            </a:r>
            <a:r>
              <a:rPr lang="en-US" altLang="zh-CN"/>
              <a:t>G5</a:t>
            </a:r>
            <a:r>
              <a:rPr lang="zh-CN" altLang="en-US"/>
              <a:t>的</a:t>
            </a:r>
            <a:r>
              <a:rPr lang="en-US" altLang="zh-CN"/>
              <a:t>30</a:t>
            </a:r>
            <a:r>
              <a:rPr lang="zh-CN" altLang="en-US"/>
              <a:t>条</a:t>
            </a:r>
            <a:r>
              <a:rPr lang="en-US" altLang="zh-CN"/>
              <a:t>AC</a:t>
            </a:r>
            <a:r>
              <a:rPr lang="zh-CN" altLang="en-US"/>
              <a:t>实现延期、其余</a:t>
            </a:r>
            <a:r>
              <a:rPr lang="en-US" altLang="zh-CN"/>
              <a:t>76</a:t>
            </a:r>
            <a:r>
              <a:rPr lang="zh-CN" altLang="en-US"/>
              <a:t>条</a:t>
            </a:r>
            <a:r>
              <a:rPr lang="en-US" altLang="zh-CN"/>
              <a:t>AC</a:t>
            </a:r>
            <a:r>
              <a:rPr lang="zh-CN" altLang="en-US"/>
              <a:t>证据延期继续保留，六类甲方系统真实联调</a:t>
            </a:r>
            <a:r>
              <a:rPr lang="en-US" altLang="zh-CN"/>
              <a:t>0/6</a:t>
            </a:r>
            <a:r>
              <a:rPr lang="zh-CN" altLang="en-US"/>
              <a:t>、真实非乙方部署操作者</a:t>
            </a:r>
            <a:r>
              <a:rPr lang="en-US" altLang="zh-CN"/>
              <a:t>0</a:t>
            </a:r>
            <a:r>
              <a:rPr lang="zh-CN" altLang="en-US"/>
              <a:t>也未改变。</a:t>
            </a:r>
            <a:r>
              <a:rPr lang="en-US" altLang="zh-CN"/>
              <a:t>AI</a:t>
            </a:r>
            <a:r>
              <a:rPr lang="zh-CN" altLang="en-US"/>
              <a:t>代码占比、首审打回率、</a:t>
            </a:r>
            <a:r>
              <a:rPr lang="en-US" altLang="zh-CN"/>
              <a:t>Prompt</a:t>
            </a:r>
            <a:r>
              <a:rPr lang="zh-CN" altLang="en-US"/>
              <a:t>复用次数和返工工时尚无可靠归因样本，账本为</a:t>
            </a:r>
            <a:r>
              <a:rPr lang="en-US" altLang="zh-CN"/>
              <a:t>UNKNOWN</a:t>
            </a:r>
            <a:r>
              <a:rPr lang="zh-CN" altLang="en-US"/>
              <a:t>，不写零或虚构比例。现场意见和实际签署尚未发生，材料只能作为候选。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control/issues.md</a:t>
            </a:r>
          </a:p>
          <a:p>
            <a:r>
              <a:rPr lang="en-US" altLang="zh-CN"/>
              <a:t>evidence/g6/G6-02/gaps-deferrals.md</a:t>
            </a:r>
          </a:p>
          <a:p>
            <a:r>
              <a:rPr lang="en-US" altLang="zh-CN"/>
              <a:t>evidence/g6/G6-02/metrics-ledger.md</a:t>
            </a:r>
          </a:p>
          <a:p>
            <a:r>
              <a:rPr lang="en-US" altLang="zh-CN"/>
              <a:t>evidence/g6/G6-03/rehearsal-result.json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1115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现场执行前核对版本、前端构建、模拟标识和权限。服务不可用时停止写操作，记录真实失败，不临场升级或改代码；改用本轮已归档截图和原始记录，明确是备用证据而非现场成功。若出现</a:t>
            </a:r>
            <a:r>
              <a:rPr lang="en-US" altLang="zh-CN"/>
              <a:t>409</a:t>
            </a:r>
            <a:r>
              <a:rPr lang="zh-CN" altLang="en-US"/>
              <a:t>，刷新并核对版本；</a:t>
            </a:r>
            <a:r>
              <a:rPr lang="en-US" altLang="zh-CN"/>
              <a:t>403</a:t>
            </a:r>
            <a:r>
              <a:rPr lang="zh-CN" altLang="en-US"/>
              <a:t>检查权限，不能借用他人账号。消息失败转人工确认，物理门禁控制禁止自动重放。</a:t>
            </a:r>
            <a:r>
              <a:rPr lang="en-US" altLang="zh-CN"/>
              <a:t>G6-01 A</a:t>
            </a:r>
            <a:r>
              <a:rPr lang="zh-CN" altLang="en-US"/>
              <a:t>接受及</a:t>
            </a:r>
            <a:r>
              <a:rPr lang="en-US" altLang="zh-CN"/>
              <a:t>G6-02 B/A</a:t>
            </a:r>
            <a:r>
              <a:rPr lang="zh-CN" altLang="en-US"/>
              <a:t>最终审计已闭环；</a:t>
            </a:r>
            <a:r>
              <a:rPr lang="en-US" altLang="zh-CN"/>
              <a:t>C</a:t>
            </a:r>
            <a:r>
              <a:rPr lang="zh-CN" altLang="en-US"/>
              <a:t>整体</a:t>
            </a:r>
            <a:r>
              <a:rPr lang="en-US" altLang="zh-CN"/>
              <a:t>Review</a:t>
            </a:r>
            <a:r>
              <a:rPr lang="zh-CN" altLang="en-US"/>
              <a:t>为</a:t>
            </a:r>
            <a:r>
              <a:rPr lang="en-US" altLang="zh-CN"/>
              <a:t>CHANGES_REQUIRED</a:t>
            </a:r>
            <a:r>
              <a:rPr lang="zh-CN" altLang="en-US"/>
              <a:t>。此次</a:t>
            </a:r>
            <a:r>
              <a:rPr lang="en-US" altLang="zh-CN"/>
              <a:t>002</a:t>
            </a:r>
            <a:r>
              <a:rPr lang="zh-CN" altLang="en-US"/>
              <a:t>整改待</a:t>
            </a:r>
            <a:r>
              <a:rPr lang="en-US" altLang="zh-CN"/>
              <a:t>C</a:t>
            </a:r>
            <a:r>
              <a:rPr lang="zh-CN" altLang="en-US"/>
              <a:t>定向复验，不能提前置</a:t>
            </a:r>
            <a:r>
              <a:rPr lang="en-US" altLang="zh-CN"/>
              <a:t>DONE</a:t>
            </a:r>
            <a:r>
              <a:rPr lang="zh-CN" altLang="en-US"/>
              <a:t>。真实现场的质询、计时和意见仅在实际发生后追加记录。</a:t>
            </a:r>
          </a:p>
          <a:p>
            <a:endParaRPr lang="zh-CN" altLang="en-US"/>
          </a:p>
          <a:p>
            <a:r>
              <a:rPr lang="zh-CN" altLang="en-US"/>
              <a:t>来源：</a:t>
            </a:r>
          </a:p>
          <a:p>
            <a:r>
              <a:rPr lang="en-US" altLang="zh-CN"/>
              <a:t>docs/work/G6/g6_03_demo_and_qna.md</a:t>
            </a:r>
          </a:p>
          <a:p>
            <a:r>
              <a:rPr lang="en-US" altLang="zh-CN"/>
              <a:t>docs/work/B_TECH/g6_user_manual.md</a:t>
            </a:r>
          </a:p>
          <a:p>
            <a:r>
              <a:rPr lang="en-US" altLang="zh-CN"/>
              <a:t>docs/work/B_TECH/adr/ADR-002-</a:t>
            </a:r>
            <a:r>
              <a:rPr lang="zh-CN" altLang="en-US"/>
              <a:t>事务</a:t>
            </a:r>
            <a:r>
              <a:rPr lang="en-US" altLang="zh-CN"/>
              <a:t>Outbox</a:t>
            </a:r>
            <a:r>
              <a:rPr lang="zh-CN" altLang="en-US"/>
              <a:t>与持久任务</a:t>
            </a:r>
            <a:r>
              <a:rPr lang="en-US" altLang="zh-CN"/>
              <a:t>.md</a:t>
            </a:r>
          </a:p>
          <a:p>
            <a:r>
              <a:rPr lang="en-US" altLang="zh-CN"/>
              <a:t>tasks.md</a:t>
            </a:r>
          </a:p>
          <a:p>
            <a:r>
              <a:rPr lang="en-US" altLang="zh-CN"/>
              <a:t>docs/work/G6/G6-01_A_rereview.md</a:t>
            </a:r>
          </a:p>
          <a:p>
            <a:r>
              <a:rPr lang="en-US" altLang="zh-CN"/>
              <a:t>docs/work/G6/G6-02_A_rereview.md</a:t>
            </a:r>
          </a:p>
          <a:p>
            <a:r>
              <a:rPr lang="en-US" altLang="zh-CN"/>
              <a:t>logs/reviews/2026-10-12_G6-03-C-review.md</a:t>
            </a:r>
          </a:p>
          <a:p>
            <a:r>
              <a:rPr lang="en-US" altLang="zh-CN"/>
              <a:t>evidence/g6/G6-03/C-review/review-result.json</a:t>
            </a:r>
          </a:p>
          <a:p>
            <a:r>
              <a:rPr lang="zh-CN" altLang="en-US"/>
              <a:t>截图版本：</a:t>
            </a:r>
            <a:r>
              <a:rPr lang="en-US" altLang="zh-CN"/>
              <a:t>2026-10-11T14-10-55-529Z</a:t>
            </a:r>
          </a:p>
          <a:p>
            <a:r>
              <a:rPr lang="zh-CN" altLang="en-US"/>
              <a:t>数据和状态：</a:t>
            </a:r>
            <a:r>
              <a:rPr lang="en-US" altLang="zh-CN"/>
              <a:t>COURSE_SIMULATED_REHEARSAL / REAL_WORLD_DEFERRED / C_CHANGES_REQUIRED_PENDING_TARGETED_REREVIEW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96E106-DC41-4082-98AA-5BCDE38605D0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446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9C028C-06B8-4FC7-9D5C-86985E081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457385-EC99-485D-B90E-3CB513EDBA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FD0DD0-ABA4-4F0E-B303-D093A512B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D4997F-C03D-466A-BEC1-56458C13A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D4E368-09AB-41B7-A053-5E5EA871D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7157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955791-EBB9-46AD-BAD4-C55348BB2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DEBAE3-B188-4C57-A0F4-2AB0E5E10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A73F0A-5208-4F62-994B-FB5715FD7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4821A7-3DAC-4F69-AD74-94E1E0B9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76D22A-31C4-47F2-88AD-FE04141EF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770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43B69F-2B21-4121-A9FA-3B1793789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A0B18F8-85B8-4784-8775-755AACD78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A7F652-E781-44C0-B331-484ED2DA0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89E8A1-C939-4BCC-970E-96294EF0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8B99DF-F7B7-46E7-89D7-F25C34AC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229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54EFF-C970-4F6A-A306-AF84C000F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BC39E7-B0E0-4C52-B890-ADB6BD5600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120EC9C-084B-4560-A74A-C5F0EA25F6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B1EBACA-3B34-4D55-92E3-5B19CEBAB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B88A25-71D0-437F-BB6C-6E1F155FF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BD0F00-6B9B-4089-A443-ED48129C9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455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ECE455-159E-476C-9FE4-E6AC1EED8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BA311D-0147-4E7A-BB6B-593DE2DCF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A2B89A9-0394-4B52-A3BE-DFE5B113E2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4C3AD7E-C727-4C67-8B61-2087159AA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C9FB57-77E2-4B8F-9B6B-3BB07546CF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60AB226-5F2C-4606-9254-DF411FEA0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0B00AD2-E7F9-4493-AE20-8BFD020C9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3A3384C-485B-45A9-A356-1FC6BF0A2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19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352540-6D7C-407D-ABBF-B3E6AFE26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8A76C6-4FA4-4298-965C-28CB87737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E50648-AF16-4D90-9D13-9C2DB8E4C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4CA9301-7BEE-483A-A84D-C1B6B892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4036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C2030E-6C15-44D1-AE3C-D5EC1A962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41E78B0-A177-43D1-BCD3-4005157E7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1E1376-D2DD-4187-820F-C436D958D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6375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FEF6A6-AFA8-49BE-9E2B-F2F8D4002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C91FB2-B999-4E3B-9FA5-9856A365F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05AA33-B2DF-40C8-ACD0-909D7C28BF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810B5C-E919-47CC-9CA5-81D1419CE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6A7EFA-D33E-4AB3-BBA0-88EA3B7FB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94E6B8-B1C2-4FDF-8756-F56B28797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2055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B1C6F3-4FD4-4B3C-B74C-028D4EE04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FE004CE-963A-4B20-9AF0-2EB28B415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96998F-19E2-4DDB-8517-255667FC1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DBE8A7-1E45-42E8-AB7B-34D5C2D4C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524FBE-F916-4A9C-AF56-AB93BB61A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E018F9-EA8F-4036-9092-573440A14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1481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58E942-223A-4B8A-8A72-4C80FD67B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74FAD8-D5E4-4B6C-AA48-D10D2289F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036286-263F-4438-9758-545C0205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DA061B-D386-49A2-BED6-BADC0D107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30DAD2-7441-47AD-BE35-05200ECC1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1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33ACB96-02E1-40BF-BFB1-1DFEE1D006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C02134-500D-4B97-8A11-704A1BAEF6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D8A24D-2A65-40B3-9350-14D36BE7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D869DA-101C-4C88-8242-DA39A636D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78CDAE-3514-4751-8D8F-B328EF2B3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096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DAA66A-2448-4313-BC77-0D4D219E3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6AD041-280C-437B-A3F2-52F64982F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68AB8D-6921-4D20-8CFA-72779A4A28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AC4583-685E-409A-8A6A-9320C2082B0E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04A685-A52F-49B3-9138-A492986BF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8D90CA-6E45-457B-BAC3-3C64B09CF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A8BDE4-976D-47A8-ACF1-2157C4066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621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313271C-EFD4-40AF-A87F-315D4D7ACEB5}"/>
              </a:ext>
            </a:extLst>
          </p:cNvPr>
          <p:cNvSpPr txBox="1"/>
          <p:nvPr/>
        </p:nvSpPr>
        <p:spPr>
          <a:xfrm>
            <a:off x="812800" y="1473199"/>
            <a:ext cx="10668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44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应急管理子系统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97380DE-4707-4A3E-AB6C-11C7133A4465}"/>
              </a:ext>
            </a:extLst>
          </p:cNvPr>
          <p:cNvSpPr txBox="1"/>
          <p:nvPr/>
        </p:nvSpPr>
        <p:spPr>
          <a:xfrm>
            <a:off x="838200" y="2501899"/>
            <a:ext cx="10414000" cy="571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2900" b="1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验收答辩候选 </a:t>
            </a:r>
            <a:r>
              <a:rPr lang="en-US" altLang="zh-CN" sz="2900" b="1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V0.2</a:t>
            </a:r>
            <a:endParaRPr lang="zh-CN" altLang="en-US" sz="2900" b="1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cover-body">
            <a:extLst>
              <a:ext uri="{FF2B5EF4-FFF2-40B4-BE49-F238E27FC236}">
                <a16:creationId xmlns:a16="http://schemas.microsoft.com/office/drawing/2014/main" id="{08498DBA-6F9C-405F-B2EF-87C770FC5CDA}"/>
              </a:ext>
            </a:extLst>
          </p:cNvPr>
          <p:cNvSpPr txBox="1"/>
          <p:nvPr/>
        </p:nvSpPr>
        <p:spPr>
          <a:xfrm>
            <a:off x="863600" y="3670299"/>
            <a:ext cx="10414000" cy="1841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博物馆智能运营中心</a:t>
            </a: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G6-03 / A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主责；</a:t>
            </a: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复核退回，待定向复验</a:t>
            </a: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模拟项目试演，当前系统本地实际运行</a:t>
            </a:r>
          </a:p>
        </p:txBody>
      </p:sp>
      <p:sp>
        <p:nvSpPr>
          <p:cNvPr id="5" name="boundary">
            <a:extLst>
              <a:ext uri="{FF2B5EF4-FFF2-40B4-BE49-F238E27FC236}">
                <a16:creationId xmlns:a16="http://schemas.microsoft.com/office/drawing/2014/main" id="{22ADE9CE-3D61-4D75-86D3-4111B28881D8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A50E1B7B-A7FC-4ECE-A207-4D4CF86BDB3E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2939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ED9711F-DE1C-4BF7-9661-94EC0F18B606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课程状态与真实验收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F70669A-1939-4E22-BCAC-EEB69B0505A2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G5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课程条件收口保留全部真实延期</a:t>
            </a:r>
          </a:p>
        </p:txBody>
      </p:sp>
      <p:graphicFrame>
        <p:nvGraphicFramePr>
          <p:cNvPr id="4" name="evidence-table">
            <a:extLst>
              <a:ext uri="{FF2B5EF4-FFF2-40B4-BE49-F238E27FC236}">
                <a16:creationId xmlns:a16="http://schemas.microsoft.com/office/drawing/2014/main" id="{76048265-BA87-486A-94FD-5702E2A129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017745"/>
              </p:ext>
            </p:extLst>
          </p:nvPr>
        </p:nvGraphicFramePr>
        <p:xfrm>
          <a:off x="609600" y="1841500"/>
          <a:ext cx="109728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54466845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594791555"/>
                    </a:ext>
                  </a:extLst>
                </a:gridCol>
                <a:gridCol w="4749800">
                  <a:extLst>
                    <a:ext uri="{9D8B030D-6E8A-4147-A177-3AD203B41FA5}">
                      <a16:colId xmlns:a16="http://schemas.microsoft.com/office/drawing/2014/main" val="129475310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已定位的证据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结论边界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537687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G1—G3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立项、需求、设计及冻结记录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冻结范围继续受控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62577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G4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任务已收口进入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master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研发收口不派生全量验收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80787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G5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最终复核课程条件接受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实现与真实环境延期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53027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G6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手册、索引、答辩候选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G6-01/02 DONE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G6-03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复验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700686"/>
                  </a:ext>
                </a:extLst>
              </a:tr>
            </a:tbl>
          </a:graphicData>
        </a:graphic>
      </p:graphicFrame>
      <p:sp>
        <p:nvSpPr>
          <p:cNvPr id="5" name="boundary">
            <a:extLst>
              <a:ext uri="{FF2B5EF4-FFF2-40B4-BE49-F238E27FC236}">
                <a16:creationId xmlns:a16="http://schemas.microsoft.com/office/drawing/2014/main" id="{B2E834FE-CCF7-4743-A97F-12E9B1384FF2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53741D79-EFA1-4F6A-98ED-81A492BE3A10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55503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FD077DF-5345-406E-B841-1D8B9F3007AF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冻结范围与责任边界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B66876C-CEBD-457C-9312-0F7360F55277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39 FR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34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项★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117 AC</a:t>
            </a:r>
            <a:endParaRPr lang="zh-CN" altLang="en-US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6DB631F8-084B-499C-AE04-0733C8A35575}"/>
              </a:ext>
            </a:extLst>
          </p:cNvPr>
          <p:cNvSpPr txBox="1"/>
          <p:nvPr/>
        </p:nvSpPr>
        <p:spPr>
          <a:xfrm>
            <a:off x="812800" y="2044699"/>
            <a:ext cx="10566400" cy="393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承担事件核实、预案启动和任务统筹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H5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嵌入既有</a:t>
            </a: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APP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，承担移动上报、接收和反馈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甲方提供中台、地图与外部接口资源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乙方实现业务适配与验证，后续补测继续保留</a:t>
            </a:r>
          </a:p>
        </p:txBody>
      </p:sp>
      <p:sp>
        <p:nvSpPr>
          <p:cNvPr id="5" name="boundary">
            <a:extLst>
              <a:ext uri="{FF2B5EF4-FFF2-40B4-BE49-F238E27FC236}">
                <a16:creationId xmlns:a16="http://schemas.microsoft.com/office/drawing/2014/main" id="{B8F6082E-7C98-4711-BE61-18A8DE96A1D1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B2A47BF2-E926-4E01-B3F4-B72DB9BFF682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3669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9C9D356-CC35-48EF-8EF4-C5C920E2E2A7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实现与发布基线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45B6558-5A35-4044-B37C-647F8D32C19E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启动版本一致，显示整改后单独锁定新候选</a:t>
            </a:r>
          </a:p>
        </p:txBody>
      </p:sp>
      <p:graphicFrame>
        <p:nvGraphicFramePr>
          <p:cNvPr id="4" name="evidence-table">
            <a:extLst>
              <a:ext uri="{FF2B5EF4-FFF2-40B4-BE49-F238E27FC236}">
                <a16:creationId xmlns:a16="http://schemas.microsoft.com/office/drawing/2014/main" id="{D46FC7E4-4A23-46A0-98F9-13FC3EF03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74254"/>
              </p:ext>
            </p:extLst>
          </p:nvPr>
        </p:nvGraphicFramePr>
        <p:xfrm>
          <a:off x="609600" y="1841500"/>
          <a:ext cx="109728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180489016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1905548848"/>
                    </a:ext>
                  </a:extLst>
                </a:gridCol>
                <a:gridCol w="4749800">
                  <a:extLst>
                    <a:ext uri="{9D8B030D-6E8A-4147-A177-3AD203B41FA5}">
                      <a16:colId xmlns:a16="http://schemas.microsoft.com/office/drawing/2014/main" val="2956721408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对象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当前实现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本轮验证范围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0694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前端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Vue 3 / Vite</a:t>
                      </a:r>
                      <a:r>
                        <a:rPr lang="zh-CN" altLang="fr-FR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，正式</a:t>
                      </a:r>
                      <a:r>
                        <a:rPr lang="fr-FR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API</a:t>
                      </a:r>
                      <a:r>
                        <a:rPr lang="zh-CN" altLang="fr-FR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模式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实际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Web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H5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页面操作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36436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后端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Node.js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，模块化业务和端口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实际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HTTP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和状态迁移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968199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持久化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生产设计为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PostgreSQL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本轮内存执行，不验证持久化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77695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外部能力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身份、消息、预案端口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本轮显式模拟，不接甲方系统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232520"/>
                  </a:ext>
                </a:extLst>
              </a:tr>
            </a:tbl>
          </a:graphicData>
        </a:graphic>
      </p:graphicFrame>
      <p:sp>
        <p:nvSpPr>
          <p:cNvPr id="5" name="boundary">
            <a:extLst>
              <a:ext uri="{FF2B5EF4-FFF2-40B4-BE49-F238E27FC236}">
                <a16:creationId xmlns:a16="http://schemas.microsoft.com/office/drawing/2014/main" id="{63EE4E09-E0A0-4EDA-B57E-33FB3E401389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019A9370-E730-4DAD-9C7B-17693ECB11B8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55174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8D443F7-2F80-4F26-B123-BF1320D41CC2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G5</a:t>
            </a: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质量结果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2AAB7F6-DC99-44AF-B0C9-C3BE3AD49241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原始结果保持原分母</a:t>
            </a:r>
          </a:p>
        </p:txBody>
      </p:sp>
      <p:graphicFrame>
        <p:nvGraphicFramePr>
          <p:cNvPr id="4" name="evidence-table">
            <a:extLst>
              <a:ext uri="{FF2B5EF4-FFF2-40B4-BE49-F238E27FC236}">
                <a16:creationId xmlns:a16="http://schemas.microsoft.com/office/drawing/2014/main" id="{779AC7A2-3123-4B9D-B6F5-3E5C03B39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001209"/>
              </p:ext>
            </p:extLst>
          </p:nvPr>
        </p:nvGraphicFramePr>
        <p:xfrm>
          <a:off x="609600" y="1841500"/>
          <a:ext cx="109728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11151156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559242139"/>
                    </a:ext>
                  </a:extLst>
                </a:gridCol>
                <a:gridCol w="4749800">
                  <a:extLst>
                    <a:ext uri="{9D8B030D-6E8A-4147-A177-3AD203B41FA5}">
                      <a16:colId xmlns:a16="http://schemas.microsoft.com/office/drawing/2014/main" val="145462857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真实结果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含义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790705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AC PASS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仅这些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已有对应真实通过证据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772665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AC NOT_RUN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59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仍需执行并归档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32037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AC BLOCKED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47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保留实现或资源阻断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02533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★FR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PASS / 33 BLOCKED</a:t>
                      </a:r>
                      <a:endParaRPr lang="zh-CN" altLang="en-US" sz="1800" b="0">
                        <a:solidFill>
                          <a:srgbClr val="172E3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分母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34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，不以局部套件推导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543377"/>
                  </a:ext>
                </a:extLst>
              </a:tr>
            </a:tbl>
          </a:graphicData>
        </a:graphic>
      </p:graphicFrame>
      <p:sp>
        <p:nvSpPr>
          <p:cNvPr id="5" name="boundary">
            <a:extLst>
              <a:ext uri="{FF2B5EF4-FFF2-40B4-BE49-F238E27FC236}">
                <a16:creationId xmlns:a16="http://schemas.microsoft.com/office/drawing/2014/main" id="{534C5688-4B55-4C62-BA5F-27D5953234C3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F3CA54F4-149E-489F-8919-ACA8E0F68CE3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804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82236EC-9412-4C50-B99F-BC95B67A9CDD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交付与证据导航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DBA508E-D6AF-4145-9B8B-67651C2CF257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沿用唯一索引，当前候选进入增量交接</a:t>
            </a:r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8DEF19DA-8295-411D-8A3A-32FA7DD638C9}"/>
              </a:ext>
            </a:extLst>
          </p:cNvPr>
          <p:cNvSpPr txBox="1"/>
          <p:nvPr/>
        </p:nvSpPr>
        <p:spPr>
          <a:xfrm>
            <a:off x="812800" y="2044699"/>
            <a:ext cx="10566400" cy="393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G6-01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：两本手册、命令台账与已知限制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G6-02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：最终审计包，</a:t>
            </a: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B/A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复核接受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G6-03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：逐页来源、实际试演和异常响应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最终状态由指定复核人和后续审计确认</a:t>
            </a:r>
          </a:p>
        </p:txBody>
      </p:sp>
      <p:sp>
        <p:nvSpPr>
          <p:cNvPr id="5" name="boundary">
            <a:extLst>
              <a:ext uri="{FF2B5EF4-FFF2-40B4-BE49-F238E27FC236}">
                <a16:creationId xmlns:a16="http://schemas.microsoft.com/office/drawing/2014/main" id="{BF67B190-E617-4DA7-A1D8-D1A8718AB6FF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F76108FB-0803-4E24-B983-5951C90EE258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76126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DBF4D59-3F98-40E8-A8D4-98B52ED58E9E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模拟试演输入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7380A2B9-4F5A-4E67-8CB6-7A9E28F2380F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全部业务输入显著标记为模拟数据</a:t>
            </a:r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B8B31E68-0F44-43E3-BB7D-3C88B17EFDB6}"/>
              </a:ext>
            </a:extLst>
          </p:cNvPr>
          <p:cNvSpPr txBox="1"/>
          <p:nvPr/>
        </p:nvSpPr>
        <p:spPr>
          <a:xfrm>
            <a:off x="812800" y="2044699"/>
            <a:ext cx="10566400" cy="393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场景：一层展厅烟雾提示的核实与处置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预案：疏散通道检查、展厅人员清点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角色：模拟指挥员、执行员、只读观察员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后端内存存储，身份与消息端口模拟</a:t>
            </a:r>
          </a:p>
        </p:txBody>
      </p:sp>
      <p:sp>
        <p:nvSpPr>
          <p:cNvPr id="5" name="boundary">
            <a:extLst>
              <a:ext uri="{FF2B5EF4-FFF2-40B4-BE49-F238E27FC236}">
                <a16:creationId xmlns:a16="http://schemas.microsoft.com/office/drawing/2014/main" id="{6D328301-E79F-43F9-B796-C52427C7C45C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71C8B8AF-FF6B-473D-B740-5DB87B0F3009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5060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9E7EBB8-2FAE-4BC4-B5CA-14CBEB2926A0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事件核实与预案启动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0FDC7465-3496-4B0A-8D40-082F91FD4924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页面实际提交，服务端状态为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RESPONDING</a:t>
            </a:r>
            <a:endParaRPr lang="zh-CN" altLang="en-US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actual-run-screenshot">
            <a:extLst>
              <a:ext uri="{FF2B5EF4-FFF2-40B4-BE49-F238E27FC236}">
                <a16:creationId xmlns:a16="http://schemas.microsoft.com/office/drawing/2014/main" id="{9EE0C6F7-2670-4179-9B89-B9117F4A797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1816100"/>
            <a:ext cx="5852160" cy="4064000"/>
          </a:xfrm>
          <a:prstGeom prst="rect">
            <a:avLst/>
          </a:prstGeom>
        </p:spPr>
      </p:pic>
      <p:sp>
        <p:nvSpPr>
          <p:cNvPr id="6" name="image-source">
            <a:extLst>
              <a:ext uri="{FF2B5EF4-FFF2-40B4-BE49-F238E27FC236}">
                <a16:creationId xmlns:a16="http://schemas.microsoft.com/office/drawing/2014/main" id="{EF767A4B-D007-4802-9487-E701FC5B129C}"/>
              </a:ext>
            </a:extLst>
          </p:cNvPr>
          <p:cNvSpPr txBox="1"/>
          <p:nvPr/>
        </p:nvSpPr>
        <p:spPr>
          <a:xfrm>
            <a:off x="609600" y="6019800"/>
            <a:ext cx="7048500" cy="241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模拟数据，实际截图；版本：</a:t>
            </a:r>
            <a:r>
              <a:rPr lang="en-US" altLang="zh-CN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2026-10-11T14-10-55-529Z</a:t>
            </a:r>
            <a:endParaRPr lang="zh-CN" altLang="en-US" sz="10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evidence-observations">
            <a:extLst>
              <a:ext uri="{FF2B5EF4-FFF2-40B4-BE49-F238E27FC236}">
                <a16:creationId xmlns:a16="http://schemas.microsoft.com/office/drawing/2014/main" id="{1365F948-7068-4567-80A3-E94FF5DD2FF4}"/>
              </a:ext>
            </a:extLst>
          </p:cNvPr>
          <p:cNvSpPr txBox="1"/>
          <p:nvPr/>
        </p:nvSpPr>
        <p:spPr>
          <a:xfrm>
            <a:off x="8089900" y="1930399"/>
            <a:ext cx="3492500" cy="408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页面上报写入当前后端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核实后启动锁定模拟预案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自动生成两条模拟任务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原始请求、响应和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traceId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可追溯</a:t>
            </a:r>
          </a:p>
        </p:txBody>
      </p:sp>
      <p:sp>
        <p:nvSpPr>
          <p:cNvPr id="8" name="boundary">
            <a:extLst>
              <a:ext uri="{FF2B5EF4-FFF2-40B4-BE49-F238E27FC236}">
                <a16:creationId xmlns:a16="http://schemas.microsoft.com/office/drawing/2014/main" id="{47BBC265-0388-40FE-BBEE-C3D0B0E4C3D8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9" name="page-number">
            <a:extLst>
              <a:ext uri="{FF2B5EF4-FFF2-40B4-BE49-F238E27FC236}">
                <a16:creationId xmlns:a16="http://schemas.microsoft.com/office/drawing/2014/main" id="{B9DB16C3-3563-4C78-AC56-29BC53843528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325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97AC938-8E2B-439B-A6B6-3E738B2EABDB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H5</a:t>
            </a: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接收与反馈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691F201-0B6B-4667-9655-11F53882A56A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整改后页面与反馈记录均为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60%</a:t>
            </a:r>
            <a:endParaRPr lang="zh-CN" altLang="en-US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actual-run-screenshot">
            <a:extLst>
              <a:ext uri="{FF2B5EF4-FFF2-40B4-BE49-F238E27FC236}">
                <a16:creationId xmlns:a16="http://schemas.microsoft.com/office/drawing/2014/main" id="{BD3FCEC9-D254-4826-BCF4-000BAC3C3A1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440" y="1816100"/>
            <a:ext cx="1950720" cy="4064000"/>
          </a:xfrm>
          <a:prstGeom prst="rect">
            <a:avLst/>
          </a:prstGeom>
        </p:spPr>
      </p:pic>
      <p:sp>
        <p:nvSpPr>
          <p:cNvPr id="6" name="image-source">
            <a:extLst>
              <a:ext uri="{FF2B5EF4-FFF2-40B4-BE49-F238E27FC236}">
                <a16:creationId xmlns:a16="http://schemas.microsoft.com/office/drawing/2014/main" id="{7CA6C258-169D-4364-B827-0832488D7DD0}"/>
              </a:ext>
            </a:extLst>
          </p:cNvPr>
          <p:cNvSpPr txBox="1"/>
          <p:nvPr/>
        </p:nvSpPr>
        <p:spPr>
          <a:xfrm>
            <a:off x="609600" y="6019800"/>
            <a:ext cx="7048500" cy="241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模拟数据，实际截图；版本：</a:t>
            </a:r>
            <a:r>
              <a:rPr lang="en-US" altLang="zh-CN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2026-10-11T14-10-55-529Z</a:t>
            </a:r>
            <a:endParaRPr lang="zh-CN" altLang="en-US" sz="10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evidence-observations">
            <a:extLst>
              <a:ext uri="{FF2B5EF4-FFF2-40B4-BE49-F238E27FC236}">
                <a16:creationId xmlns:a16="http://schemas.microsoft.com/office/drawing/2014/main" id="{AD1986DA-0AB6-4B2D-9D9F-17A8C58E9C54}"/>
              </a:ext>
            </a:extLst>
          </p:cNvPr>
          <p:cNvSpPr txBox="1"/>
          <p:nvPr/>
        </p:nvSpPr>
        <p:spPr>
          <a:xfrm>
            <a:off x="8089900" y="1930399"/>
            <a:ext cx="3492500" cy="408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执行员在实际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H5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页面接收任务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后台反馈记录保存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60%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进度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最新页面实际显示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60%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，状态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IN_PROGRESS</a:t>
            </a:r>
          </a:p>
          <a:p>
            <a:pPr>
              <a:spcAft>
                <a:spcPts val="1200"/>
              </a:spcAft>
            </a:pPr>
            <a:endParaRPr lang="en-US" altLang="zh-CN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ISSUE-G6-03-001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已由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B/C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确认关闭</a:t>
            </a:r>
          </a:p>
        </p:txBody>
      </p:sp>
      <p:sp>
        <p:nvSpPr>
          <p:cNvPr id="8" name="boundary">
            <a:extLst>
              <a:ext uri="{FF2B5EF4-FFF2-40B4-BE49-F238E27FC236}">
                <a16:creationId xmlns:a16="http://schemas.microsoft.com/office/drawing/2014/main" id="{B618F218-1F34-40D8-9779-F5860B1EDDAE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9" name="page-number">
            <a:extLst>
              <a:ext uri="{FF2B5EF4-FFF2-40B4-BE49-F238E27FC236}">
                <a16:creationId xmlns:a16="http://schemas.microsoft.com/office/drawing/2014/main" id="{4C21798E-60F4-4D47-A0B9-D7E6AA56A44B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7160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8C05E29-34E8-407D-B003-7F93BBE1B043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并发版本冲突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D80AE74-6D19-41E5-99AF-51CF7AB52CB1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同一任务的旧页面写入返回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409</a:t>
            </a:r>
            <a:endParaRPr lang="zh-CN" altLang="en-US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actual-run-screenshot">
            <a:extLst>
              <a:ext uri="{FF2B5EF4-FFF2-40B4-BE49-F238E27FC236}">
                <a16:creationId xmlns:a16="http://schemas.microsoft.com/office/drawing/2014/main" id="{770D5EB3-0F1C-4CCB-9887-B2E20105057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440" y="1816100"/>
            <a:ext cx="1950720" cy="4064000"/>
          </a:xfrm>
          <a:prstGeom prst="rect">
            <a:avLst/>
          </a:prstGeom>
        </p:spPr>
      </p:pic>
      <p:sp>
        <p:nvSpPr>
          <p:cNvPr id="6" name="image-source">
            <a:extLst>
              <a:ext uri="{FF2B5EF4-FFF2-40B4-BE49-F238E27FC236}">
                <a16:creationId xmlns:a16="http://schemas.microsoft.com/office/drawing/2014/main" id="{F7183FAC-46A7-469C-B8D6-319CE11A8D97}"/>
              </a:ext>
            </a:extLst>
          </p:cNvPr>
          <p:cNvSpPr txBox="1"/>
          <p:nvPr/>
        </p:nvSpPr>
        <p:spPr>
          <a:xfrm>
            <a:off x="609600" y="6019800"/>
            <a:ext cx="7048500" cy="241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模拟数据，实际截图；版本：</a:t>
            </a:r>
            <a:r>
              <a:rPr lang="en-US" altLang="zh-CN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2026-10-11T14-10-55-529Z</a:t>
            </a:r>
            <a:endParaRPr lang="zh-CN" altLang="en-US" sz="10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evidence-observations">
            <a:extLst>
              <a:ext uri="{FF2B5EF4-FFF2-40B4-BE49-F238E27FC236}">
                <a16:creationId xmlns:a16="http://schemas.microsoft.com/office/drawing/2014/main" id="{0189240A-055D-40DA-A00F-8ABF04AE9377}"/>
              </a:ext>
            </a:extLst>
          </p:cNvPr>
          <p:cNvSpPr txBox="1"/>
          <p:nvPr/>
        </p:nvSpPr>
        <p:spPr>
          <a:xfrm>
            <a:off x="8089900" y="1930399"/>
            <a:ext cx="3492500" cy="408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另一终端先接收第二条任务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旧页面再次接收触发版本冲突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页面展示真实错误与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traceId</a:t>
            </a:r>
          </a:p>
          <a:p>
            <a:pPr>
              <a:spcAft>
                <a:spcPts val="1200"/>
              </a:spcAft>
            </a:pPr>
            <a:endParaRPr lang="en-US" altLang="zh-CN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刷新后核对状态，再决定操作</a:t>
            </a:r>
          </a:p>
        </p:txBody>
      </p:sp>
      <p:sp>
        <p:nvSpPr>
          <p:cNvPr id="8" name="boundary">
            <a:extLst>
              <a:ext uri="{FF2B5EF4-FFF2-40B4-BE49-F238E27FC236}">
                <a16:creationId xmlns:a16="http://schemas.microsoft.com/office/drawing/2014/main" id="{887AF563-A33F-4D74-9949-84D6A7691BC6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9" name="page-number">
            <a:extLst>
              <a:ext uri="{FF2B5EF4-FFF2-40B4-BE49-F238E27FC236}">
                <a16:creationId xmlns:a16="http://schemas.microsoft.com/office/drawing/2014/main" id="{C054B702-6168-422C-9B96-DA41154EA559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6512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F5932E6-8D1C-4C7D-AB9F-E53773C2DC08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角色权限拒绝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CABF2B36-D2A7-4B19-810B-50221B97BBE4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只读角色写入返回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403</a:t>
            </a: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，事件数保持一致</a:t>
            </a:r>
          </a:p>
        </p:txBody>
      </p:sp>
      <p:pic>
        <p:nvPicPr>
          <p:cNvPr id="5" name="actual-run-screenshot">
            <a:extLst>
              <a:ext uri="{FF2B5EF4-FFF2-40B4-BE49-F238E27FC236}">
                <a16:creationId xmlns:a16="http://schemas.microsoft.com/office/drawing/2014/main" id="{376E9522-F15E-47E8-99DC-7274C66D5BD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1816100"/>
            <a:ext cx="5852160" cy="4064000"/>
          </a:xfrm>
          <a:prstGeom prst="rect">
            <a:avLst/>
          </a:prstGeom>
        </p:spPr>
      </p:pic>
      <p:sp>
        <p:nvSpPr>
          <p:cNvPr id="6" name="image-source">
            <a:extLst>
              <a:ext uri="{FF2B5EF4-FFF2-40B4-BE49-F238E27FC236}">
                <a16:creationId xmlns:a16="http://schemas.microsoft.com/office/drawing/2014/main" id="{4397DE09-271C-4CDB-AA5B-886FA73E6694}"/>
              </a:ext>
            </a:extLst>
          </p:cNvPr>
          <p:cNvSpPr txBox="1"/>
          <p:nvPr/>
        </p:nvSpPr>
        <p:spPr>
          <a:xfrm>
            <a:off x="609600" y="6019800"/>
            <a:ext cx="7048500" cy="241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模拟数据，实际截图；版本：</a:t>
            </a:r>
            <a:r>
              <a:rPr lang="en-US" altLang="zh-CN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2026-10-11T14-10-55-529Z</a:t>
            </a:r>
            <a:endParaRPr lang="zh-CN" altLang="en-US" sz="10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evidence-observations">
            <a:extLst>
              <a:ext uri="{FF2B5EF4-FFF2-40B4-BE49-F238E27FC236}">
                <a16:creationId xmlns:a16="http://schemas.microsoft.com/office/drawing/2014/main" id="{E5F2585B-922A-4206-985D-9B6BE3B6D306}"/>
              </a:ext>
            </a:extLst>
          </p:cNvPr>
          <p:cNvSpPr txBox="1"/>
          <p:nvPr/>
        </p:nvSpPr>
        <p:spPr>
          <a:xfrm>
            <a:off x="8089900" y="1930399"/>
            <a:ext cx="3492500" cy="408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只读角色调用写接口遭服务端拒绝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拒绝前后事件数量相同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无页面权限时转到拒绝页面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三类模拟角色均有明确交接边界</a:t>
            </a:r>
          </a:p>
        </p:txBody>
      </p:sp>
      <p:sp>
        <p:nvSpPr>
          <p:cNvPr id="8" name="boundary">
            <a:extLst>
              <a:ext uri="{FF2B5EF4-FFF2-40B4-BE49-F238E27FC236}">
                <a16:creationId xmlns:a16="http://schemas.microsoft.com/office/drawing/2014/main" id="{FC2D50C1-7846-400B-9E6E-3C144F608DE8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9" name="page-number">
            <a:extLst>
              <a:ext uri="{FF2B5EF4-FFF2-40B4-BE49-F238E27FC236}">
                <a16:creationId xmlns:a16="http://schemas.microsoft.com/office/drawing/2014/main" id="{B1DF8E47-2AAC-4A50-B471-7694172E9E50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3374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B211140-43EB-44B1-9778-89A60F5FBE48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处置闭环与运行结果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4889BDA-A7A1-4357-8CA5-4B6C1C97134B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两条任务完成后，事件实际进入</a:t>
            </a:r>
            <a:r>
              <a:rPr lang="en-US" altLang="zh-CN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CLOSED</a:t>
            </a:r>
            <a:endParaRPr lang="zh-CN" altLang="en-US">
              <a:solidFill>
                <a:srgbClr val="18547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actual-run-screenshot">
            <a:extLst>
              <a:ext uri="{FF2B5EF4-FFF2-40B4-BE49-F238E27FC236}">
                <a16:creationId xmlns:a16="http://schemas.microsoft.com/office/drawing/2014/main" id="{601D856E-681D-40E6-B1FA-7EAF36CFFCC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1816100"/>
            <a:ext cx="5852160" cy="4064000"/>
          </a:xfrm>
          <a:prstGeom prst="rect">
            <a:avLst/>
          </a:prstGeom>
        </p:spPr>
      </p:pic>
      <p:sp>
        <p:nvSpPr>
          <p:cNvPr id="6" name="image-source">
            <a:extLst>
              <a:ext uri="{FF2B5EF4-FFF2-40B4-BE49-F238E27FC236}">
                <a16:creationId xmlns:a16="http://schemas.microsoft.com/office/drawing/2014/main" id="{6525682E-61C1-415F-B339-D72045A35368}"/>
              </a:ext>
            </a:extLst>
          </p:cNvPr>
          <p:cNvSpPr txBox="1"/>
          <p:nvPr/>
        </p:nvSpPr>
        <p:spPr>
          <a:xfrm>
            <a:off x="609600" y="6019800"/>
            <a:ext cx="7048500" cy="241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模拟数据，实际截图；版本：</a:t>
            </a:r>
            <a:r>
              <a:rPr lang="en-US" altLang="zh-CN" sz="10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2026-10-11T14-10-55-529Z</a:t>
            </a:r>
            <a:endParaRPr lang="zh-CN" altLang="en-US" sz="10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evidence-observations">
            <a:extLst>
              <a:ext uri="{FF2B5EF4-FFF2-40B4-BE49-F238E27FC236}">
                <a16:creationId xmlns:a16="http://schemas.microsoft.com/office/drawing/2014/main" id="{E80DE35C-E0EA-44FE-9947-ECD40AC49BAE}"/>
              </a:ext>
            </a:extLst>
          </p:cNvPr>
          <p:cNvSpPr txBox="1"/>
          <p:nvPr/>
        </p:nvSpPr>
        <p:spPr>
          <a:xfrm>
            <a:off x="8089900" y="1930399"/>
            <a:ext cx="3492500" cy="408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接收与反馈保留任务资源版本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完成任务后提交关闭理由</a:t>
            </a:r>
          </a:p>
          <a:p>
            <a:pPr>
              <a:spcAft>
                <a:spcPts val="1200"/>
              </a:spcAft>
            </a:pPr>
            <a:endParaRPr lang="zh-CN" altLang="en-US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页面重新加载显示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CLOSED</a:t>
            </a:r>
          </a:p>
          <a:p>
            <a:pPr>
              <a:spcAft>
                <a:spcPts val="1200"/>
              </a:spcAft>
            </a:pPr>
            <a:endParaRPr lang="en-US" altLang="zh-CN" sz="19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本地试演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PASS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要求状态</a:t>
            </a:r>
            <a:r>
              <a:rPr lang="en-US" altLang="zh-CN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9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来源整改</a:t>
            </a:r>
          </a:p>
        </p:txBody>
      </p:sp>
      <p:sp>
        <p:nvSpPr>
          <p:cNvPr id="8" name="boundary">
            <a:extLst>
              <a:ext uri="{FF2B5EF4-FFF2-40B4-BE49-F238E27FC236}">
                <a16:creationId xmlns:a16="http://schemas.microsoft.com/office/drawing/2014/main" id="{7F4490B8-69E1-4218-80F5-10D6CF6602B9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9" name="page-number">
            <a:extLst>
              <a:ext uri="{FF2B5EF4-FFF2-40B4-BE49-F238E27FC236}">
                <a16:creationId xmlns:a16="http://schemas.microsoft.com/office/drawing/2014/main" id="{D8D2D54A-701E-45F4-B940-1504F22A4B6E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178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129015F-CFF1-4928-9442-EC4E5BC72071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遗留问题与验收边界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D8F88CB6-F432-444F-9907-BC13E61694B7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问题、延期和未知数据继续显著披露</a:t>
            </a:r>
          </a:p>
        </p:txBody>
      </p:sp>
      <p:graphicFrame>
        <p:nvGraphicFramePr>
          <p:cNvPr id="4" name="evidence-table">
            <a:extLst>
              <a:ext uri="{FF2B5EF4-FFF2-40B4-BE49-F238E27FC236}">
                <a16:creationId xmlns:a16="http://schemas.microsoft.com/office/drawing/2014/main" id="{4F6DFEF7-E852-4FFF-BA25-84AD845CA4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9462891"/>
              </p:ext>
            </p:extLst>
          </p:nvPr>
        </p:nvGraphicFramePr>
        <p:xfrm>
          <a:off x="609600" y="1841500"/>
          <a:ext cx="109728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95066899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4218877856"/>
                    </a:ext>
                  </a:extLst>
                </a:gridCol>
                <a:gridCol w="4749800">
                  <a:extLst>
                    <a:ext uri="{9D8B030D-6E8A-4147-A177-3AD203B41FA5}">
                      <a16:colId xmlns:a16="http://schemas.microsoft.com/office/drawing/2014/main" val="218623869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事项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当前状态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1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下一步</a:t>
                      </a:r>
                    </a:p>
                  </a:txBody>
                  <a:tcPr marL="152400" marR="152400" marT="114300" marB="76200"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08068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H5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进度显示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CLOSED / B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及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保留原失败及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B/C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确认记录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459518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功能与证据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AC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 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76 AC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证据延期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按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RTM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逐项补实现和断言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228067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真实联调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独立部署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0/6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 </a:t>
                      </a:r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0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真实独立操作者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资源到位后保留真实证据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13849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量化与现场结论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UNKNOWN / </a:t>
                      </a:r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尚未发生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00" b="0">
                          <a:solidFill>
                            <a:srgbClr val="172E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可靠样本、真实复核及意见</a:t>
                      </a:r>
                    </a:p>
                  </a:txBody>
                  <a:tcPr marL="152400" marR="152400" marT="1143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21965"/>
                  </a:ext>
                </a:extLst>
              </a:tr>
            </a:tbl>
          </a:graphicData>
        </a:graphic>
      </p:graphicFrame>
      <p:sp>
        <p:nvSpPr>
          <p:cNvPr id="5" name="boundary">
            <a:extLst>
              <a:ext uri="{FF2B5EF4-FFF2-40B4-BE49-F238E27FC236}">
                <a16:creationId xmlns:a16="http://schemas.microsoft.com/office/drawing/2014/main" id="{291BD87B-E212-4FAA-BF7C-9002EFC31558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C1810B35-F4F6-4A0E-87D8-97A7B16B3290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63002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B994673-6080-4AD1-B812-7CD2509A220E}"/>
              </a:ext>
            </a:extLst>
          </p:cNvPr>
          <p:cNvSpPr txBox="1"/>
          <p:nvPr/>
        </p:nvSpPr>
        <p:spPr>
          <a:xfrm>
            <a:off x="609600" y="393699"/>
            <a:ext cx="10972800" cy="673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3200" b="1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质询分工与故障预案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18CF07-0AA5-499A-858F-929CA32F8157}"/>
              </a:ext>
            </a:extLst>
          </p:cNvPr>
          <p:cNvSpPr txBox="1"/>
          <p:nvPr/>
        </p:nvSpPr>
        <p:spPr>
          <a:xfrm>
            <a:off x="635000" y="1155699"/>
            <a:ext cx="109220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>
                <a:solidFill>
                  <a:srgbClr val="18547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以固定版本、实际证据和问题记录作答</a:t>
            </a:r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DA299669-6230-4427-BB94-32BB7E0A8071}"/>
              </a:ext>
            </a:extLst>
          </p:cNvPr>
          <p:cNvSpPr txBox="1"/>
          <p:nvPr/>
        </p:nvSpPr>
        <p:spPr>
          <a:xfrm>
            <a:off x="812800" y="2044699"/>
            <a:ext cx="10566400" cy="393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：任务范围、交付状态、演示叙事与风险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：端口、事务、数据库、部署和技术问题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FR/AC/★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分母、审计、延期与符合性</a:t>
            </a:r>
          </a:p>
          <a:p>
            <a:pPr>
              <a:spcAft>
                <a:spcPts val="1200"/>
              </a:spcAft>
            </a:pPr>
            <a:endParaRPr lang="zh-CN" altLang="en-US" sz="2300">
              <a:solidFill>
                <a:srgbClr val="172E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200"/>
              </a:spcAft>
            </a:pP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失败时保留</a:t>
            </a:r>
            <a:r>
              <a:rPr lang="en-US" altLang="zh-CN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traceId</a:t>
            </a:r>
            <a:r>
              <a:rPr lang="zh-CN" altLang="en-US" sz="2300">
                <a:solidFill>
                  <a:srgbClr val="172E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，改用标注版本的证据</a:t>
            </a:r>
          </a:p>
        </p:txBody>
      </p:sp>
      <p:sp>
        <p:nvSpPr>
          <p:cNvPr id="5" name="boundary">
            <a:extLst>
              <a:ext uri="{FF2B5EF4-FFF2-40B4-BE49-F238E27FC236}">
                <a16:creationId xmlns:a16="http://schemas.microsoft.com/office/drawing/2014/main" id="{0E2E1591-2707-45EA-A9B9-C91713B9AAD0}"/>
              </a:ext>
            </a:extLst>
          </p:cNvPr>
          <p:cNvSpPr txBox="1"/>
          <p:nvPr/>
        </p:nvSpPr>
        <p:spPr>
          <a:xfrm>
            <a:off x="609600" y="6324599"/>
            <a:ext cx="10439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模拟试演候选；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复核退回状态</a:t>
            </a:r>
            <a:r>
              <a:rPr lang="en-US" altLang="zh-CN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>
                <a:solidFill>
                  <a:srgbClr val="8C35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来源，待定向复验；真实验收延期</a:t>
            </a:r>
          </a:p>
        </p:txBody>
      </p:sp>
      <p:sp>
        <p:nvSpPr>
          <p:cNvPr id="6" name="page-number">
            <a:extLst>
              <a:ext uri="{FF2B5EF4-FFF2-40B4-BE49-F238E27FC236}">
                <a16:creationId xmlns:a16="http://schemas.microsoft.com/office/drawing/2014/main" id="{1D26FB71-2E2F-44AA-9DB3-3F3AB6810B30}"/>
              </a:ext>
            </a:extLst>
          </p:cNvPr>
          <p:cNvSpPr txBox="1"/>
          <p:nvPr/>
        </p:nvSpPr>
        <p:spPr>
          <a:xfrm>
            <a:off x="11315700" y="6299199"/>
            <a:ext cx="3175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n-US" altLang="zh-CN" sz="1200">
                <a:solidFill>
                  <a:srgbClr val="50647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endParaRPr lang="zh-CN" altLang="en-US" sz="1200">
              <a:solidFill>
                <a:srgbClr val="50647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7663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4140</Words>
  <Application>Microsoft Office PowerPoint</Application>
  <PresentationFormat>自定义</PresentationFormat>
  <Paragraphs>382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15801502143@163.com</dc:creator>
  <cp:lastModifiedBy>15801502143@163.com</cp:lastModifiedBy>
  <cp:revision>1</cp:revision>
  <dcterms:created xsi:type="dcterms:W3CDTF">2026-10-12T14:52:57Z</dcterms:created>
  <dcterms:modified xsi:type="dcterms:W3CDTF">2026-10-12T14:52:57Z</dcterms:modified>
</cp:coreProperties>
</file>