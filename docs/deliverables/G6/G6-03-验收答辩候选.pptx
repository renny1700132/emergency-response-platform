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BBCA4-16D4-4191-BDA9-6F24168B41B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E7FFA-7EBE-4257-AFCA-48BD069FC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74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本次汇报对应</a:t>
            </a:r>
            <a:r>
              <a:rPr lang="en-US" altLang="zh-CN"/>
              <a:t>tasks</a:t>
            </a:r>
            <a:r>
              <a:rPr lang="zh-CN" altLang="en-US"/>
              <a:t>中的</a:t>
            </a:r>
            <a:r>
              <a:rPr lang="en-US" altLang="zh-CN"/>
              <a:t>G6-03</a:t>
            </a:r>
            <a:r>
              <a:rPr lang="zh-CN" altLang="en-US"/>
              <a:t>验收答辩、现场演示与质询。最新用户纠偏要求以远端</a:t>
            </a:r>
            <a:r>
              <a:rPr lang="en-US" altLang="zh-CN"/>
              <a:t>master</a:t>
            </a:r>
            <a:r>
              <a:rPr lang="zh-CN" altLang="en-US"/>
              <a:t>的任务边界执行，并授权生成合理模拟数据。开发总结属于</a:t>
            </a:r>
            <a:r>
              <a:rPr lang="en-US" altLang="zh-CN"/>
              <a:t>G6-04</a:t>
            </a:r>
            <a:r>
              <a:rPr lang="zh-CN" altLang="en-US"/>
              <a:t>，本轮不提交总结。请始终把模拟业务输入、本地实际执行和甲方真实验收区分清楚。本轮采用模拟数据和本地实际执行。</a:t>
            </a:r>
            <a:r>
              <a:rPr lang="en-US" altLang="zh-CN"/>
              <a:t>C</a:t>
            </a:r>
            <a:r>
              <a:rPr lang="zh-CN" altLang="en-US"/>
              <a:t>整体复核待完成，真实项目验收继续延期。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tasks.md</a:t>
            </a:r>
          </a:p>
          <a:p>
            <a:r>
              <a:rPr lang="en-US" altLang="zh-CN"/>
              <a:t>docs/work/G6/g6_03_execution_baseline.md</a:t>
            </a:r>
          </a:p>
          <a:p>
            <a:r>
              <a:rPr lang="en-US" altLang="zh-CN"/>
              <a:t>control/overrides.md#OVR-039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26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项目先后形成投标、需求、设计与研发成果。</a:t>
            </a:r>
            <a:r>
              <a:rPr lang="en-US" altLang="zh-CN"/>
              <a:t>G3</a:t>
            </a:r>
            <a:r>
              <a:rPr lang="zh-CN" altLang="en-US"/>
              <a:t>工程基线冻结为</a:t>
            </a:r>
            <a:r>
              <a:rPr lang="en-US" altLang="zh-CN"/>
              <a:t>BASELINE-G3-M3-R1.0</a:t>
            </a:r>
            <a:r>
              <a:rPr lang="zh-CN" altLang="en-US"/>
              <a:t>；</a:t>
            </a:r>
            <a:r>
              <a:rPr lang="en-US" altLang="zh-CN"/>
              <a:t>G4</a:t>
            </a:r>
            <a:r>
              <a:rPr lang="zh-CN" altLang="en-US"/>
              <a:t>任务在</a:t>
            </a:r>
            <a:r>
              <a:rPr lang="en-US" altLang="zh-CN"/>
              <a:t>master</a:t>
            </a:r>
            <a:r>
              <a:rPr lang="zh-CN" altLang="en-US"/>
              <a:t>收口。</a:t>
            </a:r>
            <a:r>
              <a:rPr lang="en-US" altLang="zh-CN"/>
              <a:t>G5-03</a:t>
            </a:r>
            <a:r>
              <a:rPr lang="zh-CN" altLang="en-US"/>
              <a:t>由</a:t>
            </a:r>
            <a:r>
              <a:rPr lang="en-US" altLang="zh-CN"/>
              <a:t>C</a:t>
            </a:r>
            <a:r>
              <a:rPr lang="zh-CN" altLang="en-US"/>
              <a:t>独立最终复核接受的是课程条件结论，真实实现、证据和环境延期仍在。</a:t>
            </a:r>
            <a:r>
              <a:rPr lang="en-US" altLang="zh-CN"/>
              <a:t>G6-01</a:t>
            </a:r>
            <a:r>
              <a:rPr lang="zh-CN" altLang="en-US"/>
              <a:t>手册当前为</a:t>
            </a:r>
            <a:r>
              <a:rPr lang="en-US" altLang="zh-CN"/>
              <a:t>REVIEW</a:t>
            </a:r>
            <a:r>
              <a:rPr lang="zh-CN" altLang="en-US"/>
              <a:t>，</a:t>
            </a:r>
            <a:r>
              <a:rPr lang="en-US" altLang="zh-CN"/>
              <a:t>G6-02</a:t>
            </a:r>
            <a:r>
              <a:rPr lang="zh-CN" altLang="en-US"/>
              <a:t>由</a:t>
            </a:r>
            <a:r>
              <a:rPr lang="en-US" altLang="zh-CN"/>
              <a:t>B</a:t>
            </a:r>
            <a:r>
              <a:rPr lang="zh-CN" altLang="en-US"/>
              <a:t>接受首版但最终仍</a:t>
            </a:r>
            <a:r>
              <a:rPr lang="en-US" altLang="zh-CN"/>
              <a:t>REVIEW</a:t>
            </a:r>
            <a:r>
              <a:rPr lang="zh-CN" altLang="en-US"/>
              <a:t>，本轮</a:t>
            </a:r>
            <a:r>
              <a:rPr lang="en-US" altLang="zh-CN"/>
              <a:t>G6-03</a:t>
            </a:r>
            <a:r>
              <a:rPr lang="zh-CN" altLang="en-US"/>
              <a:t>候选也需要</a:t>
            </a:r>
            <a:r>
              <a:rPr lang="en-US" altLang="zh-CN"/>
              <a:t>C</a:t>
            </a:r>
            <a:r>
              <a:rPr lang="zh-CN" altLang="en-US"/>
              <a:t>整体复核。不能把课程任务</a:t>
            </a:r>
            <a:r>
              <a:rPr lang="en-US" altLang="zh-CN"/>
              <a:t>DONE</a:t>
            </a:r>
            <a:r>
              <a:rPr lang="zh-CN" altLang="en-US"/>
              <a:t>当作</a:t>
            </a:r>
            <a:r>
              <a:rPr lang="en-US" altLang="zh-CN"/>
              <a:t>117</a:t>
            </a:r>
            <a:r>
              <a:rPr lang="zh-CN" altLang="en-US"/>
              <a:t>条验收条件全部通过。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tasks.md</a:t>
            </a:r>
          </a:p>
          <a:p>
            <a:r>
              <a:rPr lang="en-US" altLang="zh-CN"/>
              <a:t>control/baselines/BASELINE-G3-M3-R1.0.md</a:t>
            </a:r>
          </a:p>
          <a:p>
            <a:r>
              <a:rPr lang="en-US" altLang="zh-CN"/>
              <a:t>evidence/g5/G5-03/c-final-acceptance.json</a:t>
            </a:r>
          </a:p>
          <a:p>
            <a:r>
              <a:rPr lang="en-US" altLang="zh-CN"/>
              <a:t>evidence/g6/G6-02/b-review.json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93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39 FR</a:t>
            </a:r>
            <a:r>
              <a:rPr lang="zh-CN" altLang="en-US"/>
              <a:t>、</a:t>
            </a:r>
            <a:r>
              <a:rPr lang="en-US" altLang="zh-CN"/>
              <a:t>34</a:t>
            </a:r>
            <a:r>
              <a:rPr lang="zh-CN" altLang="en-US"/>
              <a:t>项★</a:t>
            </a:r>
            <a:r>
              <a:rPr lang="en-US" altLang="zh-CN"/>
              <a:t>FR</a:t>
            </a:r>
            <a:r>
              <a:rPr lang="zh-CN" altLang="en-US"/>
              <a:t>和</a:t>
            </a:r>
            <a:r>
              <a:rPr lang="en-US" altLang="zh-CN"/>
              <a:t>117 AC</a:t>
            </a:r>
            <a:r>
              <a:rPr lang="zh-CN" altLang="en-US"/>
              <a:t>取自</a:t>
            </a:r>
            <a:r>
              <a:rPr lang="en-US" altLang="zh-CN"/>
              <a:t>G6-02</a:t>
            </a:r>
            <a:r>
              <a:rPr lang="zh-CN" altLang="en-US"/>
              <a:t>唯一指标账和</a:t>
            </a:r>
            <a:r>
              <a:rPr lang="en-US" altLang="zh-CN"/>
              <a:t>B</a:t>
            </a:r>
            <a:r>
              <a:rPr lang="zh-CN" altLang="en-US"/>
              <a:t>机械复验，不能将页面数、工作台数或套件通过数当作需求通过数。</a:t>
            </a:r>
            <a:r>
              <a:rPr lang="en-US" altLang="zh-CN"/>
              <a:t>H5</a:t>
            </a:r>
            <a:r>
              <a:rPr lang="zh-CN" altLang="en-US"/>
              <a:t>交付与宿主责任来源</a:t>
            </a:r>
            <a:r>
              <a:rPr lang="en-US" altLang="zh-CN"/>
              <a:t>F-008</a:t>
            </a:r>
            <a:r>
              <a:rPr lang="zh-CN" altLang="en-US"/>
              <a:t>，地图责任来源</a:t>
            </a:r>
            <a:r>
              <a:rPr lang="en-US" altLang="zh-CN"/>
              <a:t>F-009</a:t>
            </a:r>
            <a:r>
              <a:rPr lang="zh-CN" altLang="en-US"/>
              <a:t>，外部接口责任来源</a:t>
            </a:r>
            <a:r>
              <a:rPr lang="en-US" altLang="zh-CN"/>
              <a:t>F-005</a:t>
            </a:r>
            <a:r>
              <a:rPr lang="zh-CN" altLang="en-US"/>
              <a:t>。原型与演示数据可以解释页面，但不能充当正式数据库或甲方联调证据。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control/facts.md#F-005</a:t>
            </a:r>
          </a:p>
          <a:p>
            <a:r>
              <a:rPr lang="en-US" altLang="zh-CN"/>
              <a:t>control/facts.md#F-008</a:t>
            </a:r>
          </a:p>
          <a:p>
            <a:r>
              <a:rPr lang="en-US" altLang="zh-CN"/>
              <a:t>control/facts.md#F-009</a:t>
            </a:r>
          </a:p>
          <a:p>
            <a:r>
              <a:rPr lang="en-US" altLang="zh-CN"/>
              <a:t>control/key_numbers.md#KN-063</a:t>
            </a:r>
          </a:p>
          <a:p>
            <a:r>
              <a:rPr lang="en-US" altLang="zh-CN"/>
              <a:t>evidence/g6/G6-02/metrics-ledger.md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38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本轮从</a:t>
            </a:r>
            <a:r>
              <a:rPr lang="en-US" altLang="zh-CN"/>
              <a:t>deaddc6</a:t>
            </a:r>
            <a:r>
              <a:rPr lang="zh-CN" altLang="en-US"/>
              <a:t>快照开始。启动时应用代码与</a:t>
            </a:r>
            <a:r>
              <a:rPr lang="en-US" altLang="zh-CN"/>
              <a:t>G6-01</a:t>
            </a:r>
            <a:r>
              <a:rPr lang="zh-CN" altLang="en-US"/>
              <a:t>发布快照</a:t>
            </a:r>
            <a:r>
              <a:rPr lang="en-US" altLang="zh-CN"/>
              <a:t>beb605f</a:t>
            </a:r>
            <a:r>
              <a:rPr lang="zh-CN" altLang="en-US"/>
              <a:t>的</a:t>
            </a:r>
            <a:r>
              <a:rPr lang="en-US" altLang="zh-CN"/>
              <a:t>Git</a:t>
            </a:r>
            <a:r>
              <a:rPr lang="zh-CN" altLang="en-US"/>
              <a:t>差异为零，证据在</a:t>
            </a:r>
            <a:r>
              <a:rPr lang="en-US" altLang="zh-CN"/>
              <a:t>input-manifest</a:t>
            </a:r>
            <a:r>
              <a:rPr lang="zh-CN" altLang="en-US"/>
              <a:t>。实际试演发现</a:t>
            </a:r>
            <a:r>
              <a:rPr lang="en-US" altLang="zh-CN"/>
              <a:t>H5</a:t>
            </a:r>
            <a:r>
              <a:rPr lang="zh-CN" altLang="en-US"/>
              <a:t>进度显示问题后透明登记</a:t>
            </a:r>
            <a:r>
              <a:rPr lang="en-US" altLang="zh-CN"/>
              <a:t>Issue</a:t>
            </a:r>
            <a:r>
              <a:rPr lang="zh-CN" altLang="en-US"/>
              <a:t>，仅修正进度映射并新增回归断言，</a:t>
            </a:r>
            <a:r>
              <a:rPr lang="en-US" altLang="zh-CN"/>
              <a:t>quality</a:t>
            </a:r>
            <a:r>
              <a:rPr lang="zh-CN" altLang="en-US"/>
              <a:t>与完整试演复跑。新候选使用</a:t>
            </a:r>
            <a:r>
              <a:rPr lang="en-US" altLang="zh-CN"/>
              <a:t>rehearsal-release-lock</a:t>
            </a:r>
            <a:r>
              <a:rPr lang="zh-CN" altLang="en-US"/>
              <a:t>的文件哈希，不把新结果挂回旧</a:t>
            </a:r>
            <a:r>
              <a:rPr lang="en-US" altLang="zh-CN"/>
              <a:t>commit</a:t>
            </a:r>
            <a:r>
              <a:rPr lang="zh-CN" altLang="en-US"/>
              <a:t>。生产设计使用</a:t>
            </a:r>
            <a:r>
              <a:rPr lang="en-US" altLang="zh-CN"/>
              <a:t>PostgreSQL</a:t>
            </a:r>
            <a:r>
              <a:rPr lang="zh-CN" altLang="en-US"/>
              <a:t>与持久</a:t>
            </a:r>
            <a:r>
              <a:rPr lang="en-US" altLang="zh-CN"/>
              <a:t>Outbox</a:t>
            </a:r>
            <a:r>
              <a:rPr lang="zh-CN" altLang="en-US"/>
              <a:t>；本轮采用现有后端内存路径，注入模拟身份、消息和预案端口，不证明持久化或崩溃恢复。</a:t>
            </a:r>
            <a:r>
              <a:rPr lang="en-US" altLang="zh-CN"/>
              <a:t>ADR</a:t>
            </a:r>
            <a:r>
              <a:rPr lang="zh-CN" altLang="en-US"/>
              <a:t>接受不等于全部机制已被本轮验证。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evidence/g6/G6-01/release-lock.json</a:t>
            </a:r>
          </a:p>
          <a:p>
            <a:r>
              <a:rPr lang="en-US" altLang="zh-CN"/>
              <a:t>evidence/g6/G6-03/input-manifest.json</a:t>
            </a:r>
          </a:p>
          <a:p>
            <a:r>
              <a:rPr lang="en-US" altLang="zh-CN"/>
              <a:t>evidence/g6/G6-03/rehearsal-release-lock.json</a:t>
            </a:r>
          </a:p>
          <a:p>
            <a:r>
              <a:rPr lang="en-US" altLang="zh-CN"/>
              <a:t>backend/src/server.mjs</a:t>
            </a:r>
          </a:p>
          <a:p>
            <a:r>
              <a:rPr lang="en-US" altLang="zh-CN"/>
              <a:t>frontend/src/main.ts</a:t>
            </a:r>
          </a:p>
          <a:p>
            <a:r>
              <a:rPr lang="en-US" altLang="zh-CN"/>
              <a:t>docs/work/B_TECH/adr/ADR-001-</a:t>
            </a:r>
            <a:r>
              <a:rPr lang="zh-CN" altLang="en-US"/>
              <a:t>应用拆分与部署单元</a:t>
            </a:r>
            <a:r>
              <a:rPr lang="en-US" altLang="zh-CN"/>
              <a:t>.md</a:t>
            </a:r>
          </a:p>
          <a:p>
            <a:r>
              <a:rPr lang="en-US" altLang="zh-CN"/>
              <a:t>docs/work/B_TECH/adr/ADR-002-</a:t>
            </a:r>
            <a:r>
              <a:rPr lang="zh-CN" altLang="en-US"/>
              <a:t>事务</a:t>
            </a:r>
            <a:r>
              <a:rPr lang="en-US" altLang="zh-CN"/>
              <a:t>Outbox</a:t>
            </a:r>
            <a:r>
              <a:rPr lang="zh-CN" altLang="en-US"/>
              <a:t>与持久任务</a:t>
            </a:r>
            <a:r>
              <a:rPr lang="en-US" altLang="zh-CN"/>
              <a:t>.md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835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G6-02</a:t>
            </a:r>
            <a:r>
              <a:rPr lang="zh-CN" altLang="en-US"/>
              <a:t>账本与</a:t>
            </a:r>
            <a:r>
              <a:rPr lang="en-US" altLang="zh-CN"/>
              <a:t>G5</a:t>
            </a:r>
            <a:r>
              <a:rPr lang="zh-CN" altLang="en-US"/>
              <a:t>最终</a:t>
            </a:r>
            <a:r>
              <a:rPr lang="en-US" altLang="zh-CN"/>
              <a:t>Review</a:t>
            </a:r>
            <a:r>
              <a:rPr lang="zh-CN" altLang="en-US"/>
              <a:t>一致：</a:t>
            </a:r>
            <a:r>
              <a:rPr lang="en-US" altLang="zh-CN"/>
              <a:t>39 FR</a:t>
            </a:r>
            <a:r>
              <a:rPr lang="zh-CN" altLang="en-US"/>
              <a:t>、</a:t>
            </a:r>
            <a:r>
              <a:rPr lang="en-US" altLang="zh-CN"/>
              <a:t>34</a:t>
            </a:r>
            <a:r>
              <a:rPr lang="zh-CN" altLang="en-US"/>
              <a:t>项★</a:t>
            </a:r>
            <a:r>
              <a:rPr lang="en-US" altLang="zh-CN"/>
              <a:t>FR</a:t>
            </a:r>
            <a:r>
              <a:rPr lang="zh-CN" altLang="en-US"/>
              <a:t>、</a:t>
            </a:r>
            <a:r>
              <a:rPr lang="en-US" altLang="zh-CN"/>
              <a:t>117 AC</a:t>
            </a:r>
            <a:r>
              <a:rPr lang="zh-CN" altLang="en-US"/>
              <a:t>。</a:t>
            </a:r>
            <a:r>
              <a:rPr lang="en-US" altLang="zh-CN"/>
              <a:t>PASS 11</a:t>
            </a:r>
            <a:r>
              <a:rPr lang="zh-CN" altLang="en-US"/>
              <a:t>、</a:t>
            </a:r>
            <a:r>
              <a:rPr lang="en-US" altLang="zh-CN"/>
              <a:t>NOT_RUN 59</a:t>
            </a:r>
            <a:r>
              <a:rPr lang="zh-CN" altLang="en-US"/>
              <a:t>、</a:t>
            </a:r>
            <a:r>
              <a:rPr lang="en-US" altLang="zh-CN"/>
              <a:t>BLOCKED 47</a:t>
            </a:r>
            <a:r>
              <a:rPr lang="zh-CN" altLang="en-US"/>
              <a:t>。完整通过的★</a:t>
            </a:r>
            <a:r>
              <a:rPr lang="en-US" altLang="zh-CN"/>
              <a:t>FR</a:t>
            </a:r>
            <a:r>
              <a:rPr lang="zh-CN" altLang="en-US"/>
              <a:t>只有</a:t>
            </a:r>
            <a:r>
              <a:rPr lang="en-US" altLang="zh-CN"/>
              <a:t>1</a:t>
            </a:r>
            <a:r>
              <a:rPr lang="zh-CN" altLang="en-US"/>
              <a:t>项，</a:t>
            </a:r>
            <a:r>
              <a:rPr lang="en-US" altLang="zh-CN"/>
              <a:t>33</a:t>
            </a:r>
            <a:r>
              <a:rPr lang="zh-CN" altLang="en-US"/>
              <a:t>项仍</a:t>
            </a:r>
            <a:r>
              <a:rPr lang="en-US" altLang="zh-CN"/>
              <a:t>BLOCKED</a:t>
            </a:r>
            <a:r>
              <a:rPr lang="zh-CN" altLang="en-US"/>
              <a:t>。性能</a:t>
            </a:r>
            <a:r>
              <a:rPr lang="en-US" altLang="zh-CN"/>
              <a:t>1160</a:t>
            </a:r>
            <a:r>
              <a:rPr lang="zh-CN" altLang="en-US"/>
              <a:t>样本来自</a:t>
            </a:r>
            <a:r>
              <a:rPr lang="en-US" altLang="zh-CN"/>
              <a:t>8</a:t>
            </a:r>
            <a:r>
              <a:rPr lang="zh-CN" altLang="en-US"/>
              <a:t>组本地内存</a:t>
            </a:r>
            <a:r>
              <a:rPr lang="en-US" altLang="zh-CN"/>
              <a:t>HTTP</a:t>
            </a:r>
            <a:r>
              <a:rPr lang="zh-CN" altLang="en-US"/>
              <a:t>和模拟适配，</a:t>
            </a:r>
            <a:r>
              <a:rPr lang="en-US" altLang="zh-CN"/>
              <a:t>0</a:t>
            </a:r>
            <a:r>
              <a:rPr lang="zh-CN" altLang="en-US"/>
              <a:t>失败也不能推断生产</a:t>
            </a:r>
            <a:r>
              <a:rPr lang="en-US" altLang="zh-CN"/>
              <a:t>SLA</a:t>
            </a:r>
            <a:r>
              <a:rPr lang="zh-CN" altLang="en-US"/>
              <a:t>或目标规模已通过。本轮试演增加的是具体路径证据，不改写这份历史分母或结果。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evidence/g6/G6-02/metrics-ledger.md</a:t>
            </a:r>
          </a:p>
          <a:p>
            <a:r>
              <a:rPr lang="en-US" altLang="zh-CN"/>
              <a:t>evidence/g6/G6-02/b-review.json</a:t>
            </a:r>
          </a:p>
          <a:p>
            <a:r>
              <a:rPr lang="en-US" altLang="zh-CN"/>
              <a:t>evidence/g5/G5-03/c-final-acceptance.json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680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唯一交付索引由</a:t>
            </a:r>
            <a:r>
              <a:rPr lang="en-US" altLang="zh-CN"/>
              <a:t>C</a:t>
            </a:r>
            <a:r>
              <a:rPr lang="zh-CN" altLang="en-US"/>
              <a:t>维护，首版为</a:t>
            </a:r>
            <a:r>
              <a:rPr lang="en-US" altLang="zh-CN"/>
              <a:t>29</a:t>
            </a:r>
            <a:r>
              <a:rPr lang="zh-CN" altLang="en-US"/>
              <a:t>项，其中</a:t>
            </a:r>
            <a:r>
              <a:rPr lang="en-US" altLang="zh-CN"/>
              <a:t>20</a:t>
            </a:r>
            <a:r>
              <a:rPr lang="zh-CN" altLang="en-US"/>
              <a:t>可用、</a:t>
            </a:r>
            <a:r>
              <a:rPr lang="en-US" altLang="zh-CN"/>
              <a:t>9</a:t>
            </a:r>
            <a:r>
              <a:rPr lang="zh-CN" altLang="en-US"/>
              <a:t>缺项，这是首版存在性快照，不是当前齐套或验收通过率。本轮不修改</a:t>
            </a:r>
            <a:r>
              <a:rPr lang="en-US" altLang="zh-CN"/>
              <a:t>C</a:t>
            </a:r>
            <a:r>
              <a:rPr lang="zh-CN" altLang="en-US"/>
              <a:t>的索引和</a:t>
            </a:r>
            <a:r>
              <a:rPr lang="en-US" altLang="zh-CN"/>
              <a:t>RTM</a:t>
            </a:r>
            <a:r>
              <a:rPr lang="zh-CN" altLang="en-US"/>
              <a:t>，提供一份行级增量交接请求。</a:t>
            </a:r>
            <a:r>
              <a:rPr lang="en-US" altLang="zh-CN"/>
              <a:t>G6-01</a:t>
            </a:r>
            <a:r>
              <a:rPr lang="zh-CN" altLang="en-US"/>
              <a:t>文档和</a:t>
            </a:r>
            <a:r>
              <a:rPr lang="en-US" altLang="zh-CN"/>
              <a:t>B</a:t>
            </a:r>
            <a:r>
              <a:rPr lang="zh-CN" altLang="en-US"/>
              <a:t>本地命令记录可以用于操作依据，但尚无</a:t>
            </a:r>
            <a:r>
              <a:rPr lang="en-US" altLang="zh-CN"/>
              <a:t>A</a:t>
            </a:r>
            <a:r>
              <a:rPr lang="zh-CN" altLang="en-US"/>
              <a:t>整体接受记录，不能擅自宣称前置已</a:t>
            </a:r>
            <a:r>
              <a:rPr lang="en-US" altLang="zh-CN"/>
              <a:t>DONE</a:t>
            </a:r>
            <a:r>
              <a:rPr lang="zh-CN" altLang="en-US"/>
              <a:t>。</a:t>
            </a:r>
            <a:r>
              <a:rPr lang="en-US" altLang="zh-CN"/>
              <a:t>G6-02 B</a:t>
            </a:r>
            <a:r>
              <a:rPr lang="zh-CN" altLang="en-US"/>
              <a:t>结论明确只接受首版。本轮的运行、截图、问题和讲稿将作为其最终审计输入。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evidence/g6/G6-02/delivery-index.json</a:t>
            </a:r>
          </a:p>
          <a:p>
            <a:r>
              <a:rPr lang="en-US" altLang="zh-CN"/>
              <a:t>evidence/g6/G6-02/b-review.json</a:t>
            </a:r>
          </a:p>
          <a:p>
            <a:r>
              <a:rPr lang="en-US" altLang="zh-CN"/>
              <a:t>tasks.md</a:t>
            </a:r>
          </a:p>
          <a:p>
            <a:r>
              <a:rPr lang="en-US" altLang="zh-CN"/>
              <a:t>evidence/g6/G6-01/command-execution-ledger.md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754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上述场景、标题、任务、角色都是本轮按用户授权生成的模拟输入，不是仓库事实源中的真实事故或真实人员。实际时间来自机器运行，数据发生时间也是生成输入的一部分。操作使用生产构建的前端、当前后端</a:t>
            </a:r>
            <a:r>
              <a:rPr lang="en-US" altLang="zh-CN"/>
              <a:t>HTTP</a:t>
            </a:r>
            <a:r>
              <a:rPr lang="zh-CN" altLang="en-US"/>
              <a:t>和真实浏览器，保留原始请求响应和审计。</a:t>
            </a:r>
            <a:r>
              <a:rPr lang="en-US" altLang="zh-CN"/>
              <a:t>health</a:t>
            </a:r>
            <a:r>
              <a:rPr lang="zh-CN" altLang="en-US"/>
              <a:t>为</a:t>
            </a:r>
            <a:r>
              <a:rPr lang="en-US" altLang="zh-CN"/>
              <a:t>200</a:t>
            </a:r>
            <a:r>
              <a:rPr lang="zh-CN" altLang="en-US"/>
              <a:t>；没有数据库的</a:t>
            </a:r>
            <a:r>
              <a:rPr lang="en-US" altLang="zh-CN"/>
              <a:t>ready</a:t>
            </a:r>
            <a:r>
              <a:rPr lang="zh-CN" altLang="en-US"/>
              <a:t>明确</a:t>
            </a:r>
            <a:r>
              <a:rPr lang="en-US" altLang="zh-CN"/>
              <a:t>503</a:t>
            </a:r>
            <a:r>
              <a:rPr lang="zh-CN" altLang="en-US"/>
              <a:t>，不能称数据库就绪或生产部署通过。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evidence/g6/G6-03/simulated-dataset.json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control/overrides.md#OVR-039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67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切换到</a:t>
            </a:r>
            <a:r>
              <a:rPr lang="en-US" altLang="zh-CN"/>
              <a:t>Web</a:t>
            </a:r>
            <a:r>
              <a:rPr lang="zh-CN" altLang="en-US"/>
              <a:t>事件页面，先展示底部模拟标识。本轮事件由实际页面表单提交，核实和启动通过实际</a:t>
            </a:r>
            <a:r>
              <a:rPr lang="en-US" altLang="zh-CN"/>
              <a:t>HTTP</a:t>
            </a:r>
            <a:r>
              <a:rPr lang="zh-CN" altLang="en-US"/>
              <a:t>执行。服务端生成任务并返回</a:t>
            </a:r>
            <a:r>
              <a:rPr lang="en-US" altLang="zh-CN"/>
              <a:t>RESPONDING</a:t>
            </a:r>
            <a:r>
              <a:rPr lang="zh-CN" altLang="en-US"/>
              <a:t>，当前页面重新加载显示相同状态。这里核实的人物和灾情都是模拟输入，自动任务消息回执也是明确模拟端口返回，不代表短信或甲方</a:t>
            </a:r>
            <a:r>
              <a:rPr lang="en-US" altLang="zh-CN"/>
              <a:t>APP</a:t>
            </a:r>
            <a:r>
              <a:rPr lang="zh-CN" altLang="en-US"/>
              <a:t>已送达。截图来自本轮成功闭环的同一</a:t>
            </a:r>
            <a:r>
              <a:rPr lang="en-US" altLang="zh-CN"/>
              <a:t>runId</a:t>
            </a:r>
            <a:r>
              <a:rPr lang="zh-CN" altLang="en-US"/>
              <a:t>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evidence/g6/G6-03/simulated-dataset.json</a:t>
            </a:r>
          </a:p>
          <a:p>
            <a:r>
              <a:rPr lang="en-US" altLang="zh-CN"/>
              <a:t>scripts/g6/run-g6-03-rehearsal.mjs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082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H5</a:t>
            </a:r>
            <a:r>
              <a:rPr lang="zh-CN" altLang="en-US"/>
              <a:t>接收和反馈按钮在实际浏览器中执行。旧候选后端反馈保存</a:t>
            </a:r>
            <a:r>
              <a:rPr lang="en-US" altLang="zh-CN"/>
              <a:t>60</a:t>
            </a:r>
            <a:r>
              <a:rPr lang="zh-CN" altLang="en-US"/>
              <a:t>，页面显示</a:t>
            </a:r>
            <a:r>
              <a:rPr lang="en-US" altLang="zh-CN"/>
              <a:t>0</a:t>
            </a:r>
            <a:r>
              <a:rPr lang="zh-CN" altLang="en-US"/>
              <a:t>，原因是映射漏读反馈数组。本轮登记</a:t>
            </a:r>
            <a:r>
              <a:rPr lang="en-US" altLang="zh-CN"/>
              <a:t>Issue</a:t>
            </a:r>
            <a:r>
              <a:rPr lang="zh-CN" altLang="en-US"/>
              <a:t>后仅修正映射，并用回归断言保护显式零值；完整</a:t>
            </a:r>
            <a:r>
              <a:rPr lang="en-US" altLang="zh-CN"/>
              <a:t>quality</a:t>
            </a:r>
            <a:r>
              <a:rPr lang="zh-CN" altLang="en-US"/>
              <a:t>及</a:t>
            </a:r>
            <a:r>
              <a:rPr lang="en-US" altLang="zh-CN"/>
              <a:t>Web/H5</a:t>
            </a:r>
            <a:r>
              <a:rPr lang="zh-CN" altLang="en-US"/>
              <a:t>正常异常路径重跑。最新截图和原始响应均显示</a:t>
            </a:r>
            <a:r>
              <a:rPr lang="en-US" altLang="zh-CN"/>
              <a:t>60</a:t>
            </a:r>
            <a:r>
              <a:rPr lang="zh-CN" altLang="en-US"/>
              <a:t>，任务为</a:t>
            </a:r>
            <a:r>
              <a:rPr lang="en-US" altLang="zh-CN"/>
              <a:t>IN_PROGRESS</a:t>
            </a:r>
            <a:r>
              <a:rPr lang="zh-CN" altLang="en-US"/>
              <a:t>。旧</a:t>
            </a:r>
            <a:r>
              <a:rPr lang="en-US" altLang="zh-CN"/>
              <a:t>FAIL</a:t>
            </a:r>
            <a:r>
              <a:rPr lang="zh-CN" altLang="en-US"/>
              <a:t>与带问题试演保留，问题状态为整改复验完成、待</a:t>
            </a:r>
            <a:r>
              <a:rPr lang="en-US" altLang="zh-CN"/>
              <a:t>B</a:t>
            </a:r>
            <a:r>
              <a:rPr lang="zh-CN" altLang="en-US"/>
              <a:t>技术确认和</a:t>
            </a:r>
            <a:r>
              <a:rPr lang="en-US" altLang="zh-CN"/>
              <a:t>C</a:t>
            </a:r>
            <a:r>
              <a:rPr lang="zh-CN" altLang="en-US"/>
              <a:t>整体复核，不能由整改者代签关闭。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evidence/g6/G6-03/quality-gate.log</a:t>
            </a:r>
          </a:p>
          <a:p>
            <a:r>
              <a:rPr lang="en-US" altLang="zh-CN"/>
              <a:t>frontend/src/features/response/workflow.ts</a:t>
            </a:r>
          </a:p>
          <a:p>
            <a:r>
              <a:rPr lang="en-US" altLang="zh-CN"/>
              <a:t>backend/src/event-workflow.mjs</a:t>
            </a:r>
          </a:p>
          <a:p>
            <a:r>
              <a:rPr lang="en-US" altLang="zh-CN"/>
              <a:t>control/issues.md#ISSUE-G6-03-001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110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异常分支通过真实状态变化制造：页面仍持有旧版本，另一终端已经接收同一任务。随后点击旧页面接收按钮，服务器实际返回</a:t>
            </a:r>
            <a:r>
              <a:rPr lang="en-US" altLang="zh-CN"/>
              <a:t>409</a:t>
            </a:r>
            <a:r>
              <a:rPr lang="zh-CN" altLang="en-US"/>
              <a:t>，页面显示冲突信息与</a:t>
            </a:r>
            <a:r>
              <a:rPr lang="en-US" altLang="zh-CN"/>
              <a:t>traceId</a:t>
            </a:r>
            <a:r>
              <a:rPr lang="zh-CN" altLang="en-US"/>
              <a:t>。另有事件启动旧版本请求同样返回</a:t>
            </a:r>
            <a:r>
              <a:rPr lang="en-US" altLang="zh-CN"/>
              <a:t>409</a:t>
            </a:r>
            <a:r>
              <a:rPr lang="zh-CN" altLang="en-US"/>
              <a:t>。这是模拟业务输入下的真实异常运行，不是手工画出的错误截图。故障处置为刷新核对版本，不重复盲提交；门禁等物理控制不纳入这次异常验证。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scripts/g6/run-g6-03-rehearsal.mjs</a:t>
            </a:r>
          </a:p>
          <a:p>
            <a:r>
              <a:rPr lang="en-US" altLang="zh-CN"/>
              <a:t>docs/work/B_TECH/g6_user_manual.md#7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422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权限验证分两层：只读模拟角色对事件写入</a:t>
            </a:r>
            <a:r>
              <a:rPr lang="en-US" altLang="zh-CN"/>
              <a:t>API</a:t>
            </a:r>
            <a:r>
              <a:rPr lang="zh-CN" altLang="en-US"/>
              <a:t>发起实际请求，后端返回</a:t>
            </a:r>
            <a:r>
              <a:rPr lang="en-US" altLang="zh-CN"/>
              <a:t>403</a:t>
            </a:r>
            <a:r>
              <a:rPr lang="zh-CN" altLang="en-US"/>
              <a:t>，拒绝前后的事件数量没有增加；只读角色打开缺少</a:t>
            </a:r>
            <a:r>
              <a:rPr lang="en-US" altLang="zh-CN"/>
              <a:t>plan:read</a:t>
            </a:r>
            <a:r>
              <a:rPr lang="zh-CN" altLang="en-US"/>
              <a:t>权限的页面，路由守卫转到无访问权限页面。原始审计含</a:t>
            </a:r>
            <a:r>
              <a:rPr lang="en-US" altLang="zh-CN"/>
              <a:t>denied</a:t>
            </a:r>
            <a:r>
              <a:rPr lang="zh-CN" altLang="en-US"/>
              <a:t>。注入模拟</a:t>
            </a:r>
            <a:r>
              <a:rPr lang="en-US" altLang="zh-CN"/>
              <a:t>Bearer</a:t>
            </a:r>
            <a:r>
              <a:rPr lang="zh-CN" altLang="en-US"/>
              <a:t>只为本地试演，未使用开发身份头绕过生产约束，不构成甲方真实统一身份平台验收。</a:t>
            </a:r>
            <a:r>
              <a:rPr lang="en-US" altLang="zh-CN"/>
              <a:t>A</a:t>
            </a:r>
            <a:r>
              <a:rPr lang="zh-CN" altLang="en-US"/>
              <a:t>负责叙事、</a:t>
            </a:r>
            <a:r>
              <a:rPr lang="en-US" altLang="zh-CN"/>
              <a:t>B</a:t>
            </a:r>
            <a:r>
              <a:rPr lang="zh-CN" altLang="en-US"/>
              <a:t>负责技术边界、</a:t>
            </a:r>
            <a:r>
              <a:rPr lang="en-US" altLang="zh-CN"/>
              <a:t>C</a:t>
            </a:r>
            <a:r>
              <a:rPr lang="zh-CN" altLang="en-US"/>
              <a:t>负责数字与证据复核。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backend/src/identity.mjs</a:t>
            </a:r>
          </a:p>
          <a:p>
            <a:r>
              <a:rPr lang="en-US" altLang="zh-CN"/>
              <a:t>frontend/src/router/index.ts</a:t>
            </a:r>
          </a:p>
          <a:p>
            <a:r>
              <a:rPr lang="en-US" altLang="zh-CN"/>
              <a:t>docs/work/B_TECH/g6_user_manual.md#3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294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当前后端实际完成两条任务，关闭事件并在</a:t>
            </a:r>
            <a:r>
              <a:rPr lang="en-US" altLang="zh-CN"/>
              <a:t>Web</a:t>
            </a:r>
            <a:r>
              <a:rPr lang="zh-CN" altLang="en-US"/>
              <a:t>页面显示</a:t>
            </a:r>
            <a:r>
              <a:rPr lang="en-US" altLang="zh-CN"/>
              <a:t>CLOSED</a:t>
            </a:r>
            <a:r>
              <a:rPr lang="zh-CN" altLang="en-US"/>
              <a:t>。本轮自动化运行耗时</a:t>
            </a:r>
            <a:r>
              <a:rPr lang="en-US" altLang="zh-CN"/>
              <a:t>3.983</a:t>
            </a:r>
            <a:r>
              <a:rPr lang="zh-CN" altLang="en-US"/>
              <a:t>秒，来自机器计时，不是人的现场讲述时长，也不能说明性能</a:t>
            </a:r>
            <a:r>
              <a:rPr lang="en-US" altLang="zh-CN"/>
              <a:t>SLA</a:t>
            </a:r>
            <a:r>
              <a:rPr lang="zh-CN" altLang="en-US"/>
              <a:t>。整改后本轮结果为</a:t>
            </a:r>
            <a:r>
              <a:rPr lang="en-US" altLang="zh-CN"/>
              <a:t>PASS</a:t>
            </a:r>
            <a:r>
              <a:rPr lang="zh-CN" altLang="en-US"/>
              <a:t>，</a:t>
            </a:r>
            <a:r>
              <a:rPr lang="en-US" altLang="zh-CN"/>
              <a:t>H5</a:t>
            </a:r>
            <a:r>
              <a:rPr lang="zh-CN" altLang="en-US"/>
              <a:t>显示和其他路径实际断言见原始记录。此前记录器</a:t>
            </a:r>
            <a:r>
              <a:rPr lang="en-US" altLang="zh-CN"/>
              <a:t>404</a:t>
            </a:r>
            <a:r>
              <a:rPr lang="zh-CN" altLang="en-US"/>
              <a:t>和进度问题失败均保留，没有隐藏或把整个过程写成一次成功。</a:t>
            </a:r>
            <a:r>
              <a:rPr lang="en-US" altLang="zh-CN"/>
              <a:t>PASS</a:t>
            </a:r>
            <a:r>
              <a:rPr lang="zh-CN" altLang="en-US"/>
              <a:t>仅描述本轮模拟试演自检，不能替代</a:t>
            </a:r>
            <a:r>
              <a:rPr lang="en-US" altLang="zh-CN"/>
              <a:t>C</a:t>
            </a:r>
            <a:r>
              <a:rPr lang="zh-CN" altLang="en-US"/>
              <a:t>整体复核或真实项目验收。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en-US" altLang="zh-CN"/>
              <a:t>evidence/g6/G6-03/raw/</a:t>
            </a:r>
          </a:p>
          <a:p>
            <a:r>
              <a:rPr lang="en-US" altLang="zh-CN"/>
              <a:t>control/issues.md#ISSUE-G6-03-001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288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H5</a:t>
            </a:r>
            <a:r>
              <a:rPr lang="zh-CN" altLang="en-US"/>
              <a:t>进度显示问题属于本轮新增技术输入。</a:t>
            </a:r>
            <a:r>
              <a:rPr lang="en-US" altLang="zh-CN"/>
              <a:t>G5</a:t>
            </a:r>
            <a:r>
              <a:rPr lang="zh-CN" altLang="en-US"/>
              <a:t>的</a:t>
            </a:r>
            <a:r>
              <a:rPr lang="en-US" altLang="zh-CN"/>
              <a:t>30</a:t>
            </a:r>
            <a:r>
              <a:rPr lang="zh-CN" altLang="en-US"/>
              <a:t>条</a:t>
            </a:r>
            <a:r>
              <a:rPr lang="en-US" altLang="zh-CN"/>
              <a:t>AC</a:t>
            </a:r>
            <a:r>
              <a:rPr lang="zh-CN" altLang="en-US"/>
              <a:t>实现延期、其余</a:t>
            </a:r>
            <a:r>
              <a:rPr lang="en-US" altLang="zh-CN"/>
              <a:t>76</a:t>
            </a:r>
            <a:r>
              <a:rPr lang="zh-CN" altLang="en-US"/>
              <a:t>条</a:t>
            </a:r>
            <a:r>
              <a:rPr lang="en-US" altLang="zh-CN"/>
              <a:t>AC</a:t>
            </a:r>
            <a:r>
              <a:rPr lang="zh-CN" altLang="en-US"/>
              <a:t>证据延期继续保留，六类甲方系统真实联调</a:t>
            </a:r>
            <a:r>
              <a:rPr lang="en-US" altLang="zh-CN"/>
              <a:t>0/6</a:t>
            </a:r>
            <a:r>
              <a:rPr lang="zh-CN" altLang="en-US"/>
              <a:t>、真实非乙方部署操作者</a:t>
            </a:r>
            <a:r>
              <a:rPr lang="en-US" altLang="zh-CN"/>
              <a:t>0</a:t>
            </a:r>
            <a:r>
              <a:rPr lang="zh-CN" altLang="en-US"/>
              <a:t>也未改变。</a:t>
            </a:r>
            <a:r>
              <a:rPr lang="en-US" altLang="zh-CN"/>
              <a:t>AI</a:t>
            </a:r>
            <a:r>
              <a:rPr lang="zh-CN" altLang="en-US"/>
              <a:t>代码占比、首审打回率、</a:t>
            </a:r>
            <a:r>
              <a:rPr lang="en-US" altLang="zh-CN"/>
              <a:t>Prompt</a:t>
            </a:r>
            <a:r>
              <a:rPr lang="zh-CN" altLang="en-US"/>
              <a:t>复用次数和返工工时尚无可靠归因样本，账本为</a:t>
            </a:r>
            <a:r>
              <a:rPr lang="en-US" altLang="zh-CN"/>
              <a:t>UNKNOWN</a:t>
            </a:r>
            <a:r>
              <a:rPr lang="zh-CN" altLang="en-US"/>
              <a:t>，不写零或虚构比例。现场意见和实际签署尚未发生，材料只能作为候选。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control/issues.md</a:t>
            </a:r>
          </a:p>
          <a:p>
            <a:r>
              <a:rPr lang="en-US" altLang="zh-CN"/>
              <a:t>evidence/g6/G6-02/gaps-deferrals.md</a:t>
            </a:r>
          </a:p>
          <a:p>
            <a:r>
              <a:rPr lang="en-US" altLang="zh-CN"/>
              <a:t>evidence/g6/G6-02/metrics-ledger.md</a:t>
            </a:r>
          </a:p>
          <a:p>
            <a:r>
              <a:rPr lang="en-US" altLang="zh-CN"/>
              <a:t>evidence/g6/G6-03/rehearsal-result.json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74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现场执行前核对版本、前端构建、模拟标识和权限。服务不可用时停止写操作，记录真实失败，不临场升级或改代码；改用本轮已归档截图和原始记录，明确是备用证据而非现场成功。若出现</a:t>
            </a:r>
            <a:r>
              <a:rPr lang="en-US" altLang="zh-CN"/>
              <a:t>409</a:t>
            </a:r>
            <a:r>
              <a:rPr lang="zh-CN" altLang="en-US"/>
              <a:t>，刷新并核对版本；</a:t>
            </a:r>
            <a:r>
              <a:rPr lang="en-US" altLang="zh-CN"/>
              <a:t>403</a:t>
            </a:r>
            <a:r>
              <a:rPr lang="zh-CN" altLang="en-US"/>
              <a:t>检查权限，不能借用他人账号。消息失败转人工确认，物理门禁控制禁止自动重放。</a:t>
            </a:r>
            <a:r>
              <a:rPr lang="en-US" altLang="zh-CN"/>
              <a:t>C</a:t>
            </a:r>
            <a:r>
              <a:rPr lang="zh-CN" altLang="en-US"/>
              <a:t>整体</a:t>
            </a:r>
            <a:r>
              <a:rPr lang="en-US" altLang="zh-CN"/>
              <a:t>Review</a:t>
            </a:r>
            <a:r>
              <a:rPr lang="zh-CN" altLang="en-US"/>
              <a:t>、</a:t>
            </a:r>
            <a:r>
              <a:rPr lang="en-US" altLang="zh-CN"/>
              <a:t>G6-01 A</a:t>
            </a:r>
            <a:r>
              <a:rPr lang="zh-CN" altLang="en-US"/>
              <a:t>复核和</a:t>
            </a:r>
            <a:r>
              <a:rPr lang="en-US" altLang="zh-CN"/>
              <a:t>G6-02</a:t>
            </a:r>
            <a:r>
              <a:rPr lang="zh-CN" altLang="en-US"/>
              <a:t>最终增量审计仍待闭环。真实现场的质询、计时和意见仅在实际发生后追加记录。</a:t>
            </a:r>
          </a:p>
          <a:p>
            <a:endParaRPr lang="zh-CN" altLang="en-US"/>
          </a:p>
          <a:p>
            <a:r>
              <a:rPr lang="zh-CN" altLang="en-US"/>
              <a:t>来源：</a:t>
            </a:r>
          </a:p>
          <a:p>
            <a:r>
              <a:rPr lang="en-US" altLang="zh-CN"/>
              <a:t>docs/work/G6/g6_03_demo_and_qna.md</a:t>
            </a:r>
          </a:p>
          <a:p>
            <a:r>
              <a:rPr lang="en-US" altLang="zh-CN"/>
              <a:t>docs/work/B_TECH/g6_user_manual.md</a:t>
            </a:r>
          </a:p>
          <a:p>
            <a:r>
              <a:rPr lang="en-US" altLang="zh-CN"/>
              <a:t>docs/work/B_TECH/adr/ADR-002-</a:t>
            </a:r>
            <a:r>
              <a:rPr lang="zh-CN" altLang="en-US"/>
              <a:t>事务</a:t>
            </a:r>
            <a:r>
              <a:rPr lang="en-US" altLang="zh-CN"/>
              <a:t>Outbox</a:t>
            </a:r>
            <a:r>
              <a:rPr lang="zh-CN" altLang="en-US"/>
              <a:t>与持久任务</a:t>
            </a:r>
            <a:r>
              <a:rPr lang="en-US" altLang="zh-CN"/>
              <a:t>.md</a:t>
            </a:r>
          </a:p>
          <a:p>
            <a:r>
              <a:rPr lang="en-US" altLang="zh-CN"/>
              <a:t>tasks.md</a:t>
            </a:r>
          </a:p>
          <a:p>
            <a:r>
              <a:rPr lang="zh-CN" altLang="en-US"/>
              <a:t>截图版本：</a:t>
            </a:r>
            <a:r>
              <a:rPr lang="en-US" altLang="zh-CN"/>
              <a:t>2026-10-11T14-10-55-529Z</a:t>
            </a:r>
          </a:p>
          <a:p>
            <a:r>
              <a:rPr lang="zh-CN" altLang="en-US"/>
              <a:t>数据和状态：</a:t>
            </a:r>
            <a:r>
              <a:rPr lang="en-US" altLang="zh-CN"/>
              <a:t>COURSE_SIMULATED_REHEARSAL / REAL_WORLD_DEFERRED / C_PENDING_REVIEW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7FFA-7EBE-4257-AFCA-48BD069FC2F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68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AF129-F72A-4251-B562-D370943CF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F0FBF9-B563-4552-B318-56953793C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D8F0E-F38D-4851-B242-785A476D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719FE-B416-4258-9BA5-B3D30874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63A291-1446-4F04-9C1C-93CFF840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80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60165-9E25-4A15-8AB8-F450FC3D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C7A6C-8C1F-4B6E-AD53-918B8BFAC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A5626A-B1DA-42F9-8F05-38FAD34F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F626E-9F3B-489C-8329-55C0A5A5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5055B9-271D-4025-946F-AD7619AD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4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18617-862E-4DEF-B8E1-32DFE3FA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5AEDE-62F0-42D9-BBBB-6AEC0213A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95B26-B47D-4E14-970E-CBD75DF5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A0976-2A0C-4EA5-9BE6-63DBAE07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8ED94-4D97-4923-B2A0-DFF6654A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3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E2733-29D9-4142-86C4-BAA315BA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73AAB-D932-4D1A-B19E-23D298110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9CD3E0-15EA-46DD-BF38-C85346E62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1E017-18BE-4635-847D-7B923F69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F43B32-89AD-41AB-8ADE-B7A147EA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54B59-9B0D-4DF5-87BE-2FF9F812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8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57644-2FF5-478B-9279-ABD2FC0B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FB8521-E21F-435D-A74A-E8EA9572E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F582B1-167F-460D-A44B-886471131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3DA8C4-B998-495D-9D19-5ECA4641A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891988-1617-4C93-AF45-EEFBD753F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DC45B4-51C1-44FB-98EE-FD7CFBFD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91FE52-6494-489D-9554-BAA80F86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E5FA83-0CC1-497E-B8B8-A9B26D13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812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50280-C586-4B4F-94EB-C6722B21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67ACC4-EF2C-4CBA-A75F-D77C6999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E0B2DC-8443-41DE-929A-63D757C2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C18F45-74FB-44BC-BDBD-22D93287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96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3884CE-2B8E-4F03-92BD-2810E4DE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EEA6BF-CC35-4B64-88F6-F1B67A9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406F56-3C5E-460D-B0A2-50E0DB64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63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0B437-0045-49A6-8EDF-61AC5586A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5D684-C601-49A5-97FC-95DDE220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461638-7DF2-432C-81DC-09E03E326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1E138-441C-441C-ABF8-38696783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8C9BAC-F542-42A2-B342-FEB51CA6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E2BFB7-1836-44F7-AA16-EE445B8C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73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9B80B-1E9D-453B-9D1D-B3B1DD91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D5B428-AC3F-4205-8084-542CF5DF0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EE8BAA-FE8D-426F-BA92-906FD0A78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FA09B0-DF83-4035-8DCD-CB01F14B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C7F8A2-47F5-43D3-A4E7-95F0D52A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1EE27E-B841-4AB0-B8AC-BB84B2CA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1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1130D-612F-4901-B6BC-340A236E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B60FC5-A347-44E9-B087-916CF1C38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92854-793E-4305-9D14-B7301091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E57A9-F092-428D-85A5-8E83A209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D1F83-EA6D-474A-94FA-13043458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3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16BF68-F928-4DAA-8BF2-7FFBCF601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78A8F3-08CB-4266-BA81-50D566C45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58A5A-6902-4360-9CAD-CB0D11A3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20F767-5440-40E0-A2E8-930930BD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B1EAA-B9E0-4AA2-84BD-E234A94C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3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69D891-B825-443B-B3E4-850A90AA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A32270-DFA3-4A64-B4C1-24EF86A65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0A397-D42E-4331-BBCD-13A175445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FA33C-6648-48C0-937A-91135B7D527E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2D53E1-42F5-45CD-9DD7-B5C3DA2BA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D6381-79B5-49E9-92AF-9828D6982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306FC-4156-411C-BCB8-364FFCBFC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75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CEF794D-AF02-4D21-8114-40B5F5532DF1}"/>
              </a:ext>
            </a:extLst>
          </p:cNvPr>
          <p:cNvSpPr txBox="1"/>
          <p:nvPr/>
        </p:nvSpPr>
        <p:spPr>
          <a:xfrm>
            <a:off x="812800" y="1473199"/>
            <a:ext cx="10668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44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1A10CA8-22D1-4C62-946A-2224F68886F3}"/>
              </a:ext>
            </a:extLst>
          </p:cNvPr>
          <p:cNvSpPr txBox="1"/>
          <p:nvPr/>
        </p:nvSpPr>
        <p:spPr>
          <a:xfrm>
            <a:off x="838200" y="2501899"/>
            <a:ext cx="10414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2900" b="1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验收答辩候选 </a:t>
            </a:r>
            <a:r>
              <a:rPr lang="en-US" altLang="zh-CN" sz="2900" b="1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V0.1</a:t>
            </a:r>
            <a:endParaRPr lang="zh-CN" altLang="en-US" sz="2900" b="1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over-body">
            <a:extLst>
              <a:ext uri="{FF2B5EF4-FFF2-40B4-BE49-F238E27FC236}">
                <a16:creationId xmlns:a16="http://schemas.microsoft.com/office/drawing/2014/main" id="{8AA2266F-2AD0-40E6-B9C8-CEE0BCC6A094}"/>
              </a:ext>
            </a:extLst>
          </p:cNvPr>
          <p:cNvSpPr txBox="1"/>
          <p:nvPr/>
        </p:nvSpPr>
        <p:spPr>
          <a:xfrm>
            <a:off x="863600" y="3670299"/>
            <a:ext cx="104140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博物馆智能运营中心</a:t>
            </a: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G6-03  /  A 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主责，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整体复核待执行</a:t>
            </a: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模拟项目试演，当前系统本地实际运行</a:t>
            </a:r>
          </a:p>
        </p:txBody>
      </p:sp>
      <p:sp>
        <p:nvSpPr>
          <p:cNvPr id="5" name="boundary">
            <a:extLst>
              <a:ext uri="{FF2B5EF4-FFF2-40B4-BE49-F238E27FC236}">
                <a16:creationId xmlns:a16="http://schemas.microsoft.com/office/drawing/2014/main" id="{2D0A42D0-D51F-49E2-9769-FD92DA10A8AC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AAD3F809-F082-43A8-BC0A-E59CF3DFD446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157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C87442-3C8E-4C4C-857B-7A195C9B2F93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课程状态与真实验收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86BC913-CBA3-4BC3-A605-AB9A76E14C2A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G5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课程条件收口保留全部真实延期</a:t>
            </a:r>
          </a:p>
        </p:txBody>
      </p:sp>
      <p:graphicFrame>
        <p:nvGraphicFramePr>
          <p:cNvPr id="4" name="evidence-table">
            <a:extLst>
              <a:ext uri="{FF2B5EF4-FFF2-40B4-BE49-F238E27FC236}">
                <a16:creationId xmlns:a16="http://schemas.microsoft.com/office/drawing/2014/main" id="{729C545B-F44B-4942-B762-715147EF2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62972"/>
              </p:ext>
            </p:extLst>
          </p:nvPr>
        </p:nvGraphicFramePr>
        <p:xfrm>
          <a:off x="609600" y="1841500"/>
          <a:ext cx="10972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87948994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048476895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423704759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已定位的证据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结论边界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73641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G1—G3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立项、需求、设计及冻结记录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冻结范围继续受控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821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G4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任务已收口进入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master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研发收口不派生全量验收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25952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G5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最终复核课程条件接受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实现与真实环境延期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55092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G6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手册、索引、答辩候选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整体复核与最终审计待完成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764203"/>
                  </a:ext>
                </a:extLst>
              </a:tr>
            </a:tbl>
          </a:graphicData>
        </a:graphic>
      </p:graphicFrame>
      <p:sp>
        <p:nvSpPr>
          <p:cNvPr id="5" name="boundary">
            <a:extLst>
              <a:ext uri="{FF2B5EF4-FFF2-40B4-BE49-F238E27FC236}">
                <a16:creationId xmlns:a16="http://schemas.microsoft.com/office/drawing/2014/main" id="{4A6C619D-5FA3-424C-BA7E-A8BFB8F645CA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3C7D6F0-3F00-4652-AC1B-2A63C3E9F6F8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86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3A3746-B2E6-4577-82B9-66A1BF63F567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冻结范围与责任边界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AC5E3DB-B5C9-4B0C-A33B-37A65D54B93D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 FR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项★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117 AC</a:t>
            </a:r>
            <a:endParaRPr lang="zh-CN" altLang="en-US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C6D89B8-724F-4B59-AE3D-38B6361D3133}"/>
              </a:ext>
            </a:extLst>
          </p:cNvPr>
          <p:cNvSpPr txBox="1"/>
          <p:nvPr/>
        </p:nvSpPr>
        <p:spPr>
          <a:xfrm>
            <a:off x="812800" y="2044699"/>
            <a:ext cx="10566400" cy="393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承担事件核实、预案启动和任务统筹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嵌入既有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，承担移动上报、接收和反馈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甲方提供中台、地图与外部接口资源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乙方实现业务适配与验证，后续补测继续保留</a:t>
            </a:r>
          </a:p>
        </p:txBody>
      </p:sp>
      <p:sp>
        <p:nvSpPr>
          <p:cNvPr id="5" name="boundary">
            <a:extLst>
              <a:ext uri="{FF2B5EF4-FFF2-40B4-BE49-F238E27FC236}">
                <a16:creationId xmlns:a16="http://schemas.microsoft.com/office/drawing/2014/main" id="{6B079847-15E3-4913-BBFE-4EBCE0D5544A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2BFBA428-3D55-47F0-8F29-D0D677B0A81C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841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847A50E-2B8E-4D3D-B57E-FEDCB19524EE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实现与发布基线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C9175D7-5D68-4444-AA0F-1E4BFEC531A3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启动版本一致，显示整改后单独锁定新候选</a:t>
            </a:r>
          </a:p>
        </p:txBody>
      </p:sp>
      <p:graphicFrame>
        <p:nvGraphicFramePr>
          <p:cNvPr id="4" name="evidence-table">
            <a:extLst>
              <a:ext uri="{FF2B5EF4-FFF2-40B4-BE49-F238E27FC236}">
                <a16:creationId xmlns:a16="http://schemas.microsoft.com/office/drawing/2014/main" id="{3052CA51-2714-40F7-8EDD-2DC2425C5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191746"/>
              </p:ext>
            </p:extLst>
          </p:nvPr>
        </p:nvGraphicFramePr>
        <p:xfrm>
          <a:off x="609600" y="1841500"/>
          <a:ext cx="10972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92680086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405607056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156922904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当前实现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本轮验证范围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52048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Vue 3 / Vite</a:t>
                      </a:r>
                      <a:r>
                        <a:rPr lang="zh-CN" altLang="fr-FR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，正式</a:t>
                      </a:r>
                      <a:r>
                        <a:rPr lang="fr-FR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fr-FR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H5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页面操作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0250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后端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Node.js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，模块化业务和端口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和状态迁移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39204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持久化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生产设计为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PostgreSQL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本轮内存执行，不验证持久化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91046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外部能力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身份、消息、预案端口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本轮显式模拟，不接甲方系统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014262"/>
                  </a:ext>
                </a:extLst>
              </a:tr>
            </a:tbl>
          </a:graphicData>
        </a:graphic>
      </p:graphicFrame>
      <p:sp>
        <p:nvSpPr>
          <p:cNvPr id="5" name="boundary">
            <a:extLst>
              <a:ext uri="{FF2B5EF4-FFF2-40B4-BE49-F238E27FC236}">
                <a16:creationId xmlns:a16="http://schemas.microsoft.com/office/drawing/2014/main" id="{9A28A736-F044-46D9-8523-E77BBC8C7887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F9B6D5E-B800-474F-9F8D-C2C35614E34F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35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33858C2-E1FA-403D-B239-3B67EB6A923F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G5</a:t>
            </a: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质量结果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A38880E-8407-4AE5-8646-53477E9F3AA9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原始结果保持原分母</a:t>
            </a:r>
          </a:p>
        </p:txBody>
      </p:sp>
      <p:graphicFrame>
        <p:nvGraphicFramePr>
          <p:cNvPr id="4" name="evidence-table">
            <a:extLst>
              <a:ext uri="{FF2B5EF4-FFF2-40B4-BE49-F238E27FC236}">
                <a16:creationId xmlns:a16="http://schemas.microsoft.com/office/drawing/2014/main" id="{4EE7D7DD-9D7B-45FF-9509-FF2FD3BB0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58521"/>
              </p:ext>
            </p:extLst>
          </p:nvPr>
        </p:nvGraphicFramePr>
        <p:xfrm>
          <a:off x="609600" y="1841500"/>
          <a:ext cx="10972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5464013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67601744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4274135138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真实结果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7532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 PASS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仅这些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已有对应真实通过证据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04704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 NOT_RUN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仍需执行并归档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98356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 BLOCKED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保留实现或资源阻断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3634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★FR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PASS / 33 BLOCKED</a:t>
                      </a:r>
                      <a:endParaRPr lang="zh-CN" altLang="en-US" sz="1800" b="0">
                        <a:solidFill>
                          <a:srgbClr val="172E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分母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，不以局部套件推导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63257"/>
                  </a:ext>
                </a:extLst>
              </a:tr>
            </a:tbl>
          </a:graphicData>
        </a:graphic>
      </p:graphicFrame>
      <p:sp>
        <p:nvSpPr>
          <p:cNvPr id="5" name="boundary">
            <a:extLst>
              <a:ext uri="{FF2B5EF4-FFF2-40B4-BE49-F238E27FC236}">
                <a16:creationId xmlns:a16="http://schemas.microsoft.com/office/drawing/2014/main" id="{6FC9DF4A-4163-4AF1-A562-07E7E218A3D1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561EC147-8141-447F-A1B2-31D9B09822BE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02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521A61B-4501-4E06-9935-23A0C9E43F79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交付与证据导航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BEF0F05-F5EF-4E1D-802E-1DCC16C4C533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沿用唯一索引，当前候选进入增量交接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1BF4676-376E-49D5-B2AE-AE3737E12465}"/>
              </a:ext>
            </a:extLst>
          </p:cNvPr>
          <p:cNvSpPr txBox="1"/>
          <p:nvPr/>
        </p:nvSpPr>
        <p:spPr>
          <a:xfrm>
            <a:off x="812800" y="2044699"/>
            <a:ext cx="10566400" cy="393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G6-01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：两本手册、命令台账与已知限制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G6-02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：首版索引、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RTM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增量及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复核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G6-03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：逐页来源、实际试演和异常响应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最终状态由指定复核人和后续审计确认</a:t>
            </a:r>
          </a:p>
        </p:txBody>
      </p:sp>
      <p:sp>
        <p:nvSpPr>
          <p:cNvPr id="5" name="boundary">
            <a:extLst>
              <a:ext uri="{FF2B5EF4-FFF2-40B4-BE49-F238E27FC236}">
                <a16:creationId xmlns:a16="http://schemas.microsoft.com/office/drawing/2014/main" id="{2DEE44C3-6BB9-4DDE-852C-064A5162A51C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3A98A5E2-B28F-46B3-8F83-98C379DADBC3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5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A2D57B-D00B-4224-BE44-134FB7EDF257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模拟试演输入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2E5B34-D124-4E4A-A09A-83ECC7E8622B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全部业务输入显著标记为模拟数据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6727EC3-D7D6-496D-B1F7-8213B5F81F4C}"/>
              </a:ext>
            </a:extLst>
          </p:cNvPr>
          <p:cNvSpPr txBox="1"/>
          <p:nvPr/>
        </p:nvSpPr>
        <p:spPr>
          <a:xfrm>
            <a:off x="812800" y="2044699"/>
            <a:ext cx="10566400" cy="393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场景：一层展厅烟雾提示的核实与处置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预案：疏散通道检查、展厅人员清点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角色：模拟指挥员、执行员、只读观察员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后端内存存储，身份与消息端口模拟</a:t>
            </a:r>
          </a:p>
        </p:txBody>
      </p:sp>
      <p:sp>
        <p:nvSpPr>
          <p:cNvPr id="5" name="boundary">
            <a:extLst>
              <a:ext uri="{FF2B5EF4-FFF2-40B4-BE49-F238E27FC236}">
                <a16:creationId xmlns:a16="http://schemas.microsoft.com/office/drawing/2014/main" id="{F04D6318-225D-4C4B-9787-70762FA4E058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1FAD23FC-F0B2-4CB3-97E7-FE71504C4726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849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00D9DB-C91C-49BB-9964-4984BCB06F57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事件核实与预案启动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AF8F46-593B-4978-8682-7819E93E117D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页面实际提交，服务端状态为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RESPONDING</a:t>
            </a:r>
            <a:endParaRPr lang="zh-CN" altLang="en-US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actual-run-screenshot">
            <a:extLst>
              <a:ext uri="{FF2B5EF4-FFF2-40B4-BE49-F238E27FC236}">
                <a16:creationId xmlns:a16="http://schemas.microsoft.com/office/drawing/2014/main" id="{D75E7CAC-5C0E-45C2-8FDB-8C4CF59D7B1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1816100"/>
            <a:ext cx="5852160" cy="4064000"/>
          </a:xfrm>
          <a:prstGeom prst="rect">
            <a:avLst/>
          </a:prstGeom>
        </p:spPr>
      </p:pic>
      <p:sp>
        <p:nvSpPr>
          <p:cNvPr id="6" name="image-source">
            <a:extLst>
              <a:ext uri="{FF2B5EF4-FFF2-40B4-BE49-F238E27FC236}">
                <a16:creationId xmlns:a16="http://schemas.microsoft.com/office/drawing/2014/main" id="{5D9DBC3B-6685-4535-A848-52C6F105B6C5}"/>
              </a:ext>
            </a:extLst>
          </p:cNvPr>
          <p:cNvSpPr txBox="1"/>
          <p:nvPr/>
        </p:nvSpPr>
        <p:spPr>
          <a:xfrm>
            <a:off x="609600" y="6019800"/>
            <a:ext cx="704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模拟数据，实际截图；版本：</a:t>
            </a:r>
            <a:r>
              <a:rPr lang="en-US" altLang="zh-CN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2026-10-11T14-10-55-529Z</a:t>
            </a:r>
            <a:endParaRPr lang="zh-CN" altLang="en-US" sz="10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evidence-observations">
            <a:extLst>
              <a:ext uri="{FF2B5EF4-FFF2-40B4-BE49-F238E27FC236}">
                <a16:creationId xmlns:a16="http://schemas.microsoft.com/office/drawing/2014/main" id="{20106C6D-731F-4654-93A2-F3029BDCEAF2}"/>
              </a:ext>
            </a:extLst>
          </p:cNvPr>
          <p:cNvSpPr txBox="1"/>
          <p:nvPr/>
        </p:nvSpPr>
        <p:spPr>
          <a:xfrm>
            <a:off x="8089900" y="1930399"/>
            <a:ext cx="3492500" cy="408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页面上报写入当前后端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核实后启动锁定模拟预案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自动生成两条模拟任务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原始请求、响应和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traceId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可追溯</a:t>
            </a:r>
          </a:p>
        </p:txBody>
      </p:sp>
      <p:sp>
        <p:nvSpPr>
          <p:cNvPr id="8" name="boundary">
            <a:extLst>
              <a:ext uri="{FF2B5EF4-FFF2-40B4-BE49-F238E27FC236}">
                <a16:creationId xmlns:a16="http://schemas.microsoft.com/office/drawing/2014/main" id="{F35EEF54-EC63-4D15-B862-018DCFB2DECB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2FF33429-9135-4A9C-951B-8166551B0B42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94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8658D8F-F7C5-4C5E-8AE5-2F884329552F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接收与反馈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EB19D83-6D72-445E-B5A6-0C279135D7E9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整改后页面与反馈记录均为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lang="zh-CN" altLang="en-US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actual-run-screenshot">
            <a:extLst>
              <a:ext uri="{FF2B5EF4-FFF2-40B4-BE49-F238E27FC236}">
                <a16:creationId xmlns:a16="http://schemas.microsoft.com/office/drawing/2014/main" id="{A4BFE272-B57A-463B-AADB-62E8DBEEC7E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0" y="1816100"/>
            <a:ext cx="1950720" cy="4064000"/>
          </a:xfrm>
          <a:prstGeom prst="rect">
            <a:avLst/>
          </a:prstGeom>
        </p:spPr>
      </p:pic>
      <p:sp>
        <p:nvSpPr>
          <p:cNvPr id="6" name="image-source">
            <a:extLst>
              <a:ext uri="{FF2B5EF4-FFF2-40B4-BE49-F238E27FC236}">
                <a16:creationId xmlns:a16="http://schemas.microsoft.com/office/drawing/2014/main" id="{1C4F4752-C30C-4E68-B747-DB8ED08A4658}"/>
              </a:ext>
            </a:extLst>
          </p:cNvPr>
          <p:cNvSpPr txBox="1"/>
          <p:nvPr/>
        </p:nvSpPr>
        <p:spPr>
          <a:xfrm>
            <a:off x="609600" y="6019800"/>
            <a:ext cx="704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模拟数据，实际截图；版本：</a:t>
            </a:r>
            <a:r>
              <a:rPr lang="en-US" altLang="zh-CN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2026-10-11T14-10-55-529Z</a:t>
            </a:r>
            <a:endParaRPr lang="zh-CN" altLang="en-US" sz="10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evidence-observations">
            <a:extLst>
              <a:ext uri="{FF2B5EF4-FFF2-40B4-BE49-F238E27FC236}">
                <a16:creationId xmlns:a16="http://schemas.microsoft.com/office/drawing/2014/main" id="{E67AA32C-56C9-441B-9B6D-D9C6C40AC9CD}"/>
              </a:ext>
            </a:extLst>
          </p:cNvPr>
          <p:cNvSpPr txBox="1"/>
          <p:nvPr/>
        </p:nvSpPr>
        <p:spPr>
          <a:xfrm>
            <a:off x="8089900" y="1930399"/>
            <a:ext cx="3492500" cy="408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执行员在实际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页面接收任务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后台反馈记录保存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最新页面实际显示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，状态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IN_PROGRESS</a:t>
            </a:r>
          </a:p>
          <a:p>
            <a:pPr>
              <a:spcAft>
                <a:spcPts val="1200"/>
              </a:spcAft>
            </a:pPr>
            <a:endParaRPr lang="en-US" altLang="zh-CN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ISSUE-G6-03-001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，待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B/C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确认关闭</a:t>
            </a:r>
          </a:p>
        </p:txBody>
      </p:sp>
      <p:sp>
        <p:nvSpPr>
          <p:cNvPr id="8" name="boundary">
            <a:extLst>
              <a:ext uri="{FF2B5EF4-FFF2-40B4-BE49-F238E27FC236}">
                <a16:creationId xmlns:a16="http://schemas.microsoft.com/office/drawing/2014/main" id="{B24465F1-BB7D-4FB8-8EC6-DECE0F775EC0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B77DB371-08C2-4B97-BD02-813720A0F6A4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5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07D042-79CA-490F-B50C-04599F65A28D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并发版本冲突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3D89DBE-FC0A-48DF-8987-68C6A16D5F42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同一任务的旧页面写入返回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</a:t>
            </a:r>
            <a:endParaRPr lang="zh-CN" altLang="en-US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actual-run-screenshot">
            <a:extLst>
              <a:ext uri="{FF2B5EF4-FFF2-40B4-BE49-F238E27FC236}">
                <a16:creationId xmlns:a16="http://schemas.microsoft.com/office/drawing/2014/main" id="{527A4062-32F4-420A-AFA7-9B460AEF6A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0" y="1816100"/>
            <a:ext cx="1950720" cy="4064000"/>
          </a:xfrm>
          <a:prstGeom prst="rect">
            <a:avLst/>
          </a:prstGeom>
        </p:spPr>
      </p:pic>
      <p:sp>
        <p:nvSpPr>
          <p:cNvPr id="6" name="image-source">
            <a:extLst>
              <a:ext uri="{FF2B5EF4-FFF2-40B4-BE49-F238E27FC236}">
                <a16:creationId xmlns:a16="http://schemas.microsoft.com/office/drawing/2014/main" id="{BA7FD3E3-2C61-4EA3-8EA0-5E39DA145AF1}"/>
              </a:ext>
            </a:extLst>
          </p:cNvPr>
          <p:cNvSpPr txBox="1"/>
          <p:nvPr/>
        </p:nvSpPr>
        <p:spPr>
          <a:xfrm>
            <a:off x="609600" y="6019800"/>
            <a:ext cx="704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模拟数据，实际截图；版本：</a:t>
            </a:r>
            <a:r>
              <a:rPr lang="en-US" altLang="zh-CN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2026-10-11T14-10-55-529Z</a:t>
            </a:r>
            <a:endParaRPr lang="zh-CN" altLang="en-US" sz="10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evidence-observations">
            <a:extLst>
              <a:ext uri="{FF2B5EF4-FFF2-40B4-BE49-F238E27FC236}">
                <a16:creationId xmlns:a16="http://schemas.microsoft.com/office/drawing/2014/main" id="{91BBD059-201A-4A48-9E9E-BFF4FDBA268C}"/>
              </a:ext>
            </a:extLst>
          </p:cNvPr>
          <p:cNvSpPr txBox="1"/>
          <p:nvPr/>
        </p:nvSpPr>
        <p:spPr>
          <a:xfrm>
            <a:off x="8089900" y="1930399"/>
            <a:ext cx="3492500" cy="408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另一终端先接收第二条任务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旧页面再次接收触发版本冲突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页面展示真实错误与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traceId</a:t>
            </a:r>
          </a:p>
          <a:p>
            <a:pPr>
              <a:spcAft>
                <a:spcPts val="1200"/>
              </a:spcAft>
            </a:pPr>
            <a:endParaRPr lang="en-US" altLang="zh-CN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刷新后核对状态，再决定操作</a:t>
            </a:r>
          </a:p>
        </p:txBody>
      </p:sp>
      <p:sp>
        <p:nvSpPr>
          <p:cNvPr id="8" name="boundary">
            <a:extLst>
              <a:ext uri="{FF2B5EF4-FFF2-40B4-BE49-F238E27FC236}">
                <a16:creationId xmlns:a16="http://schemas.microsoft.com/office/drawing/2014/main" id="{B287E8B8-BC69-469F-9DC1-9BA22889983C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484B788F-7B3F-4DA2-BBF3-C6727A2AB54E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33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F06FC6-BD24-47DC-801E-DB9D4D1B0CDC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角色权限拒绝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0CF5666-D8F7-48FF-99F8-D3B68BE57829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只读角色写入返回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403</a:t>
            </a: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，事件数保持一致</a:t>
            </a:r>
          </a:p>
        </p:txBody>
      </p:sp>
      <p:pic>
        <p:nvPicPr>
          <p:cNvPr id="5" name="actual-run-screenshot">
            <a:extLst>
              <a:ext uri="{FF2B5EF4-FFF2-40B4-BE49-F238E27FC236}">
                <a16:creationId xmlns:a16="http://schemas.microsoft.com/office/drawing/2014/main" id="{28D01524-67B4-4653-A98F-FD794D48AA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1816100"/>
            <a:ext cx="5852160" cy="4064000"/>
          </a:xfrm>
          <a:prstGeom prst="rect">
            <a:avLst/>
          </a:prstGeom>
        </p:spPr>
      </p:pic>
      <p:sp>
        <p:nvSpPr>
          <p:cNvPr id="6" name="image-source">
            <a:extLst>
              <a:ext uri="{FF2B5EF4-FFF2-40B4-BE49-F238E27FC236}">
                <a16:creationId xmlns:a16="http://schemas.microsoft.com/office/drawing/2014/main" id="{24F0C2C0-19A4-49B1-A1B1-5CE3EB3A6457}"/>
              </a:ext>
            </a:extLst>
          </p:cNvPr>
          <p:cNvSpPr txBox="1"/>
          <p:nvPr/>
        </p:nvSpPr>
        <p:spPr>
          <a:xfrm>
            <a:off x="609600" y="6019800"/>
            <a:ext cx="704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模拟数据，实际截图；版本：</a:t>
            </a:r>
            <a:r>
              <a:rPr lang="en-US" altLang="zh-CN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2026-10-11T14-10-55-529Z</a:t>
            </a:r>
            <a:endParaRPr lang="zh-CN" altLang="en-US" sz="10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evidence-observations">
            <a:extLst>
              <a:ext uri="{FF2B5EF4-FFF2-40B4-BE49-F238E27FC236}">
                <a16:creationId xmlns:a16="http://schemas.microsoft.com/office/drawing/2014/main" id="{DD437210-869C-40EF-8006-45D2469C1883}"/>
              </a:ext>
            </a:extLst>
          </p:cNvPr>
          <p:cNvSpPr txBox="1"/>
          <p:nvPr/>
        </p:nvSpPr>
        <p:spPr>
          <a:xfrm>
            <a:off x="8089900" y="1930399"/>
            <a:ext cx="3492500" cy="408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只读角色调用写接口遭服务端拒绝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拒绝前后事件数量相同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无页面权限时转到拒绝页面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三类模拟角色均有明确交接边界</a:t>
            </a:r>
          </a:p>
        </p:txBody>
      </p:sp>
      <p:sp>
        <p:nvSpPr>
          <p:cNvPr id="8" name="boundary">
            <a:extLst>
              <a:ext uri="{FF2B5EF4-FFF2-40B4-BE49-F238E27FC236}">
                <a16:creationId xmlns:a16="http://schemas.microsoft.com/office/drawing/2014/main" id="{36679B5B-EEBA-4A18-BB4A-ECB2F21C2A7D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6ADF7F35-1C67-4B3E-85DE-2F320C90B541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584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F4E90A-22D2-4EF6-9612-6E76FEBD7B4B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处置闭环与运行结果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305D19A-5E0D-44D8-BEDA-C8734FBA9B0E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两条任务完成后，事件实际进入</a:t>
            </a:r>
            <a:r>
              <a:rPr lang="en-US" altLang="zh-CN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CLOSED</a:t>
            </a:r>
            <a:endParaRPr lang="zh-CN" altLang="en-US">
              <a:solidFill>
                <a:srgbClr val="1854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actual-run-screenshot">
            <a:extLst>
              <a:ext uri="{FF2B5EF4-FFF2-40B4-BE49-F238E27FC236}">
                <a16:creationId xmlns:a16="http://schemas.microsoft.com/office/drawing/2014/main" id="{8E86A2BE-CFD0-4EBE-8306-86FB2658B1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1816100"/>
            <a:ext cx="5852160" cy="4064000"/>
          </a:xfrm>
          <a:prstGeom prst="rect">
            <a:avLst/>
          </a:prstGeom>
        </p:spPr>
      </p:pic>
      <p:sp>
        <p:nvSpPr>
          <p:cNvPr id="6" name="image-source">
            <a:extLst>
              <a:ext uri="{FF2B5EF4-FFF2-40B4-BE49-F238E27FC236}">
                <a16:creationId xmlns:a16="http://schemas.microsoft.com/office/drawing/2014/main" id="{62569FA4-990D-4CD6-A1DE-70C753262F4A}"/>
              </a:ext>
            </a:extLst>
          </p:cNvPr>
          <p:cNvSpPr txBox="1"/>
          <p:nvPr/>
        </p:nvSpPr>
        <p:spPr>
          <a:xfrm>
            <a:off x="609600" y="6019800"/>
            <a:ext cx="704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模拟数据，实际截图；版本：</a:t>
            </a:r>
            <a:r>
              <a:rPr lang="en-US" altLang="zh-CN" sz="10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2026-10-11T14-10-55-529Z</a:t>
            </a:r>
            <a:endParaRPr lang="zh-CN" altLang="en-US" sz="10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evidence-observations">
            <a:extLst>
              <a:ext uri="{FF2B5EF4-FFF2-40B4-BE49-F238E27FC236}">
                <a16:creationId xmlns:a16="http://schemas.microsoft.com/office/drawing/2014/main" id="{D25E4C49-E0B6-4205-87FE-A789C34699E8}"/>
              </a:ext>
            </a:extLst>
          </p:cNvPr>
          <p:cNvSpPr txBox="1"/>
          <p:nvPr/>
        </p:nvSpPr>
        <p:spPr>
          <a:xfrm>
            <a:off x="8089900" y="1930399"/>
            <a:ext cx="3492500" cy="408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接收与反馈保留任务资源版本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完成任务后提交关闭理由</a:t>
            </a:r>
          </a:p>
          <a:p>
            <a:pPr>
              <a:spcAft>
                <a:spcPts val="1200"/>
              </a:spcAft>
            </a:pPr>
            <a:endParaRPr lang="zh-CN" altLang="en-US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页面重新加载显示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CLOSED</a:t>
            </a:r>
          </a:p>
          <a:p>
            <a:pPr>
              <a:spcAft>
                <a:spcPts val="1200"/>
              </a:spcAft>
            </a:pPr>
            <a:endParaRPr lang="en-US" altLang="zh-CN" sz="19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整改后本地试演</a:t>
            </a:r>
            <a:r>
              <a:rPr lang="en-US" altLang="zh-CN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r>
              <a:rPr lang="zh-CN" altLang="en-US" sz="19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，整体复核待完成</a:t>
            </a:r>
          </a:p>
        </p:txBody>
      </p:sp>
      <p:sp>
        <p:nvSpPr>
          <p:cNvPr id="8" name="boundary">
            <a:extLst>
              <a:ext uri="{FF2B5EF4-FFF2-40B4-BE49-F238E27FC236}">
                <a16:creationId xmlns:a16="http://schemas.microsoft.com/office/drawing/2014/main" id="{172D85FC-BDE5-4970-BEC0-6FDD9A861442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6614AFE6-1E2A-4340-9DEF-E5A98E0288FB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34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9DCA09-6E26-46EF-BA8C-B6B7E125D6F1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遗留问题与验收边界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A3763C0-0ADE-4FF3-A70C-541873B037D5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问题、延期和未知数据继续显著披露</a:t>
            </a:r>
          </a:p>
        </p:txBody>
      </p:sp>
      <p:graphicFrame>
        <p:nvGraphicFramePr>
          <p:cNvPr id="4" name="evidence-table">
            <a:extLst>
              <a:ext uri="{FF2B5EF4-FFF2-40B4-BE49-F238E27FC236}">
                <a16:creationId xmlns:a16="http://schemas.microsoft.com/office/drawing/2014/main" id="{6FF02FC5-F7CF-4F73-A9C6-B8648ABC3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788939"/>
              </p:ext>
            </p:extLst>
          </p:nvPr>
        </p:nvGraphicFramePr>
        <p:xfrm>
          <a:off x="609600" y="1841500"/>
          <a:ext cx="10972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4195756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248567413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379916193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事项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当前状态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下一步</a:t>
                      </a:r>
                    </a:p>
                  </a:txBody>
                  <a:tcPr marL="152400" marR="152400" marT="114300" marB="76200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26325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H5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进度显示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已整改复验，待指定确认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技术确认、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整体复核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0963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功能与证据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AC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 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76 AC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证据延期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RTM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逐项补实现和断言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46172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真实联调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独立部署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0/6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 </a:t>
                      </a:r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0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真实独立操作者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资源到位后保留真实证据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79758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量化与现场结论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UNKNOWN / </a:t>
                      </a:r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尚未发生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172E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可靠样本、真实复核及意见</a:t>
                      </a:r>
                    </a:p>
                  </a:txBody>
                  <a:tcPr marL="152400" marR="152400" marT="1143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857793"/>
                  </a:ext>
                </a:extLst>
              </a:tr>
            </a:tbl>
          </a:graphicData>
        </a:graphic>
      </p:graphicFrame>
      <p:sp>
        <p:nvSpPr>
          <p:cNvPr id="5" name="boundary">
            <a:extLst>
              <a:ext uri="{FF2B5EF4-FFF2-40B4-BE49-F238E27FC236}">
                <a16:creationId xmlns:a16="http://schemas.microsoft.com/office/drawing/2014/main" id="{CB0B5F39-903B-451D-B0B1-61E5BB59AED6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FFF06EA9-A45A-4F6A-84A8-C5385249E572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874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972CDE8-C787-452D-876E-AD8A9298465D}"/>
              </a:ext>
            </a:extLst>
          </p:cNvPr>
          <p:cNvSpPr txBox="1"/>
          <p:nvPr/>
        </p:nvSpPr>
        <p:spPr>
          <a:xfrm>
            <a:off x="609600" y="3936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3200" b="1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质询分工与故障预案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F57333-2D55-4FDF-965F-C3A738EE191B}"/>
              </a:ext>
            </a:extLst>
          </p:cNvPr>
          <p:cNvSpPr txBox="1"/>
          <p:nvPr/>
        </p:nvSpPr>
        <p:spPr>
          <a:xfrm>
            <a:off x="635000" y="1155699"/>
            <a:ext cx="10922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>
                <a:solidFill>
                  <a:srgbClr val="1854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以固定版本、实际证据和问题记录作答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59A6901-0D2C-4E8B-9D2B-945A9CE5D189}"/>
              </a:ext>
            </a:extLst>
          </p:cNvPr>
          <p:cNvSpPr txBox="1"/>
          <p:nvPr/>
        </p:nvSpPr>
        <p:spPr>
          <a:xfrm>
            <a:off x="812800" y="2044699"/>
            <a:ext cx="10566400" cy="393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：任务范围、交付状态、演示叙事与风险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：端口、事务、数据库、部署和技术问题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FR/AC/★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分母、审计、延期与符合性</a:t>
            </a:r>
          </a:p>
          <a:p>
            <a:pPr>
              <a:spcAft>
                <a:spcPts val="1200"/>
              </a:spcAft>
            </a:pPr>
            <a:endParaRPr lang="zh-CN" altLang="en-US" sz="2300">
              <a:solidFill>
                <a:srgbClr val="172E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失败时保留</a:t>
            </a:r>
            <a:r>
              <a:rPr lang="en-US" altLang="zh-CN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traceId</a:t>
            </a:r>
            <a:r>
              <a:rPr lang="zh-CN" altLang="en-US" sz="2300">
                <a:solidFill>
                  <a:srgbClr val="172E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，改用标注版本的证据</a:t>
            </a:r>
          </a:p>
        </p:txBody>
      </p:sp>
      <p:sp>
        <p:nvSpPr>
          <p:cNvPr id="5" name="boundary">
            <a:extLst>
              <a:ext uri="{FF2B5EF4-FFF2-40B4-BE49-F238E27FC236}">
                <a16:creationId xmlns:a16="http://schemas.microsoft.com/office/drawing/2014/main" id="{069D4F36-C3D8-4D93-BC89-F022FC76B8B3}"/>
              </a:ext>
            </a:extLst>
          </p:cNvPr>
          <p:cNvSpPr txBox="1"/>
          <p:nvPr/>
        </p:nvSpPr>
        <p:spPr>
          <a:xfrm>
            <a:off x="609600" y="6324599"/>
            <a:ext cx="10439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课程模拟试演候选；真实项目验收延期；</a:t>
            </a:r>
            <a:r>
              <a:rPr lang="en-US" altLang="zh-CN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100">
                <a:solidFill>
                  <a:srgbClr val="8C3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整体复核待完成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0B530CAA-B23F-49D3-BA22-F9170E80356C}"/>
              </a:ext>
            </a:extLst>
          </p:cNvPr>
          <p:cNvSpPr txBox="1"/>
          <p:nvPr/>
        </p:nvSpPr>
        <p:spPr>
          <a:xfrm>
            <a:off x="11315700" y="6299199"/>
            <a:ext cx="31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altLang="zh-CN" sz="1200">
                <a:solidFill>
                  <a:srgbClr val="5064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1200">
              <a:solidFill>
                <a:srgbClr val="5064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36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3289</Words>
  <Application>Microsoft Office PowerPoint</Application>
  <PresentationFormat>自定义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2026-10-11T15:16:36Z</dcterms:created>
  <dcterms:modified xsi:type="dcterms:W3CDTF">2026-10-11T15:16:36Z</dcterms:modified>
</cp:coreProperties>
</file>